
<file path=[Content_Types].xml><?xml version="1.0" encoding="utf-8"?>
<Types xmlns="http://schemas.openxmlformats.org/package/2006/content-types">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562" r:id="rId4"/>
    <p:sldId id="563" r:id="rId5"/>
    <p:sldId id="478" r:id="rId6"/>
    <p:sldId id="546" r:id="rId7"/>
    <p:sldId id="547" r:id="rId8"/>
    <p:sldId id="549" r:id="rId9"/>
    <p:sldId id="550" r:id="rId10"/>
    <p:sldId id="568" r:id="rId11"/>
    <p:sldId id="569" r:id="rId12"/>
    <p:sldId id="558" r:id="rId13"/>
    <p:sldId id="540" r:id="rId14"/>
    <p:sldId id="559" r:id="rId15"/>
    <p:sldId id="560" r:id="rId16"/>
    <p:sldId id="536" r:id="rId17"/>
    <p:sldId id="533" r:id="rId18"/>
    <p:sldId id="543" r:id="rId19"/>
    <p:sldId id="564" r:id="rId20"/>
    <p:sldId id="567" r:id="rId21"/>
    <p:sldId id="498" r:id="rId22"/>
    <p:sldId id="497" r:id="rId23"/>
    <p:sldId id="544" r:id="rId24"/>
    <p:sldId id="545" r:id="rId25"/>
    <p:sldId id="515" r:id="rId26"/>
    <p:sldId id="517" r:id="rId27"/>
    <p:sldId id="557" r:id="rId2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80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67" y="6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年間時数</c:v>
                </c:pt>
              </c:strCache>
            </c:strRef>
          </c:tx>
          <c:dPt>
            <c:idx val="0"/>
            <c:bubble3D val="0"/>
            <c:spPr>
              <a:solidFill>
                <a:schemeClr val="accent6"/>
              </a:solidFill>
              <a:ln w="19050">
                <a:solidFill>
                  <a:schemeClr val="lt1"/>
                </a:solidFill>
              </a:ln>
              <a:effectLst/>
            </c:spPr>
            <c:extLst>
              <c:ext xmlns:c16="http://schemas.microsoft.com/office/drawing/2014/chart" uri="{C3380CC4-5D6E-409C-BE32-E72D297353CC}">
                <c16:uniqueId val="{00000001-97D2-45D2-9E16-DB9DD62E4437}"/>
              </c:ext>
            </c:extLst>
          </c:dPt>
          <c:dPt>
            <c:idx val="1"/>
            <c:bubble3D val="0"/>
            <c:spPr>
              <a:solidFill>
                <a:srgbClr val="FFFF00"/>
              </a:solidFill>
              <a:ln w="19050">
                <a:solidFill>
                  <a:schemeClr val="lt1"/>
                </a:solidFill>
              </a:ln>
              <a:effectLst/>
            </c:spPr>
            <c:extLst>
              <c:ext xmlns:c16="http://schemas.microsoft.com/office/drawing/2014/chart" uri="{C3380CC4-5D6E-409C-BE32-E72D297353CC}">
                <c16:uniqueId val="{00000000-97D2-45D2-9E16-DB9DD62E4437}"/>
              </c:ext>
            </c:extLst>
          </c:dPt>
          <c:cat>
            <c:strRef>
              <c:f>Sheet1!$A$2:$A$3</c:f>
              <c:strCache>
                <c:ptCount val="2"/>
                <c:pt idx="0">
                  <c:v>講義・演習</c:v>
                </c:pt>
                <c:pt idx="1">
                  <c:v>実習</c:v>
                </c:pt>
              </c:strCache>
            </c:strRef>
          </c:cat>
          <c:val>
            <c:numRef>
              <c:f>Sheet1!$B$2:$B$3</c:f>
              <c:numCache>
                <c:formatCode>General</c:formatCode>
                <c:ptCount val="2"/>
                <c:pt idx="0">
                  <c:v>210</c:v>
                </c:pt>
                <c:pt idx="1">
                  <c:v>720</c:v>
                </c:pt>
              </c:numCache>
            </c:numRef>
          </c:val>
          <c:extLst>
            <c:ext xmlns:c16="http://schemas.microsoft.com/office/drawing/2014/chart" uri="{C3380CC4-5D6E-409C-BE32-E72D297353CC}">
              <c16:uniqueId val="{00000000-58AA-4BA9-83E3-2EA39C54EAFE}"/>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HGSｺﾞｼｯｸE" panose="020B0900000000000000" pitchFamily="50" charset="-128"/>
              <a:ea typeface="HGSｺﾞｼｯｸE" panose="020B0900000000000000" pitchFamily="50" charset="-128"/>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ja-JP" altLang="en-US" dirty="0"/>
              <a:t>基本情報</a:t>
            </a:r>
            <a:r>
              <a:rPr lang="en-US" altLang="ja-JP" dirty="0"/>
              <a:t>(</a:t>
            </a:r>
            <a:r>
              <a:rPr lang="ja-JP" altLang="en-US" dirty="0"/>
              <a:t>国家資格</a:t>
            </a:r>
            <a:r>
              <a:rPr lang="en-US" altLang="ja-JP" dirty="0"/>
              <a:t>)</a:t>
            </a:r>
            <a:r>
              <a:rPr lang="ja-JP" altLang="en-US" dirty="0"/>
              <a:t>の資格は必要ですか？</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ja-JP"/>
        </a:p>
      </c:txPr>
    </c:title>
    <c:autoTitleDeleted val="0"/>
    <c:plotArea>
      <c:layout/>
      <c:pieChart>
        <c:varyColors val="1"/>
        <c:ser>
          <c:idx val="0"/>
          <c:order val="0"/>
          <c:tx>
            <c:strRef>
              <c:f>Sheet1!$B$1</c:f>
              <c:strCache>
                <c:ptCount val="1"/>
                <c:pt idx="0">
                  <c:v>基本情報の資格は必要ですか？</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9DD6-4C8E-B1EB-F8CDFA0E62AF}"/>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9DD6-4C8E-B1EB-F8CDFA0E62AF}"/>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9DD6-4C8E-B1EB-F8CDFA0E62AF}"/>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9DD6-4C8E-B1EB-F8CDFA0E62AF}"/>
              </c:ext>
            </c:extLst>
          </c:dPt>
          <c:dLbls>
            <c:dLbl>
              <c:idx val="0"/>
              <c:layout>
                <c:manualLayout>
                  <c:x val="-0.10228480577614103"/>
                  <c:y val="5.4030694995605019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DD6-4C8E-B1EB-F8CDFA0E62AF}"/>
                </c:ext>
              </c:extLst>
            </c:dLbl>
            <c:dLbl>
              <c:idx val="1"/>
              <c:layout>
                <c:manualLayout>
                  <c:x val="0.10313074554467064"/>
                  <c:y val="3.9748185657910121E-2"/>
                </c:manualLayout>
              </c:layout>
              <c:numFmt formatCode="0.0%" sourceLinked="0"/>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noAutofit/>
                </a:bodyPr>
                <a:lstStyle/>
                <a:p>
                  <a:pPr>
                    <a:defRPr sz="1330" b="1" i="0" u="none" strike="noStrike" kern="1200" baseline="0">
                      <a:solidFill>
                        <a:schemeClr val="lt1"/>
                      </a:solidFill>
                      <a:latin typeface="+mn-lt"/>
                      <a:ea typeface="+mn-ea"/>
                      <a:cs typeface="+mn-cs"/>
                    </a:defRPr>
                  </a:pPr>
                  <a:endParaRPr lang="ja-JP"/>
                </a:p>
              </c:txPr>
              <c:dLblPos val="bestFit"/>
              <c:showLegendKey val="0"/>
              <c:showVal val="0"/>
              <c:showCatName val="0"/>
              <c:showSerName val="0"/>
              <c:showPercent val="1"/>
              <c:showBubbleSize val="0"/>
              <c:extLst>
                <c:ext xmlns:c15="http://schemas.microsoft.com/office/drawing/2012/chart" uri="{CE6537A1-D6FC-4f65-9D91-7224C49458BB}">
                  <c15:layout>
                    <c:manualLayout>
                      <c:w val="8.0580268577144662E-2"/>
                      <c:h val="6.6892781879118818E-2"/>
                    </c:manualLayout>
                  </c15:layout>
                </c:ext>
                <c:ext xmlns:c16="http://schemas.microsoft.com/office/drawing/2014/chart" uri="{C3380CC4-5D6E-409C-BE32-E72D297353CC}">
                  <c16:uniqueId val="{00000003-9DD6-4C8E-B1EB-F8CDFA0E62AF}"/>
                </c:ext>
              </c:extLst>
            </c:dLbl>
            <c:dLbl>
              <c:idx val="2"/>
              <c:layout>
                <c:manualLayout>
                  <c:x val="6.1903790592535056E-2"/>
                  <c:y val="4.2164506304027675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DD6-4C8E-B1EB-F8CDFA0E62AF}"/>
                </c:ext>
              </c:extLst>
            </c:dLbl>
            <c:numFmt formatCode="0.0%" sourceLinked="0"/>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ja-JP"/>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Sheet1!$A$2:$A$5</c:f>
              <c:strCache>
                <c:ptCount val="4"/>
                <c:pt idx="0">
                  <c:v>①合格必須</c:v>
                </c:pt>
                <c:pt idx="1">
                  <c:v>②合格見込み</c:v>
                </c:pt>
                <c:pt idx="2">
                  <c:v>③合格を優遇</c:v>
                </c:pt>
                <c:pt idx="3">
                  <c:v>④不問</c:v>
                </c:pt>
              </c:strCache>
            </c:strRef>
          </c:cat>
          <c:val>
            <c:numRef>
              <c:f>Sheet1!$B$2:$B$5</c:f>
              <c:numCache>
                <c:formatCode>General</c:formatCode>
                <c:ptCount val="4"/>
                <c:pt idx="0">
                  <c:v>16</c:v>
                </c:pt>
                <c:pt idx="1">
                  <c:v>20</c:v>
                </c:pt>
                <c:pt idx="2">
                  <c:v>154</c:v>
                </c:pt>
                <c:pt idx="3">
                  <c:v>794</c:v>
                </c:pt>
              </c:numCache>
            </c:numRef>
          </c:val>
          <c:extLst>
            <c:ext xmlns:c16="http://schemas.microsoft.com/office/drawing/2014/chart" uri="{C3380CC4-5D6E-409C-BE32-E72D297353CC}">
              <c16:uniqueId val="{00000008-9DD6-4C8E-B1EB-F8CDFA0E62AF}"/>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73013571360712626"/>
          <c:y val="0.39677177670233965"/>
          <c:w val="0.25921843827364022"/>
          <c:h val="0.38101157616716591"/>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600" b="0" i="0" u="none" strike="noStrike" kern="1200" baseline="0">
              <a:solidFill>
                <a:schemeClr val="dk1">
                  <a:lumMod val="75000"/>
                  <a:lumOff val="25000"/>
                </a:schemeClr>
              </a:solidFill>
              <a:latin typeface="+mn-lt"/>
              <a:ea typeface="+mn-ea"/>
              <a:cs typeface="+mn-cs"/>
            </a:defRPr>
          </a:pPr>
          <a:endParaRPr lang="ja-JP"/>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HGPｺﾞｼｯｸE" panose="020B0900000000000000" pitchFamily="50" charset="-128"/>
                <a:ea typeface="HGPｺﾞｼｯｸE" panose="020B0900000000000000" pitchFamily="50" charset="-128"/>
                <a:cs typeface="+mn-cs"/>
              </a:defRPr>
            </a:pPr>
            <a:r>
              <a:rPr lang="ja-JP" sz="1400" dirty="0"/>
              <a:t>年間</a:t>
            </a:r>
            <a:r>
              <a:rPr lang="en-US" sz="1400" dirty="0"/>
              <a:t>900</a:t>
            </a:r>
            <a:r>
              <a:rPr lang="ja-JP" sz="1400" dirty="0"/>
              <a:t>時間</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HGPｺﾞｼｯｸE" panose="020B0900000000000000" pitchFamily="50" charset="-128"/>
              <a:ea typeface="HGPｺﾞｼｯｸE" panose="020B0900000000000000" pitchFamily="50" charset="-128"/>
              <a:cs typeface="+mn-cs"/>
            </a:defRPr>
          </a:pPr>
          <a:endParaRPr lang="ja-JP"/>
        </a:p>
      </c:txPr>
    </c:title>
    <c:autoTitleDeleted val="0"/>
    <c:plotArea>
      <c:layout/>
      <c:pieChart>
        <c:varyColors val="1"/>
        <c:ser>
          <c:idx val="0"/>
          <c:order val="0"/>
          <c:tx>
            <c:strRef>
              <c:f>Sheet1!$B$1</c:f>
              <c:strCache>
                <c:ptCount val="1"/>
                <c:pt idx="0">
                  <c:v>年間時数</c:v>
                </c:pt>
              </c:strCache>
            </c:strRef>
          </c:tx>
          <c:dPt>
            <c:idx val="0"/>
            <c:bubble3D val="0"/>
            <c:spPr>
              <a:solidFill>
                <a:schemeClr val="accent6"/>
              </a:solidFill>
              <a:ln w="19050">
                <a:solidFill>
                  <a:schemeClr val="lt1"/>
                </a:solidFill>
              </a:ln>
              <a:effectLst/>
            </c:spPr>
            <c:extLst>
              <c:ext xmlns:c16="http://schemas.microsoft.com/office/drawing/2014/chart" uri="{C3380CC4-5D6E-409C-BE32-E72D297353CC}">
                <c16:uniqueId val="{00000001-4151-4807-8486-DBD3F167B54B}"/>
              </c:ext>
            </c:extLst>
          </c:dPt>
          <c:dPt>
            <c:idx val="1"/>
            <c:bubble3D val="0"/>
            <c:spPr>
              <a:solidFill>
                <a:srgbClr val="FFFF00"/>
              </a:solidFill>
              <a:ln w="19050">
                <a:solidFill>
                  <a:schemeClr val="lt1"/>
                </a:solidFill>
              </a:ln>
              <a:effectLst/>
            </c:spPr>
            <c:extLst>
              <c:ext xmlns:c16="http://schemas.microsoft.com/office/drawing/2014/chart" uri="{C3380CC4-5D6E-409C-BE32-E72D297353CC}">
                <c16:uniqueId val="{00000003-4151-4807-8486-DBD3F167B54B}"/>
              </c:ext>
            </c:extLst>
          </c:dPt>
          <c:cat>
            <c:strRef>
              <c:f>Sheet1!$A$2:$A$3</c:f>
              <c:strCache>
                <c:ptCount val="2"/>
                <c:pt idx="0">
                  <c:v>講義・演習</c:v>
                </c:pt>
                <c:pt idx="1">
                  <c:v>実習</c:v>
                </c:pt>
              </c:strCache>
            </c:strRef>
          </c:cat>
          <c:val>
            <c:numRef>
              <c:f>Sheet1!$B$2:$B$3</c:f>
              <c:numCache>
                <c:formatCode>General</c:formatCode>
                <c:ptCount val="2"/>
                <c:pt idx="0">
                  <c:v>120</c:v>
                </c:pt>
                <c:pt idx="1">
                  <c:v>810</c:v>
                </c:pt>
              </c:numCache>
            </c:numRef>
          </c:val>
          <c:extLst>
            <c:ext xmlns:c16="http://schemas.microsoft.com/office/drawing/2014/chart" uri="{C3380CC4-5D6E-409C-BE32-E72D297353CC}">
              <c16:uniqueId val="{00000004-4151-4807-8486-DBD3F167B54B}"/>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GPｺﾞｼｯｸE" panose="020B0900000000000000" pitchFamily="50" charset="-128"/>
              <a:ea typeface="HGPｺﾞｼｯｸE" panose="020B0900000000000000" pitchFamily="50" charset="-128"/>
              <a:cs typeface="+mn-cs"/>
            </a:defRPr>
          </a:pPr>
          <a:endParaRPr lang="ja-JP"/>
        </a:p>
      </c:txPr>
    </c:legend>
    <c:plotVisOnly val="1"/>
    <c:dispBlanksAs val="gap"/>
    <c:showDLblsOverMax val="0"/>
  </c:chart>
  <c:spPr>
    <a:noFill/>
    <a:ln>
      <a:noFill/>
    </a:ln>
    <a:effectLst/>
  </c:spPr>
  <c:txPr>
    <a:bodyPr/>
    <a:lstStyle/>
    <a:p>
      <a:pPr>
        <a:defRPr>
          <a:latin typeface="HGPｺﾞｼｯｸE" panose="020B0900000000000000" pitchFamily="50" charset="-128"/>
          <a:ea typeface="HGPｺﾞｼｯｸE" panose="020B0900000000000000" pitchFamily="50" charset="-128"/>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HGPｺﾞｼｯｸE" panose="020B0900000000000000" pitchFamily="50" charset="-128"/>
                <a:ea typeface="HGPｺﾞｼｯｸE" panose="020B0900000000000000" pitchFamily="50" charset="-128"/>
                <a:cs typeface="+mn-cs"/>
              </a:defRPr>
            </a:pPr>
            <a:r>
              <a:rPr lang="ja-JP" altLang="en-US" sz="1400" b="0" dirty="0">
                <a:latin typeface="HGPｺﾞｼｯｸE" panose="020B0900000000000000" pitchFamily="50" charset="-128"/>
                <a:ea typeface="HGPｺﾞｼｯｸE" panose="020B0900000000000000" pitchFamily="50" charset="-128"/>
              </a:rPr>
              <a:t>年間</a:t>
            </a:r>
            <a:r>
              <a:rPr lang="en-US" altLang="ja-JP" sz="1400" b="0" dirty="0">
                <a:latin typeface="HGPｺﾞｼｯｸE" panose="020B0900000000000000" pitchFamily="50" charset="-128"/>
                <a:ea typeface="HGPｺﾞｼｯｸE" panose="020B0900000000000000" pitchFamily="50" charset="-128"/>
              </a:rPr>
              <a:t>900</a:t>
            </a:r>
            <a:r>
              <a:rPr lang="ja-JP" altLang="en-US" sz="1400" b="0" dirty="0">
                <a:latin typeface="HGPｺﾞｼｯｸE" panose="020B0900000000000000" pitchFamily="50" charset="-128"/>
                <a:ea typeface="HGPｺﾞｼｯｸE" panose="020B0900000000000000" pitchFamily="50" charset="-128"/>
              </a:rPr>
              <a:t>時間</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HGPｺﾞｼｯｸE" panose="020B0900000000000000" pitchFamily="50" charset="-128"/>
              <a:ea typeface="HGPｺﾞｼｯｸE" panose="020B0900000000000000" pitchFamily="50" charset="-128"/>
              <a:cs typeface="+mn-cs"/>
            </a:defRPr>
          </a:pPr>
          <a:endParaRPr lang="ja-JP"/>
        </a:p>
      </c:txPr>
    </c:title>
    <c:autoTitleDeleted val="0"/>
    <c:plotArea>
      <c:layout/>
      <c:pieChart>
        <c:varyColors val="1"/>
        <c:ser>
          <c:idx val="0"/>
          <c:order val="0"/>
          <c:tx>
            <c:strRef>
              <c:f>Sheet1!$B$1</c:f>
              <c:strCache>
                <c:ptCount val="1"/>
                <c:pt idx="0">
                  <c:v>年間時数</c:v>
                </c:pt>
              </c:strCache>
            </c:strRef>
          </c:tx>
          <c:dPt>
            <c:idx val="0"/>
            <c:bubble3D val="0"/>
            <c:spPr>
              <a:solidFill>
                <a:schemeClr val="accent6"/>
              </a:solidFill>
              <a:ln w="19050">
                <a:solidFill>
                  <a:schemeClr val="lt1"/>
                </a:solidFill>
              </a:ln>
              <a:effectLst/>
            </c:spPr>
            <c:extLst>
              <c:ext xmlns:c16="http://schemas.microsoft.com/office/drawing/2014/chart" uri="{C3380CC4-5D6E-409C-BE32-E72D297353CC}">
                <c16:uniqueId val="{00000001-C20F-4FB6-9AEC-D8CE4C5428D1}"/>
              </c:ext>
            </c:extLst>
          </c:dPt>
          <c:dPt>
            <c:idx val="1"/>
            <c:bubble3D val="0"/>
            <c:spPr>
              <a:solidFill>
                <a:srgbClr val="FFFF00"/>
              </a:solidFill>
              <a:ln w="19050">
                <a:solidFill>
                  <a:schemeClr val="lt1"/>
                </a:solidFill>
              </a:ln>
              <a:effectLst/>
            </c:spPr>
            <c:extLst>
              <c:ext xmlns:c16="http://schemas.microsoft.com/office/drawing/2014/chart" uri="{C3380CC4-5D6E-409C-BE32-E72D297353CC}">
                <c16:uniqueId val="{00000003-C20F-4FB6-9AEC-D8CE4C5428D1}"/>
              </c:ext>
            </c:extLst>
          </c:dPt>
          <c:cat>
            <c:strRef>
              <c:f>Sheet1!$A$2:$A$3</c:f>
              <c:strCache>
                <c:ptCount val="2"/>
                <c:pt idx="0">
                  <c:v>講義・演習</c:v>
                </c:pt>
                <c:pt idx="1">
                  <c:v>実習</c:v>
                </c:pt>
              </c:strCache>
            </c:strRef>
          </c:cat>
          <c:val>
            <c:numRef>
              <c:f>Sheet1!$B$2:$B$3</c:f>
              <c:numCache>
                <c:formatCode>General</c:formatCode>
                <c:ptCount val="2"/>
                <c:pt idx="0">
                  <c:v>300</c:v>
                </c:pt>
                <c:pt idx="1">
                  <c:v>630</c:v>
                </c:pt>
              </c:numCache>
            </c:numRef>
          </c:val>
          <c:extLst>
            <c:ext xmlns:c16="http://schemas.microsoft.com/office/drawing/2014/chart" uri="{C3380CC4-5D6E-409C-BE32-E72D297353CC}">
              <c16:uniqueId val="{00000004-C20F-4FB6-9AEC-D8CE4C5428D1}"/>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GSｺﾞｼｯｸE" panose="020B0900000000000000" pitchFamily="50" charset="-128"/>
              <a:ea typeface="HGSｺﾞｼｯｸE" panose="020B0900000000000000" pitchFamily="50" charset="-128"/>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ja-JP" altLang="en-US" sz="2000" b="1" dirty="0"/>
              <a:t>福岡情報</a:t>
            </a:r>
            <a:r>
              <a:rPr lang="en-US" altLang="ja-JP" sz="2000" b="1" dirty="0"/>
              <a:t>IT</a:t>
            </a:r>
            <a:r>
              <a:rPr lang="ja-JP" altLang="en-US" sz="2000" b="1" dirty="0"/>
              <a:t>クリエイター専門学校</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ja-JP"/>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売上高</c:v>
                </c:pt>
              </c:strCache>
            </c:strRef>
          </c:tx>
          <c:spPr>
            <a:solidFill>
              <a:schemeClr val="accent2"/>
            </a:solidFill>
          </c:spPr>
          <c:dPt>
            <c:idx val="0"/>
            <c:bubble3D val="0"/>
            <c:spPr>
              <a:solidFill>
                <a:schemeClr val="accent2"/>
              </a:solidFill>
              <a:ln w="25400">
                <a:solidFill>
                  <a:schemeClr val="lt1"/>
                </a:solidFill>
              </a:ln>
              <a:effectLst/>
              <a:sp3d contourW="25400">
                <a:contourClr>
                  <a:schemeClr val="lt1"/>
                </a:contourClr>
              </a:sp3d>
            </c:spPr>
          </c:dPt>
          <c:dPt>
            <c:idx val="1"/>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2-F4C2-46C6-A4B1-74F6048679BD}"/>
              </c:ext>
            </c:extLst>
          </c:dPt>
          <c:cat>
            <c:strRef>
              <c:f>Sheet1!$A$2:$A$3</c:f>
              <c:strCache>
                <c:ptCount val="2"/>
                <c:pt idx="0">
                  <c:v>業界就職</c:v>
                </c:pt>
                <c:pt idx="1">
                  <c:v>非業界就職</c:v>
                </c:pt>
              </c:strCache>
            </c:strRef>
          </c:cat>
          <c:val>
            <c:numRef>
              <c:f>Sheet1!$B$2:$B$3</c:f>
              <c:numCache>
                <c:formatCode>General</c:formatCode>
                <c:ptCount val="2"/>
                <c:pt idx="0">
                  <c:v>7</c:v>
                </c:pt>
                <c:pt idx="1">
                  <c:v>3</c:v>
                </c:pt>
              </c:numCache>
            </c:numRef>
          </c:val>
          <c:extLst>
            <c:ext xmlns:c16="http://schemas.microsoft.com/office/drawing/2014/chart" uri="{C3380CC4-5D6E-409C-BE32-E72D297353CC}">
              <c16:uniqueId val="{00000000-F4C2-46C6-A4B1-74F6048679BD}"/>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57150">
      <a:solidFill>
        <a:srgbClr val="FF0000"/>
      </a:solidFill>
    </a:ln>
    <a:effectLst/>
  </c:spPr>
  <c:txPr>
    <a:bodyPr/>
    <a:lstStyle/>
    <a:p>
      <a:pPr>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ja-JP" altLang="en-US" b="1" dirty="0"/>
              <a:t>一般的な専門学校</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ja-JP"/>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売上高</c:v>
                </c:pt>
              </c:strCache>
            </c:strRef>
          </c:tx>
          <c:spPr>
            <a:solidFill>
              <a:schemeClr val="accent2"/>
            </a:solidFill>
          </c:spPr>
          <c:dPt>
            <c:idx val="0"/>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1-9047-4B30-9D17-7343FBC271C5}"/>
              </c:ext>
            </c:extLst>
          </c:dPt>
          <c:dPt>
            <c:idx val="1"/>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3-9047-4B30-9D17-7343FBC271C5}"/>
              </c:ext>
            </c:extLst>
          </c:dPt>
          <c:cat>
            <c:strRef>
              <c:f>Sheet1!$A$2:$A$3</c:f>
              <c:strCache>
                <c:ptCount val="2"/>
                <c:pt idx="0">
                  <c:v>業界就職</c:v>
                </c:pt>
                <c:pt idx="1">
                  <c:v>非業界就職</c:v>
                </c:pt>
              </c:strCache>
            </c:strRef>
          </c:cat>
          <c:val>
            <c:numRef>
              <c:f>Sheet1!$B$2:$B$3</c:f>
              <c:numCache>
                <c:formatCode>General</c:formatCode>
                <c:ptCount val="2"/>
                <c:pt idx="0">
                  <c:v>1.2</c:v>
                </c:pt>
                <c:pt idx="1">
                  <c:v>8.8000000000000007</c:v>
                </c:pt>
              </c:numCache>
            </c:numRef>
          </c:val>
          <c:extLst>
            <c:ext xmlns:c16="http://schemas.microsoft.com/office/drawing/2014/chart" uri="{C3380CC4-5D6E-409C-BE32-E72D297353CC}">
              <c16:uniqueId val="{00000004-9047-4B30-9D17-7343FBC271C5}"/>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B91CC-B1B5-420F-B607-61B98A1E9C4C}" type="datetimeFigureOut">
              <a:rPr kumimoji="1" lang="ja-JP" altLang="en-US" smtClean="0"/>
              <a:t>2025/11/10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6B974-8030-4FF1-80E2-4658CAD5F216}" type="slidenum">
              <a:rPr kumimoji="1" lang="ja-JP" altLang="en-US" smtClean="0"/>
              <a:t>‹#›</a:t>
            </a:fld>
            <a:endParaRPr kumimoji="1" lang="ja-JP" altLang="en-US"/>
          </a:p>
        </p:txBody>
      </p:sp>
    </p:spTree>
    <p:extLst>
      <p:ext uri="{BB962C8B-B14F-4D97-AF65-F5344CB8AC3E}">
        <p14:creationId xmlns:p14="http://schemas.microsoft.com/office/powerpoint/2010/main" val="39662148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AD163-8656-8356-1DA0-B2D655F9EE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C734C0-71A2-439B-DC0C-69CCC563EF01}"/>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98BB45E3-6A29-627A-95E2-E4CE8115AA14}"/>
              </a:ext>
            </a:extLst>
          </p:cNvPr>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B63D160B-A31B-003B-8C34-F7032C416B9B}"/>
              </a:ext>
            </a:extLst>
          </p:cNvPr>
          <p:cNvSpPr>
            <a:spLocks noGrp="1"/>
          </p:cNvSpPr>
          <p:nvPr>
            <p:ph type="sldNum" sz="quarter" idx="10"/>
          </p:nvPr>
        </p:nvSpPr>
        <p:spPr/>
        <p:txBody>
          <a:bodyPr/>
          <a:lstStyle/>
          <a:p>
            <a:fld id="{CE66CADE-3FFD-420C-BDFF-C58106D168D0}" type="slidenum">
              <a:rPr kumimoji="1" lang="ja-JP" altLang="en-US" smtClean="0"/>
              <a:t>3</a:t>
            </a:fld>
            <a:endParaRPr kumimoji="1" lang="ja-JP" altLang="en-US"/>
          </a:p>
        </p:txBody>
      </p:sp>
    </p:spTree>
    <p:extLst>
      <p:ext uri="{BB962C8B-B14F-4D97-AF65-F5344CB8AC3E}">
        <p14:creationId xmlns:p14="http://schemas.microsoft.com/office/powerpoint/2010/main" val="610069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5</a:t>
            </a:fld>
            <a:endParaRPr kumimoji="1" lang="ja-JP" altLang="en-US"/>
          </a:p>
        </p:txBody>
      </p:sp>
    </p:spTree>
    <p:extLst>
      <p:ext uri="{BB962C8B-B14F-4D97-AF65-F5344CB8AC3E}">
        <p14:creationId xmlns:p14="http://schemas.microsoft.com/office/powerpoint/2010/main" val="2821702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6</a:t>
            </a:fld>
            <a:endParaRPr kumimoji="1" lang="ja-JP" altLang="en-US"/>
          </a:p>
        </p:txBody>
      </p:sp>
    </p:spTree>
    <p:extLst>
      <p:ext uri="{BB962C8B-B14F-4D97-AF65-F5344CB8AC3E}">
        <p14:creationId xmlns:p14="http://schemas.microsoft.com/office/powerpoint/2010/main" val="2885727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7</a:t>
            </a:fld>
            <a:endParaRPr kumimoji="1" lang="ja-JP" altLang="en-US"/>
          </a:p>
        </p:txBody>
      </p:sp>
    </p:spTree>
    <p:extLst>
      <p:ext uri="{BB962C8B-B14F-4D97-AF65-F5344CB8AC3E}">
        <p14:creationId xmlns:p14="http://schemas.microsoft.com/office/powerpoint/2010/main" val="285904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8</a:t>
            </a:fld>
            <a:endParaRPr kumimoji="1" lang="ja-JP" altLang="en-US"/>
          </a:p>
        </p:txBody>
      </p:sp>
    </p:spTree>
    <p:extLst>
      <p:ext uri="{BB962C8B-B14F-4D97-AF65-F5344CB8AC3E}">
        <p14:creationId xmlns:p14="http://schemas.microsoft.com/office/powerpoint/2010/main" val="1310196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9</a:t>
            </a:fld>
            <a:endParaRPr kumimoji="1" lang="ja-JP" altLang="en-US"/>
          </a:p>
        </p:txBody>
      </p:sp>
    </p:spTree>
    <p:extLst>
      <p:ext uri="{BB962C8B-B14F-4D97-AF65-F5344CB8AC3E}">
        <p14:creationId xmlns:p14="http://schemas.microsoft.com/office/powerpoint/2010/main" val="3835426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12</a:t>
            </a:fld>
            <a:endParaRPr kumimoji="1" lang="ja-JP" altLang="en-US"/>
          </a:p>
        </p:txBody>
      </p:sp>
    </p:spTree>
    <p:extLst>
      <p:ext uri="{BB962C8B-B14F-4D97-AF65-F5344CB8AC3E}">
        <p14:creationId xmlns:p14="http://schemas.microsoft.com/office/powerpoint/2010/main" val="2821702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13</a:t>
            </a:fld>
            <a:endParaRPr kumimoji="1" lang="ja-JP" altLang="en-US"/>
          </a:p>
        </p:txBody>
      </p:sp>
    </p:spTree>
    <p:extLst>
      <p:ext uri="{BB962C8B-B14F-4D97-AF65-F5344CB8AC3E}">
        <p14:creationId xmlns:p14="http://schemas.microsoft.com/office/powerpoint/2010/main" val="1666903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14</a:t>
            </a:fld>
            <a:endParaRPr kumimoji="1" lang="ja-JP" altLang="en-US"/>
          </a:p>
        </p:txBody>
      </p:sp>
    </p:spTree>
    <p:extLst>
      <p:ext uri="{BB962C8B-B14F-4D97-AF65-F5344CB8AC3E}">
        <p14:creationId xmlns:p14="http://schemas.microsoft.com/office/powerpoint/2010/main" val="4056881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15</a:t>
            </a:fld>
            <a:endParaRPr kumimoji="1" lang="ja-JP" altLang="en-US"/>
          </a:p>
        </p:txBody>
      </p:sp>
    </p:spTree>
    <p:extLst>
      <p:ext uri="{BB962C8B-B14F-4D97-AF65-F5344CB8AC3E}">
        <p14:creationId xmlns:p14="http://schemas.microsoft.com/office/powerpoint/2010/main" val="2081473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16</a:t>
            </a:fld>
            <a:endParaRPr kumimoji="1" lang="ja-JP" altLang="en-US"/>
          </a:p>
        </p:txBody>
      </p:sp>
    </p:spTree>
    <p:extLst>
      <p:ext uri="{BB962C8B-B14F-4D97-AF65-F5344CB8AC3E}">
        <p14:creationId xmlns:p14="http://schemas.microsoft.com/office/powerpoint/2010/main" val="533266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17</a:t>
            </a:fld>
            <a:endParaRPr kumimoji="1" lang="ja-JP" altLang="en-US"/>
          </a:p>
        </p:txBody>
      </p:sp>
    </p:spTree>
    <p:extLst>
      <p:ext uri="{BB962C8B-B14F-4D97-AF65-F5344CB8AC3E}">
        <p14:creationId xmlns:p14="http://schemas.microsoft.com/office/powerpoint/2010/main" val="152412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18</a:t>
            </a:fld>
            <a:endParaRPr kumimoji="1" lang="ja-JP" altLang="en-US"/>
          </a:p>
        </p:txBody>
      </p:sp>
    </p:spTree>
    <p:extLst>
      <p:ext uri="{BB962C8B-B14F-4D97-AF65-F5344CB8AC3E}">
        <p14:creationId xmlns:p14="http://schemas.microsoft.com/office/powerpoint/2010/main" val="143286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52715-7EE2-A13A-14BC-43AD7502C3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74F3195-E6FD-B99E-30FB-6CE7ED795FA4}"/>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CDF8BFA4-C6CD-8ADB-32DB-E85495577594}"/>
              </a:ext>
            </a:extLst>
          </p:cNvPr>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671F6B2E-6771-6B0C-1F06-731D3EA7861B}"/>
              </a:ext>
            </a:extLst>
          </p:cNvPr>
          <p:cNvSpPr>
            <a:spLocks noGrp="1"/>
          </p:cNvSpPr>
          <p:nvPr>
            <p:ph type="sldNum" sz="quarter" idx="10"/>
          </p:nvPr>
        </p:nvSpPr>
        <p:spPr/>
        <p:txBody>
          <a:bodyPr/>
          <a:lstStyle/>
          <a:p>
            <a:fld id="{CE66CADE-3FFD-420C-BDFF-C58106D168D0}" type="slidenum">
              <a:rPr kumimoji="1" lang="ja-JP" altLang="en-US" smtClean="0"/>
              <a:t>19</a:t>
            </a:fld>
            <a:endParaRPr kumimoji="1" lang="ja-JP" altLang="en-US"/>
          </a:p>
        </p:txBody>
      </p:sp>
    </p:spTree>
    <p:extLst>
      <p:ext uri="{BB962C8B-B14F-4D97-AF65-F5344CB8AC3E}">
        <p14:creationId xmlns:p14="http://schemas.microsoft.com/office/powerpoint/2010/main" val="1692546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6CCA8-A0BD-1F45-2536-B14575C516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54209A-D8AC-37B0-41C3-32D84AF2D459}"/>
              </a:ext>
            </a:extLst>
          </p:cNvPr>
          <p:cNvSpPr>
            <a:spLocks noGrp="1" noRot="1" noChangeAspect="1"/>
          </p:cNvSpPr>
          <p:nvPr>
            <p:ph type="sldImg"/>
          </p:nvPr>
        </p:nvSpPr>
        <p:spPr>
          <a:xfrm>
            <a:off x="482600" y="1279525"/>
            <a:ext cx="6138863" cy="3454400"/>
          </a:xfrm>
        </p:spPr>
      </p:sp>
      <p:sp>
        <p:nvSpPr>
          <p:cNvPr id="3" name="ノート プレースホルダー 2">
            <a:extLst>
              <a:ext uri="{FF2B5EF4-FFF2-40B4-BE49-F238E27FC236}">
                <a16:creationId xmlns:a16="http://schemas.microsoft.com/office/drawing/2014/main" id="{8F25F016-8896-D0F2-34CC-E7342C402F4B}"/>
              </a:ext>
            </a:extLst>
          </p:cNvPr>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93821CA3-1A39-5520-6509-F96BC2213DEF}"/>
              </a:ext>
            </a:extLst>
          </p:cNvPr>
          <p:cNvSpPr>
            <a:spLocks noGrp="1"/>
          </p:cNvSpPr>
          <p:nvPr>
            <p:ph type="sldNum" sz="quarter" idx="10"/>
          </p:nvPr>
        </p:nvSpPr>
        <p:spPr/>
        <p:txBody>
          <a:bodyPr/>
          <a:lstStyle/>
          <a:p>
            <a:fld id="{CE66CADE-3FFD-420C-BDFF-C58106D168D0}" type="slidenum">
              <a:rPr kumimoji="1" lang="ja-JP" altLang="en-US" smtClean="0"/>
              <a:t>20</a:t>
            </a:fld>
            <a:endParaRPr kumimoji="1" lang="ja-JP" altLang="en-US"/>
          </a:p>
        </p:txBody>
      </p:sp>
    </p:spTree>
    <p:extLst>
      <p:ext uri="{BB962C8B-B14F-4D97-AF65-F5344CB8AC3E}">
        <p14:creationId xmlns:p14="http://schemas.microsoft.com/office/powerpoint/2010/main" val="5957074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21</a:t>
            </a:fld>
            <a:endParaRPr kumimoji="1" lang="ja-JP" altLang="en-US"/>
          </a:p>
        </p:txBody>
      </p:sp>
    </p:spTree>
    <p:extLst>
      <p:ext uri="{BB962C8B-B14F-4D97-AF65-F5344CB8AC3E}">
        <p14:creationId xmlns:p14="http://schemas.microsoft.com/office/powerpoint/2010/main" val="3959565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r>
              <a:rPr kumimoji="1" lang="en-US" altLang="ja-JP" sz="1200" kern="1200" dirty="0">
                <a:solidFill>
                  <a:schemeClr val="tx1"/>
                </a:solidFill>
                <a:effectLst/>
                <a:latin typeface="+mn-lt"/>
                <a:ea typeface="+mn-ea"/>
                <a:cs typeface="+mn-cs"/>
              </a:rPr>
              <a:t>AO</a:t>
            </a:r>
            <a:r>
              <a:rPr kumimoji="1" lang="ja-JP" altLang="en-US" sz="1200" kern="1200" dirty="0">
                <a:solidFill>
                  <a:schemeClr val="tx1"/>
                </a:solidFill>
                <a:effectLst/>
                <a:latin typeface="+mn-lt"/>
                <a:ea typeface="+mn-ea"/>
                <a:cs typeface="+mn-cs"/>
              </a:rPr>
              <a:t>入学はこの後のスケジュールの時に説明</a:t>
            </a:r>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ここでは複数の入学方法があり選考料に違いがあることを伝える。</a:t>
            </a:r>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22</a:t>
            </a:fld>
            <a:endParaRPr kumimoji="1" lang="ja-JP" altLang="en-US"/>
          </a:p>
        </p:txBody>
      </p:sp>
    </p:spTree>
    <p:extLst>
      <p:ext uri="{BB962C8B-B14F-4D97-AF65-F5344CB8AC3E}">
        <p14:creationId xmlns:p14="http://schemas.microsoft.com/office/powerpoint/2010/main" val="2493605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23</a:t>
            </a:fld>
            <a:endParaRPr kumimoji="1" lang="ja-JP" altLang="en-US"/>
          </a:p>
        </p:txBody>
      </p:sp>
    </p:spTree>
    <p:extLst>
      <p:ext uri="{BB962C8B-B14F-4D97-AF65-F5344CB8AC3E}">
        <p14:creationId xmlns:p14="http://schemas.microsoft.com/office/powerpoint/2010/main" val="3580716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24</a:t>
            </a:fld>
            <a:endParaRPr kumimoji="1" lang="ja-JP" altLang="en-US"/>
          </a:p>
        </p:txBody>
      </p:sp>
    </p:spTree>
    <p:extLst>
      <p:ext uri="{BB962C8B-B14F-4D97-AF65-F5344CB8AC3E}">
        <p14:creationId xmlns:p14="http://schemas.microsoft.com/office/powerpoint/2010/main" val="5691103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r>
              <a:rPr lang="ja-JP" altLang="en-US" dirty="0"/>
              <a:t>学校説明会は進学希望者が学校をチェックする場であり</a:t>
            </a:r>
            <a:endParaRPr lang="en-US" altLang="ja-JP" dirty="0"/>
          </a:p>
          <a:p>
            <a:r>
              <a:rPr lang="ja-JP" altLang="en-US" dirty="0"/>
              <a:t>学校側が希望者を評価する場ではない</a:t>
            </a:r>
            <a:endParaRPr lang="en-US" altLang="ja-JP" dirty="0"/>
          </a:p>
          <a:p>
            <a:endParaRPr lang="en-US" altLang="ja-JP" dirty="0"/>
          </a:p>
          <a:p>
            <a:r>
              <a:rPr lang="ja-JP" altLang="en-US" dirty="0"/>
              <a:t>よって学校の成績や出席状況、評定平均などはこちらからあからさまに確認を入れないこと。</a:t>
            </a:r>
            <a:endParaRPr lang="en-US" altLang="ja-JP" dirty="0"/>
          </a:p>
          <a:p>
            <a:r>
              <a:rPr lang="ja-JP" altLang="en-US" dirty="0"/>
              <a:t>話の流れから聞くことは可能。</a:t>
            </a:r>
            <a:endParaRPr lang="en-US" altLang="ja-JP" dirty="0"/>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25</a:t>
            </a:fld>
            <a:endParaRPr kumimoji="1" lang="ja-JP" altLang="en-US"/>
          </a:p>
        </p:txBody>
      </p:sp>
    </p:spTree>
    <p:extLst>
      <p:ext uri="{BB962C8B-B14F-4D97-AF65-F5344CB8AC3E}">
        <p14:creationId xmlns:p14="http://schemas.microsoft.com/office/powerpoint/2010/main" val="1212633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endParaRPr kumimoji="1" lang="ja-JP"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26</a:t>
            </a:fld>
            <a:endParaRPr kumimoji="1" lang="ja-JP" altLang="en-US"/>
          </a:p>
        </p:txBody>
      </p:sp>
    </p:spTree>
    <p:extLst>
      <p:ext uri="{BB962C8B-B14F-4D97-AF65-F5344CB8AC3E}">
        <p14:creationId xmlns:p14="http://schemas.microsoft.com/office/powerpoint/2010/main" val="18393191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82600" y="1279525"/>
            <a:ext cx="6138863" cy="3454400"/>
          </a:xfrm>
        </p:spPr>
      </p:sp>
      <p:sp>
        <p:nvSpPr>
          <p:cNvPr id="3" name="ノート プレースホルダー 2"/>
          <p:cNvSpPr>
            <a:spLocks noGrp="1"/>
          </p:cNvSpPr>
          <p:nvPr>
            <p:ph type="body" idx="1"/>
          </p:nvPr>
        </p:nvSpPr>
        <p:spPr/>
        <p:txBody>
          <a:bodyPr/>
          <a:lstStyle/>
          <a:p>
            <a:r>
              <a:rPr lang="ja-JP" altLang="en-US" dirty="0"/>
              <a:t>学校説明会は進学希望者が学校をチェックする場であり</a:t>
            </a:r>
            <a:endParaRPr lang="en-US" altLang="ja-JP" dirty="0"/>
          </a:p>
          <a:p>
            <a:r>
              <a:rPr lang="ja-JP" altLang="en-US" dirty="0"/>
              <a:t>学校側が希望者を評価する場ではない</a:t>
            </a:r>
            <a:endParaRPr lang="en-US" altLang="ja-JP" dirty="0"/>
          </a:p>
          <a:p>
            <a:endParaRPr lang="en-US" altLang="ja-JP" dirty="0"/>
          </a:p>
          <a:p>
            <a:r>
              <a:rPr lang="ja-JP" altLang="en-US" dirty="0"/>
              <a:t>よって学校の成績や出席状況、評定平均などはこちらからあからさまに確認を入れないこと。</a:t>
            </a:r>
            <a:endParaRPr lang="en-US" altLang="ja-JP" dirty="0"/>
          </a:p>
          <a:p>
            <a:r>
              <a:rPr lang="ja-JP" altLang="en-US" dirty="0"/>
              <a:t>話の流れから聞くことは可能。</a:t>
            </a:r>
            <a:endParaRPr lang="en-US" altLang="ja-JP" dirty="0"/>
          </a:p>
        </p:txBody>
      </p:sp>
      <p:sp>
        <p:nvSpPr>
          <p:cNvPr id="4" name="スライド番号プレースホルダー 3"/>
          <p:cNvSpPr>
            <a:spLocks noGrp="1"/>
          </p:cNvSpPr>
          <p:nvPr>
            <p:ph type="sldNum" sz="quarter" idx="10"/>
          </p:nvPr>
        </p:nvSpPr>
        <p:spPr/>
        <p:txBody>
          <a:bodyPr/>
          <a:lstStyle/>
          <a:p>
            <a:fld id="{CE66CADE-3FFD-420C-BDFF-C58106D168D0}" type="slidenum">
              <a:rPr kumimoji="1" lang="ja-JP" altLang="en-US" smtClean="0"/>
              <a:t>27</a:t>
            </a:fld>
            <a:endParaRPr kumimoji="1" lang="ja-JP" altLang="en-US"/>
          </a:p>
        </p:txBody>
      </p:sp>
    </p:spTree>
    <p:extLst>
      <p:ext uri="{BB962C8B-B14F-4D97-AF65-F5344CB8AC3E}">
        <p14:creationId xmlns:p14="http://schemas.microsoft.com/office/powerpoint/2010/main" val="59764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F44588-37C7-4857-B3E7-24469EED4FA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8D11BEA-D52A-4CD8-99BE-24F450FBCD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BBFDF23-9012-41B3-8A32-BB7994837E76}"/>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5" name="フッター プレースホルダー 4">
            <a:extLst>
              <a:ext uri="{FF2B5EF4-FFF2-40B4-BE49-F238E27FC236}">
                <a16:creationId xmlns:a16="http://schemas.microsoft.com/office/drawing/2014/main" id="{50676CBB-58A9-4910-B3EC-D33AF0EE97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6BEB543-2711-448E-9FB4-BF4A5FF4D5D7}"/>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3520799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D0E907-0A03-45A0-BFF0-B865D7EFA7F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FD081EB-AD95-4496-A9F4-C5D289C53EE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982654F-4EB6-41BD-B876-265DB2711E6E}"/>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5" name="フッター プレースホルダー 4">
            <a:extLst>
              <a:ext uri="{FF2B5EF4-FFF2-40B4-BE49-F238E27FC236}">
                <a16:creationId xmlns:a16="http://schemas.microsoft.com/office/drawing/2014/main" id="{92B417D3-8DBB-4EB4-AF1B-5C16F1C0D69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0BA6D53-0893-485A-B272-8115D4B3F92D}"/>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3817852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23EA9C-6E25-4291-B1E4-0F92C63CA81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B1CB8C6-DCDC-4A1B-85D8-4F92128180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A5C1A9B-3271-4793-901D-D2C334101D8E}"/>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5" name="フッター プレースホルダー 4">
            <a:extLst>
              <a:ext uri="{FF2B5EF4-FFF2-40B4-BE49-F238E27FC236}">
                <a16:creationId xmlns:a16="http://schemas.microsoft.com/office/drawing/2014/main" id="{3E041CA4-D1D2-4D77-A741-09628C50D76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21121DB-B5ED-4EE0-A62E-2956FD460EE7}"/>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2199702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2E26E0-31CD-4094-AA76-94DED4AEEFB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955AF0D-DC9B-4B09-B887-6EFE9DE952D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7E6E7AD-BEF4-44FA-B44C-BD137567323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CAEED72-CFB3-4F70-BB96-2417568F0148}"/>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6" name="フッター プレースホルダー 5">
            <a:extLst>
              <a:ext uri="{FF2B5EF4-FFF2-40B4-BE49-F238E27FC236}">
                <a16:creationId xmlns:a16="http://schemas.microsoft.com/office/drawing/2014/main" id="{BE4D7004-DC5E-42AA-A1AA-2D7F0460C06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3D1BD90-56E1-4965-B2B6-5C4D9A458D75}"/>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3130954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2D0AB7-5AAD-4C92-96EF-B5ECA8D4E75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473C294-CF0C-47FE-ACD7-9059DB6BC7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1D67E35-EBA0-4FCE-90B8-82D1F1CD6FA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05D0956-328E-49CA-BFE0-4C010BA329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2CF4BCF-1701-42A5-A155-732246A1C74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B87E490-6B52-4413-B615-980D1A37A52C}"/>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8" name="フッター プレースホルダー 7">
            <a:extLst>
              <a:ext uri="{FF2B5EF4-FFF2-40B4-BE49-F238E27FC236}">
                <a16:creationId xmlns:a16="http://schemas.microsoft.com/office/drawing/2014/main" id="{15EB7B76-9861-4CB9-9FCE-78536BDDA23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E9C82E9-B453-48C3-876F-DEBB0EF78362}"/>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2385468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20AAAE-4FFF-4BC9-A171-DD8513AB1DD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0F0A938-EA35-41AD-8F91-F7F08503EE80}"/>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4" name="フッター プレースホルダー 3">
            <a:extLst>
              <a:ext uri="{FF2B5EF4-FFF2-40B4-BE49-F238E27FC236}">
                <a16:creationId xmlns:a16="http://schemas.microsoft.com/office/drawing/2014/main" id="{3A48773A-E755-4AF1-9D9F-5C12D443E26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9BF5544-AB25-4402-A5C1-7833EAE8D775}"/>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144314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1C7D9C7-E515-4E5B-A1A1-7C1553BC276D}"/>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3" name="フッター プレースホルダー 2">
            <a:extLst>
              <a:ext uri="{FF2B5EF4-FFF2-40B4-BE49-F238E27FC236}">
                <a16:creationId xmlns:a16="http://schemas.microsoft.com/office/drawing/2014/main" id="{087218F9-99B2-4253-9D6E-75A2E2B16C5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9354EAD-DC54-42B2-9DB1-DFD14F8B7574}"/>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291222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AFA197-6B98-4B82-A08F-FBE6DF25441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A3215C9-8D67-4966-9B21-B90AAA4E27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CE8B34C-98E5-48B9-A642-244024884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60F2FEF-062A-4DA9-BA93-8E137667BE73}"/>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6" name="フッター プレースホルダー 5">
            <a:extLst>
              <a:ext uri="{FF2B5EF4-FFF2-40B4-BE49-F238E27FC236}">
                <a16:creationId xmlns:a16="http://schemas.microsoft.com/office/drawing/2014/main" id="{6D992DC9-E416-41EE-B9B2-FC4EEF200C2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B5E0CE6-3EA8-4B57-85FD-22C1FE41C158}"/>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2864483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EF97E1-93E3-48DF-B9F5-D6835DF5FF0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2F43CBF-1323-4C99-BD08-294D76A38A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E248608-F6C5-4821-BABF-3C0090A05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051B7EF-F1EE-4F16-936C-3C96C4EF1125}"/>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6" name="フッター プレースホルダー 5">
            <a:extLst>
              <a:ext uri="{FF2B5EF4-FFF2-40B4-BE49-F238E27FC236}">
                <a16:creationId xmlns:a16="http://schemas.microsoft.com/office/drawing/2014/main" id="{56890ECC-B789-4F73-AF6D-592DFEDF889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392AF13-6D83-4906-9FA4-487D313D02DB}"/>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840533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73F9D4-BEE6-46A6-A082-8036F94B9F5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0FE38E3-C25D-4A9A-8367-51179D98D7A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16DE589-ECB6-4828-AC43-42E928D5C067}"/>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5" name="フッター プレースホルダー 4">
            <a:extLst>
              <a:ext uri="{FF2B5EF4-FFF2-40B4-BE49-F238E27FC236}">
                <a16:creationId xmlns:a16="http://schemas.microsoft.com/office/drawing/2014/main" id="{0AC547F1-CD16-41DA-A8B2-0EC10E0FCED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2398BC-1143-479C-B4F6-DFF759B99C6B}"/>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2774961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7B2BE5D-B87F-4252-9C94-DFBAE2E6475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0754F1D-F2F6-47DD-9548-398CDC22F8E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BF882-379E-43C2-8ECF-00F9848D9C59}"/>
              </a:ext>
            </a:extLst>
          </p:cNvPr>
          <p:cNvSpPr>
            <a:spLocks noGrp="1"/>
          </p:cNvSpPr>
          <p:nvPr>
            <p:ph type="dt" sz="half" idx="10"/>
          </p:nvPr>
        </p:nvSpPr>
        <p:spPr/>
        <p:txBody>
          <a:bodyPr/>
          <a:lstStyle/>
          <a:p>
            <a:fld id="{146DC1B8-6CF2-4FFF-A811-91692BC2241D}" type="datetimeFigureOut">
              <a:rPr kumimoji="1" lang="ja-JP" altLang="en-US" smtClean="0"/>
              <a:t>2025/11/10</a:t>
            </a:fld>
            <a:endParaRPr kumimoji="1" lang="ja-JP" altLang="en-US"/>
          </a:p>
        </p:txBody>
      </p:sp>
      <p:sp>
        <p:nvSpPr>
          <p:cNvPr id="5" name="フッター プレースホルダー 4">
            <a:extLst>
              <a:ext uri="{FF2B5EF4-FFF2-40B4-BE49-F238E27FC236}">
                <a16:creationId xmlns:a16="http://schemas.microsoft.com/office/drawing/2014/main" id="{771CE79F-9D56-4EFC-939E-369C8E58F94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9A027EA-DA30-4872-BAE6-430D3E3410B4}"/>
              </a:ext>
            </a:extLst>
          </p:cNvPr>
          <p:cNvSpPr>
            <a:spLocks noGrp="1"/>
          </p:cNvSpPr>
          <p:nvPr>
            <p:ph type="sldNum" sz="quarter" idx="12"/>
          </p:nvPr>
        </p:nvSpPr>
        <p:spPr/>
        <p:txBody>
          <a:body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42266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95F51E8-6DC7-48F3-80E4-FFD51AC919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829F61D-C39A-40D9-B68B-F4AF58762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8AA7885-061E-4C1F-8A66-EAD93AA225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6DC1B8-6CF2-4FFF-A811-91692BC2241D}" type="datetimeFigureOut">
              <a:rPr kumimoji="1" lang="ja-JP" altLang="en-US" smtClean="0"/>
              <a:t>2025/11/10</a:t>
            </a:fld>
            <a:endParaRPr kumimoji="1" lang="ja-JP" altLang="en-US"/>
          </a:p>
        </p:txBody>
      </p:sp>
      <p:sp>
        <p:nvSpPr>
          <p:cNvPr id="5" name="フッター プレースホルダー 4">
            <a:extLst>
              <a:ext uri="{FF2B5EF4-FFF2-40B4-BE49-F238E27FC236}">
                <a16:creationId xmlns:a16="http://schemas.microsoft.com/office/drawing/2014/main" id="{E62B2D25-0479-4263-AD36-F1AF0DF75B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936E7C9-59ED-4EE0-8976-BC7C0E7D9A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A836A4-A763-4665-B56B-325DA14F746E}" type="slidenum">
              <a:rPr kumimoji="1" lang="ja-JP" altLang="en-US" smtClean="0"/>
              <a:t>‹#›</a:t>
            </a:fld>
            <a:endParaRPr kumimoji="1" lang="ja-JP" altLang="en-US"/>
          </a:p>
        </p:txBody>
      </p:sp>
    </p:spTree>
    <p:extLst>
      <p:ext uri="{BB962C8B-B14F-4D97-AF65-F5344CB8AC3E}">
        <p14:creationId xmlns:p14="http://schemas.microsoft.com/office/powerpoint/2010/main" val="1768020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png"/><Relationship Id="rId7"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3.png"/><Relationship Id="rId9"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1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12"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chart" Target="../charts/chart4.xml"/><Relationship Id="rId11" Type="http://schemas.openxmlformats.org/officeDocument/2006/relationships/image" Target="../media/image21.jpeg"/><Relationship Id="rId5" Type="http://schemas.openxmlformats.org/officeDocument/2006/relationships/chart" Target="../charts/chart3.xml"/><Relationship Id="rId10" Type="http://schemas.openxmlformats.org/officeDocument/2006/relationships/image" Target="../media/image20.jpeg"/><Relationship Id="rId4" Type="http://schemas.openxmlformats.org/officeDocument/2006/relationships/image" Target="../media/image3.png"/><Relationship Id="rId9"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3.emf"/><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40.png"/><Relationship Id="rId26" Type="http://schemas.openxmlformats.org/officeDocument/2006/relationships/image" Target="../media/image48.jpeg"/><Relationship Id="rId39" Type="http://schemas.openxmlformats.org/officeDocument/2006/relationships/image" Target="../media/image61.png"/><Relationship Id="rId3" Type="http://schemas.openxmlformats.org/officeDocument/2006/relationships/image" Target="../media/image2.png"/><Relationship Id="rId21" Type="http://schemas.openxmlformats.org/officeDocument/2006/relationships/image" Target="../media/image43.jpg"/><Relationship Id="rId34" Type="http://schemas.openxmlformats.org/officeDocument/2006/relationships/image" Target="../media/image56.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5" Type="http://schemas.openxmlformats.org/officeDocument/2006/relationships/image" Target="../media/image47.png"/><Relationship Id="rId33" Type="http://schemas.openxmlformats.org/officeDocument/2006/relationships/image" Target="../media/image55.jpeg"/><Relationship Id="rId38" Type="http://schemas.openxmlformats.org/officeDocument/2006/relationships/image" Target="../media/image60.png"/><Relationship Id="rId2" Type="http://schemas.openxmlformats.org/officeDocument/2006/relationships/notesSlide" Target="../notesSlides/notesSlide12.xml"/><Relationship Id="rId16" Type="http://schemas.openxmlformats.org/officeDocument/2006/relationships/image" Target="../media/image38.jpeg"/><Relationship Id="rId20" Type="http://schemas.openxmlformats.org/officeDocument/2006/relationships/image" Target="../media/image42.jfif"/><Relationship Id="rId29" Type="http://schemas.openxmlformats.org/officeDocument/2006/relationships/image" Target="../media/image51.jpe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png"/><Relationship Id="rId32" Type="http://schemas.openxmlformats.org/officeDocument/2006/relationships/image" Target="../media/image54.png"/><Relationship Id="rId37" Type="http://schemas.openxmlformats.org/officeDocument/2006/relationships/image" Target="../media/image59.png"/><Relationship Id="rId5" Type="http://schemas.openxmlformats.org/officeDocument/2006/relationships/image" Target="../media/image27.png"/><Relationship Id="rId15" Type="http://schemas.openxmlformats.org/officeDocument/2006/relationships/image" Target="../media/image37.png"/><Relationship Id="rId23" Type="http://schemas.openxmlformats.org/officeDocument/2006/relationships/image" Target="../media/image45.png"/><Relationship Id="rId28" Type="http://schemas.openxmlformats.org/officeDocument/2006/relationships/image" Target="../media/image50.png"/><Relationship Id="rId36" Type="http://schemas.openxmlformats.org/officeDocument/2006/relationships/image" Target="../media/image58.jpe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53.jpeg"/><Relationship Id="rId4" Type="http://schemas.openxmlformats.org/officeDocument/2006/relationships/image" Target="../media/image3.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jpeg"/><Relationship Id="rId27" Type="http://schemas.openxmlformats.org/officeDocument/2006/relationships/image" Target="../media/image49.png"/><Relationship Id="rId30" Type="http://schemas.openxmlformats.org/officeDocument/2006/relationships/image" Target="../media/image52.jpeg"/><Relationship Id="rId35" Type="http://schemas.openxmlformats.org/officeDocument/2006/relationships/image" Target="../media/image57.jpeg"/></Relationships>
</file>

<file path=ppt/slides/_rels/slide18.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2.png"/><Relationship Id="rId7" Type="http://schemas.openxmlformats.org/officeDocument/2006/relationships/image" Target="../media/image64.jpeg"/><Relationship Id="rId12" Type="http://schemas.openxmlformats.org/officeDocument/2006/relationships/image" Target="../media/image6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63.jpeg"/><Relationship Id="rId11" Type="http://schemas.openxmlformats.org/officeDocument/2006/relationships/image" Target="../media/image68.jpeg"/><Relationship Id="rId5" Type="http://schemas.openxmlformats.org/officeDocument/2006/relationships/image" Target="../media/image62.jpeg"/><Relationship Id="rId10" Type="http://schemas.openxmlformats.org/officeDocument/2006/relationships/image" Target="../media/image67.jpeg"/><Relationship Id="rId4" Type="http://schemas.openxmlformats.org/officeDocument/2006/relationships/image" Target="../media/image3.png"/><Relationship Id="rId9" Type="http://schemas.openxmlformats.org/officeDocument/2006/relationships/image" Target="../media/image66.jpe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chart" Target="../charts/chart6.xml"/><Relationship Id="rId4" Type="http://schemas.openxmlformats.org/officeDocument/2006/relationships/chart" Target="../charts/chart5.xml"/></Relationships>
</file>

<file path=ppt/slides/_rels/slide2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B76F52FE-DCF8-49CB-923F-B7194A5BA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テキスト ボックス 4">
            <a:extLst>
              <a:ext uri="{FF2B5EF4-FFF2-40B4-BE49-F238E27FC236}">
                <a16:creationId xmlns:a16="http://schemas.microsoft.com/office/drawing/2014/main" id="{BDC5CAC0-40F1-48DD-9850-E02680C1374E}"/>
              </a:ext>
            </a:extLst>
          </p:cNvPr>
          <p:cNvSpPr txBox="1"/>
          <p:nvPr/>
        </p:nvSpPr>
        <p:spPr>
          <a:xfrm>
            <a:off x="8236435" y="2381250"/>
            <a:ext cx="2595582" cy="1107996"/>
          </a:xfrm>
          <a:prstGeom prst="rect">
            <a:avLst/>
          </a:prstGeom>
          <a:noFill/>
        </p:spPr>
        <p:txBody>
          <a:bodyPr wrap="none" rtlCol="0">
            <a:spAutoFit/>
          </a:bodyPr>
          <a:lstStyle/>
          <a:p>
            <a:r>
              <a:rPr kumimoji="1" lang="en-US" altLang="ja-JP" sz="6600" spc="300" dirty="0">
                <a:solidFill>
                  <a:schemeClr val="bg1"/>
                </a:solidFill>
                <a:latin typeface="Arial Black" panose="020B0A04020102020204" pitchFamily="34" charset="0"/>
              </a:rPr>
              <a:t>2025</a:t>
            </a:r>
            <a:endParaRPr kumimoji="1" lang="ja-JP" altLang="en-US" sz="6600" spc="300" dirty="0">
              <a:solidFill>
                <a:schemeClr val="bg1"/>
              </a:solidFill>
              <a:latin typeface="Arial Black" panose="020B0A04020102020204" pitchFamily="34" charset="0"/>
            </a:endParaRPr>
          </a:p>
        </p:txBody>
      </p:sp>
      <p:sp>
        <p:nvSpPr>
          <p:cNvPr id="6" name="テキスト ボックス 5">
            <a:extLst>
              <a:ext uri="{FF2B5EF4-FFF2-40B4-BE49-F238E27FC236}">
                <a16:creationId xmlns:a16="http://schemas.microsoft.com/office/drawing/2014/main" id="{B02EF1B1-67DE-4D06-8520-1D5CE6EC91D4}"/>
              </a:ext>
            </a:extLst>
          </p:cNvPr>
          <p:cNvSpPr txBox="1"/>
          <p:nvPr/>
        </p:nvSpPr>
        <p:spPr>
          <a:xfrm>
            <a:off x="8143844" y="4408260"/>
            <a:ext cx="2621230" cy="1683666"/>
          </a:xfrm>
          <a:prstGeom prst="rect">
            <a:avLst/>
          </a:prstGeom>
          <a:noFill/>
        </p:spPr>
        <p:txBody>
          <a:bodyPr wrap="none" rtlCol="0">
            <a:spAutoFit/>
          </a:bodyPr>
          <a:lstStyle/>
          <a:p>
            <a:pPr algn="ctr">
              <a:lnSpc>
                <a:spcPct val="150000"/>
              </a:lnSpc>
            </a:pPr>
            <a:r>
              <a:rPr kumimoji="1" lang="ja-JP" altLang="en-US" b="1" dirty="0">
                <a:solidFill>
                  <a:schemeClr val="bg2">
                    <a:lumMod val="50000"/>
                  </a:schemeClr>
                </a:solidFill>
                <a:latin typeface="BIZ UDPゴシック" panose="020B0400000000000000" pitchFamily="50" charset="-128"/>
                <a:ea typeface="BIZ UDPゴシック" panose="020B0400000000000000" pitchFamily="50" charset="-128"/>
              </a:rPr>
              <a:t>高度システム開発コース</a:t>
            </a:r>
          </a:p>
          <a:p>
            <a:pPr algn="ctr">
              <a:lnSpc>
                <a:spcPct val="150000"/>
              </a:lnSpc>
            </a:pPr>
            <a:r>
              <a:rPr kumimoji="1" lang="ja-JP" altLang="en-US" b="1" dirty="0">
                <a:solidFill>
                  <a:schemeClr val="bg2">
                    <a:lumMod val="50000"/>
                  </a:schemeClr>
                </a:solidFill>
                <a:latin typeface="BIZ UDPゴシック" panose="020B0400000000000000" pitchFamily="50" charset="-128"/>
                <a:ea typeface="BIZ UDPゴシック" panose="020B0400000000000000" pitchFamily="50" charset="-128"/>
              </a:rPr>
              <a:t>システム開発コース</a:t>
            </a:r>
            <a:endParaRPr kumimoji="1" lang="en-US" altLang="ja-JP" b="1" dirty="0">
              <a:solidFill>
                <a:schemeClr val="bg2">
                  <a:lumMod val="50000"/>
                </a:schemeClr>
              </a:solidFill>
              <a:latin typeface="BIZ UDPゴシック" panose="020B0400000000000000" pitchFamily="50" charset="-128"/>
              <a:ea typeface="BIZ UDPゴシック" panose="020B0400000000000000" pitchFamily="50" charset="-128"/>
            </a:endParaRPr>
          </a:p>
          <a:p>
            <a:pPr algn="ctr">
              <a:lnSpc>
                <a:spcPct val="150000"/>
              </a:lnSpc>
            </a:pPr>
            <a:r>
              <a:rPr kumimoji="1" lang="ja-JP" altLang="en-US" b="1" dirty="0">
                <a:solidFill>
                  <a:schemeClr val="bg2">
                    <a:lumMod val="50000"/>
                  </a:schemeClr>
                </a:solidFill>
                <a:latin typeface="BIZ UDPゴシック" panose="020B0400000000000000" pitchFamily="50" charset="-128"/>
                <a:ea typeface="BIZ UDPゴシック" panose="020B0400000000000000" pitchFamily="50" charset="-128"/>
              </a:rPr>
              <a:t>ゲーム制作コース</a:t>
            </a:r>
            <a:endParaRPr kumimoji="1" lang="en-US" altLang="ja-JP" b="1" dirty="0">
              <a:solidFill>
                <a:schemeClr val="bg2">
                  <a:lumMod val="50000"/>
                </a:schemeClr>
              </a:solidFill>
              <a:latin typeface="BIZ UDPゴシック" panose="020B0400000000000000" pitchFamily="50" charset="-128"/>
              <a:ea typeface="BIZ UDPゴシック" panose="020B0400000000000000" pitchFamily="50" charset="-128"/>
            </a:endParaRPr>
          </a:p>
          <a:p>
            <a:pPr algn="ctr">
              <a:lnSpc>
                <a:spcPct val="150000"/>
              </a:lnSpc>
            </a:pPr>
            <a:r>
              <a:rPr kumimoji="1" lang="en-US" altLang="ja-JP" b="1" dirty="0">
                <a:solidFill>
                  <a:schemeClr val="bg2">
                    <a:lumMod val="50000"/>
                  </a:schemeClr>
                </a:solidFill>
                <a:latin typeface="BIZ UDPゴシック" panose="020B0400000000000000" pitchFamily="50" charset="-128"/>
                <a:ea typeface="BIZ UDPゴシック" panose="020B0400000000000000" pitchFamily="50" charset="-128"/>
              </a:rPr>
              <a:t>CG</a:t>
            </a:r>
            <a:r>
              <a:rPr kumimoji="1" lang="ja-JP" altLang="en-US" b="1" dirty="0">
                <a:solidFill>
                  <a:schemeClr val="bg2">
                    <a:lumMod val="50000"/>
                  </a:schemeClr>
                </a:solidFill>
                <a:latin typeface="BIZ UDPゴシック" panose="020B0400000000000000" pitchFamily="50" charset="-128"/>
                <a:ea typeface="BIZ UDPゴシック" panose="020B0400000000000000" pitchFamily="50" charset="-128"/>
              </a:rPr>
              <a:t>・映像制作コース</a:t>
            </a:r>
          </a:p>
        </p:txBody>
      </p:sp>
      <p:sp>
        <p:nvSpPr>
          <p:cNvPr id="7" name="テキスト ボックス 6">
            <a:extLst>
              <a:ext uri="{FF2B5EF4-FFF2-40B4-BE49-F238E27FC236}">
                <a16:creationId xmlns:a16="http://schemas.microsoft.com/office/drawing/2014/main" id="{A4C1C41C-1AA3-4122-9C5B-84B3BB45803F}"/>
              </a:ext>
            </a:extLst>
          </p:cNvPr>
          <p:cNvSpPr txBox="1"/>
          <p:nvPr/>
        </p:nvSpPr>
        <p:spPr>
          <a:xfrm>
            <a:off x="207035" y="6426873"/>
            <a:ext cx="3307316" cy="400110"/>
          </a:xfrm>
          <a:prstGeom prst="rect">
            <a:avLst/>
          </a:prstGeom>
          <a:noFill/>
        </p:spPr>
        <p:txBody>
          <a:bodyPr wrap="none" rtlCol="0">
            <a:spAutoFit/>
          </a:bodyPr>
          <a:lstStyle/>
          <a:p>
            <a:r>
              <a:rPr kumimoji="1" lang="en-US" altLang="ja-JP" sz="2000" b="1" spc="300" dirty="0">
                <a:solidFill>
                  <a:schemeClr val="bg1"/>
                </a:solidFill>
                <a:latin typeface="メイリオ" panose="020B0604030504040204" pitchFamily="50" charset="-128"/>
                <a:ea typeface="メイリオ" panose="020B0604030504040204" pitchFamily="50" charset="-128"/>
              </a:rPr>
              <a:t>2026</a:t>
            </a:r>
            <a:r>
              <a:rPr kumimoji="1" lang="ja-JP" altLang="en-US" sz="2000" b="1" spc="300" dirty="0">
                <a:solidFill>
                  <a:schemeClr val="bg1"/>
                </a:solidFill>
                <a:latin typeface="メイリオ" panose="020B0604030504040204" pitchFamily="50" charset="-128"/>
                <a:ea typeface="メイリオ" panose="020B0604030504040204" pitchFamily="50" charset="-128"/>
              </a:rPr>
              <a:t>年</a:t>
            </a:r>
            <a:r>
              <a:rPr kumimoji="1" lang="en-US" altLang="ja-JP" sz="2000" b="1" spc="300" dirty="0">
                <a:solidFill>
                  <a:schemeClr val="bg1"/>
                </a:solidFill>
                <a:latin typeface="メイリオ" panose="020B0604030504040204" pitchFamily="50" charset="-128"/>
                <a:ea typeface="メイリオ" panose="020B0604030504040204" pitchFamily="50" charset="-128"/>
              </a:rPr>
              <a:t>4</a:t>
            </a:r>
            <a:r>
              <a:rPr kumimoji="1" lang="ja-JP" altLang="en-US" sz="2000" b="1" spc="300" dirty="0">
                <a:solidFill>
                  <a:schemeClr val="bg1"/>
                </a:solidFill>
                <a:latin typeface="メイリオ" panose="020B0604030504040204" pitchFamily="50" charset="-128"/>
                <a:ea typeface="メイリオ" panose="020B0604030504040204" pitchFamily="50" charset="-128"/>
              </a:rPr>
              <a:t>月入学生向け</a:t>
            </a:r>
          </a:p>
        </p:txBody>
      </p:sp>
    </p:spTree>
    <p:extLst>
      <p:ext uri="{BB962C8B-B14F-4D97-AF65-F5344CB8AC3E}">
        <p14:creationId xmlns:p14="http://schemas.microsoft.com/office/powerpoint/2010/main" val="1764890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36F22084-C63F-40D2-A07A-9EA6AE139646}"/>
              </a:ext>
            </a:extLst>
          </p:cNvPr>
          <p:cNvPicPr>
            <a:picLocks noChangeAspect="1"/>
          </p:cNvPicPr>
          <p:nvPr/>
        </p:nvPicPr>
        <p:blipFill rotWithShape="1">
          <a:blip r:embed="rId2">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3" name="図 2">
            <a:extLst>
              <a:ext uri="{FF2B5EF4-FFF2-40B4-BE49-F238E27FC236}">
                <a16:creationId xmlns:a16="http://schemas.microsoft.com/office/drawing/2014/main" id="{4FA8B20E-CC1A-489C-85DC-EAE05B7A1C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4" name="テキスト ボックス 3">
            <a:extLst>
              <a:ext uri="{FF2B5EF4-FFF2-40B4-BE49-F238E27FC236}">
                <a16:creationId xmlns:a16="http://schemas.microsoft.com/office/drawing/2014/main" id="{AC4D15A7-BA0A-4F4F-8E8A-FE7DD851D3A5}"/>
              </a:ext>
            </a:extLst>
          </p:cNvPr>
          <p:cNvSpPr txBox="1"/>
          <p:nvPr/>
        </p:nvSpPr>
        <p:spPr>
          <a:xfrm>
            <a:off x="1460388" y="1116983"/>
            <a:ext cx="9963374" cy="5147563"/>
          </a:xfrm>
          <a:prstGeom prst="rect">
            <a:avLst/>
          </a:prstGeom>
          <a:noFill/>
        </p:spPr>
        <p:txBody>
          <a:bodyPr wrap="square" rtlCol="0">
            <a:spAutoFit/>
          </a:bodyPr>
          <a:lstStyle/>
          <a:p>
            <a:pPr>
              <a:lnSpc>
                <a:spcPct val="150000"/>
              </a:lnSpc>
            </a:pPr>
            <a:r>
              <a:rPr lang="en-US" altLang="ja-JP" sz="3200" b="1" dirty="0">
                <a:latin typeface="HGPｺﾞｼｯｸE" panose="020B0900000000000000" pitchFamily="50" charset="-128"/>
                <a:ea typeface="HGPｺﾞｼｯｸE" panose="020B0900000000000000" pitchFamily="50" charset="-128"/>
              </a:rPr>
              <a:t>01. </a:t>
            </a:r>
            <a:r>
              <a:rPr lang="ja-JP" altLang="en-US" sz="3200" b="1" dirty="0">
                <a:latin typeface="HGPｺﾞｼｯｸE" panose="020B0900000000000000" pitchFamily="50" charset="-128"/>
                <a:ea typeface="HGPｺﾞｼｯｸE" panose="020B0900000000000000" pitchFamily="50" charset="-128"/>
              </a:rPr>
              <a:t>設置コース（情報</a:t>
            </a:r>
            <a:r>
              <a:rPr lang="en-US" altLang="ja-JP" sz="3200" b="1" dirty="0">
                <a:latin typeface="HGPｺﾞｼｯｸE" panose="020B0900000000000000" pitchFamily="50" charset="-128"/>
                <a:ea typeface="HGPｺﾞｼｯｸE" panose="020B0900000000000000" pitchFamily="50" charset="-128"/>
              </a:rPr>
              <a:t>IT</a:t>
            </a:r>
            <a:r>
              <a:rPr lang="ja-JP" altLang="en-US" sz="3200" b="1" dirty="0">
                <a:latin typeface="HGPｺﾞｼｯｸE" panose="020B0900000000000000" pitchFamily="50" charset="-128"/>
                <a:ea typeface="HGPｺﾞｼｯｸE" panose="020B0900000000000000" pitchFamily="50" charset="-128"/>
              </a:rPr>
              <a:t>学科）</a:t>
            </a:r>
            <a:endParaRPr lang="en-US" altLang="ja-JP" sz="4400" b="1" dirty="0">
              <a:latin typeface="HGPｺﾞｼｯｸE" panose="020B0900000000000000" pitchFamily="50" charset="-128"/>
              <a:ea typeface="HGPｺﾞｼｯｸE" panose="020B0900000000000000" pitchFamily="50" charset="-128"/>
            </a:endParaRPr>
          </a:p>
          <a:p>
            <a:pPr>
              <a:lnSpc>
                <a:spcPct val="150000"/>
              </a:lnSpc>
            </a:pPr>
            <a:r>
              <a:rPr lang="en-US" altLang="ja-JP" sz="3200" b="1" dirty="0">
                <a:latin typeface="HGPｺﾞｼｯｸE" panose="020B0900000000000000" pitchFamily="50" charset="-128"/>
                <a:ea typeface="HGPｺﾞｼｯｸE" panose="020B0900000000000000" pitchFamily="50" charset="-128"/>
              </a:rPr>
              <a:t>02. </a:t>
            </a:r>
            <a:r>
              <a:rPr lang="ja-JP" altLang="en-US" sz="3200" b="1" dirty="0">
                <a:latin typeface="HGPｺﾞｼｯｸE" panose="020B0900000000000000" pitchFamily="50" charset="-128"/>
                <a:ea typeface="HGPｺﾞｼｯｸE" panose="020B0900000000000000" pitchFamily="50" charset="-128"/>
              </a:rPr>
              <a:t>具体的教育の特徴（情報</a:t>
            </a:r>
            <a:r>
              <a:rPr lang="en-US" altLang="ja-JP" sz="3200" b="1" dirty="0">
                <a:latin typeface="HGPｺﾞｼｯｸE" panose="020B0900000000000000" pitchFamily="50" charset="-128"/>
                <a:ea typeface="HGPｺﾞｼｯｸE" panose="020B0900000000000000" pitchFamily="50" charset="-128"/>
              </a:rPr>
              <a:t>IT</a:t>
            </a:r>
            <a:r>
              <a:rPr lang="ja-JP" altLang="en-US" sz="3200" b="1" dirty="0">
                <a:latin typeface="HGPｺﾞｼｯｸE" panose="020B0900000000000000" pitchFamily="50" charset="-128"/>
                <a:ea typeface="HGPｺﾞｼｯｸE" panose="020B0900000000000000" pitchFamily="50" charset="-128"/>
              </a:rPr>
              <a:t>学科）</a:t>
            </a:r>
            <a:endParaRPr lang="en-US" altLang="ja-JP" sz="3200" b="1" dirty="0">
              <a:latin typeface="HGPｺﾞｼｯｸE" panose="020B0900000000000000" pitchFamily="50" charset="-128"/>
              <a:ea typeface="HGPｺﾞｼｯｸE" panose="020B0900000000000000" pitchFamily="50" charset="-128"/>
            </a:endParaRPr>
          </a:p>
          <a:p>
            <a:pPr>
              <a:lnSpc>
                <a:spcPct val="150000"/>
              </a:lnSpc>
            </a:pPr>
            <a:r>
              <a:rPr lang="en-US" altLang="ja-JP" sz="3200" b="1" dirty="0">
                <a:latin typeface="HGPｺﾞｼｯｸE" panose="020B0900000000000000" pitchFamily="50" charset="-128"/>
                <a:ea typeface="HGPｺﾞｼｯｸE" panose="020B0900000000000000" pitchFamily="50" charset="-128"/>
              </a:rPr>
              <a:t>03. </a:t>
            </a:r>
            <a:r>
              <a:rPr lang="ja-JP" altLang="en-US" sz="3200" b="1" dirty="0">
                <a:latin typeface="HGPｺﾞｼｯｸE" panose="020B0900000000000000" pitchFamily="50" charset="-128"/>
                <a:ea typeface="HGPｺﾞｼｯｸE" panose="020B0900000000000000" pitchFamily="50" charset="-128"/>
              </a:rPr>
              <a:t>設置コース（クリエイター学科）</a:t>
            </a:r>
            <a:endParaRPr lang="en-US" altLang="ja-JP" sz="3200" b="1" dirty="0">
              <a:latin typeface="HGPｺﾞｼｯｸE" panose="020B0900000000000000" pitchFamily="50" charset="-128"/>
              <a:ea typeface="HGPｺﾞｼｯｸE" panose="020B0900000000000000" pitchFamily="50" charset="-128"/>
            </a:endParaRPr>
          </a:p>
          <a:p>
            <a:pPr>
              <a:lnSpc>
                <a:spcPct val="150000"/>
              </a:lnSpc>
            </a:pPr>
            <a:r>
              <a:rPr lang="en-US" altLang="ja-JP" sz="3200" b="1" dirty="0">
                <a:latin typeface="HGPｺﾞｼｯｸE" panose="020B0900000000000000" pitchFamily="50" charset="-128"/>
                <a:ea typeface="HGPｺﾞｼｯｸE" panose="020B0900000000000000" pitchFamily="50" charset="-128"/>
              </a:rPr>
              <a:t>04. </a:t>
            </a:r>
            <a:r>
              <a:rPr lang="ja-JP" altLang="en-US" sz="3200" b="1" dirty="0">
                <a:latin typeface="HGPｺﾞｼｯｸE" panose="020B0900000000000000" pitchFamily="50" charset="-128"/>
                <a:ea typeface="HGPｺﾞｼｯｸE" panose="020B0900000000000000" pitchFamily="50" charset="-128"/>
              </a:rPr>
              <a:t>具体的教育の特徴（クリエイター学科）</a:t>
            </a:r>
            <a:endParaRPr lang="en-US" altLang="ja-JP" sz="3200" b="1" dirty="0">
              <a:latin typeface="HGPｺﾞｼｯｸE" panose="020B0900000000000000" pitchFamily="50" charset="-128"/>
              <a:ea typeface="HGPｺﾞｼｯｸE" panose="020B0900000000000000" pitchFamily="50" charset="-128"/>
            </a:endParaRPr>
          </a:p>
          <a:p>
            <a:pPr>
              <a:lnSpc>
                <a:spcPct val="150000"/>
              </a:lnSpc>
            </a:pPr>
            <a:r>
              <a:rPr lang="en-US" altLang="ja-JP" sz="3200" b="1" dirty="0">
                <a:latin typeface="HGPｺﾞｼｯｸE" panose="020B0900000000000000" pitchFamily="50" charset="-128"/>
                <a:ea typeface="HGPｺﾞｼｯｸE" panose="020B0900000000000000" pitchFamily="50" charset="-128"/>
              </a:rPr>
              <a:t>05.</a:t>
            </a:r>
            <a:r>
              <a:rPr lang="ja-JP" altLang="en-US" sz="3200" b="1" dirty="0">
                <a:latin typeface="HGPｺﾞｼｯｸE" panose="020B0900000000000000" pitchFamily="50" charset="-128"/>
                <a:ea typeface="HGPｺﾞｼｯｸE" panose="020B0900000000000000" pitchFamily="50" charset="-128"/>
              </a:rPr>
              <a:t> 共通の取り組み・学内イベント</a:t>
            </a:r>
            <a:endParaRPr lang="en-US" altLang="ja-JP" sz="3200" b="1" dirty="0">
              <a:latin typeface="HGPｺﾞｼｯｸE" panose="020B0900000000000000" pitchFamily="50" charset="-128"/>
              <a:ea typeface="HGPｺﾞｼｯｸE" panose="020B0900000000000000" pitchFamily="50" charset="-128"/>
            </a:endParaRPr>
          </a:p>
          <a:p>
            <a:pPr>
              <a:lnSpc>
                <a:spcPct val="150000"/>
              </a:lnSpc>
            </a:pPr>
            <a:r>
              <a:rPr lang="en-US" altLang="ja-JP" sz="3200" b="1" dirty="0">
                <a:latin typeface="HGPｺﾞｼｯｸE" panose="020B0900000000000000" pitchFamily="50" charset="-128"/>
                <a:ea typeface="HGPｺﾞｼｯｸE" panose="020B0900000000000000" pitchFamily="50" charset="-128"/>
              </a:rPr>
              <a:t>06. </a:t>
            </a:r>
            <a:r>
              <a:rPr lang="ja-JP" altLang="en-US" sz="3200" b="1" dirty="0">
                <a:latin typeface="HGPｺﾞｼｯｸE" panose="020B0900000000000000" pitchFamily="50" charset="-128"/>
                <a:ea typeface="HGPｺﾞｼｯｸE" panose="020B0900000000000000" pitchFamily="50" charset="-128"/>
              </a:rPr>
              <a:t>入試制度・学費・特別奨学生制度</a:t>
            </a:r>
            <a:endParaRPr lang="en-US" altLang="ja-JP" sz="3200" b="1" dirty="0">
              <a:latin typeface="HGPｺﾞｼｯｸE" panose="020B0900000000000000" pitchFamily="50" charset="-128"/>
              <a:ea typeface="HGPｺﾞｼｯｸE" panose="020B0900000000000000" pitchFamily="50" charset="-128"/>
            </a:endParaRPr>
          </a:p>
          <a:p>
            <a:pPr>
              <a:lnSpc>
                <a:spcPct val="150000"/>
              </a:lnSpc>
            </a:pPr>
            <a:r>
              <a:rPr lang="en-US" altLang="ja-JP" sz="3200" b="1" dirty="0">
                <a:latin typeface="HGPｺﾞｼｯｸE" panose="020B0900000000000000" pitchFamily="50" charset="-128"/>
                <a:ea typeface="HGPｺﾞｼｯｸE" panose="020B0900000000000000" pitchFamily="50" charset="-128"/>
              </a:rPr>
              <a:t>07. </a:t>
            </a:r>
            <a:r>
              <a:rPr lang="ja-JP" altLang="en-US" sz="3200" b="1" dirty="0">
                <a:latin typeface="HGPｺﾞｼｯｸE" panose="020B0900000000000000" pitchFamily="50" charset="-128"/>
                <a:ea typeface="HGPｺﾞｼｯｸE" panose="020B0900000000000000" pitchFamily="50" charset="-128"/>
              </a:rPr>
              <a:t>よくある</a:t>
            </a:r>
            <a:r>
              <a:rPr lang="en-US" altLang="ja-JP" sz="3200" b="1" dirty="0">
                <a:latin typeface="HGPｺﾞｼｯｸE" panose="020B0900000000000000" pitchFamily="50" charset="-128"/>
                <a:ea typeface="HGPｺﾞｼｯｸE" panose="020B0900000000000000" pitchFamily="50" charset="-128"/>
              </a:rPr>
              <a:t>Q</a:t>
            </a:r>
            <a:r>
              <a:rPr lang="ja-JP" altLang="en-US" sz="3200" b="1" dirty="0">
                <a:latin typeface="HGPｺﾞｼｯｸE" panose="020B0900000000000000" pitchFamily="50" charset="-128"/>
                <a:ea typeface="HGPｺﾞｼｯｸE" panose="020B0900000000000000" pitchFamily="50" charset="-128"/>
              </a:rPr>
              <a:t>＆</a:t>
            </a:r>
            <a:r>
              <a:rPr lang="en-US" altLang="ja-JP" sz="3200" b="1" dirty="0">
                <a:latin typeface="HGPｺﾞｼｯｸE" panose="020B0900000000000000" pitchFamily="50" charset="-128"/>
                <a:ea typeface="HGPｺﾞｼｯｸE" panose="020B0900000000000000" pitchFamily="50" charset="-128"/>
              </a:rPr>
              <a:t>A</a:t>
            </a:r>
            <a:r>
              <a:rPr lang="ja-JP" altLang="en-US" sz="3200" b="1" dirty="0">
                <a:latin typeface="HGPｺﾞｼｯｸE" panose="020B0900000000000000" pitchFamily="50" charset="-128"/>
                <a:ea typeface="HGPｺﾞｼｯｸE" panose="020B0900000000000000" pitchFamily="50" charset="-128"/>
              </a:rPr>
              <a:t>・個別相談</a:t>
            </a:r>
          </a:p>
        </p:txBody>
      </p:sp>
      <p:cxnSp>
        <p:nvCxnSpPr>
          <p:cNvPr id="5" name="直線コネクタ 4">
            <a:extLst>
              <a:ext uri="{FF2B5EF4-FFF2-40B4-BE49-F238E27FC236}">
                <a16:creationId xmlns:a16="http://schemas.microsoft.com/office/drawing/2014/main" id="{A947698B-2C10-474B-AE31-32C07B297B30}"/>
              </a:ext>
            </a:extLst>
          </p:cNvPr>
          <p:cNvCxnSpPr/>
          <p:nvPr/>
        </p:nvCxnSpPr>
        <p:spPr>
          <a:xfrm>
            <a:off x="1325086" y="6420274"/>
            <a:ext cx="9678985" cy="568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6" name="グループ化 5">
            <a:extLst>
              <a:ext uri="{FF2B5EF4-FFF2-40B4-BE49-F238E27FC236}">
                <a16:creationId xmlns:a16="http://schemas.microsoft.com/office/drawing/2014/main" id="{AB2DCDCB-B91D-4441-B2F0-726B07E89054}"/>
              </a:ext>
            </a:extLst>
          </p:cNvPr>
          <p:cNvGrpSpPr/>
          <p:nvPr/>
        </p:nvGrpSpPr>
        <p:grpSpPr>
          <a:xfrm>
            <a:off x="1074420" y="963957"/>
            <a:ext cx="9929651" cy="430887"/>
            <a:chOff x="-1585" y="3722192"/>
            <a:chExt cx="9144000" cy="2713796"/>
          </a:xfrm>
        </p:grpSpPr>
        <p:sp>
          <p:nvSpPr>
            <p:cNvPr id="7" name="正方形/長方形 6">
              <a:extLst>
                <a:ext uri="{FF2B5EF4-FFF2-40B4-BE49-F238E27FC236}">
                  <a16:creationId xmlns:a16="http://schemas.microsoft.com/office/drawing/2014/main" id="{B2B96F48-D969-492A-B011-AC4C727C0DD9}"/>
                </a:ext>
              </a:extLst>
            </p:cNvPr>
            <p:cNvSpPr/>
            <p:nvPr/>
          </p:nvSpPr>
          <p:spPr>
            <a:xfrm>
              <a:off x="-1585" y="3722192"/>
              <a:ext cx="9144000" cy="271379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3200" dirty="0">
                  <a:solidFill>
                    <a:srgbClr val="002060"/>
                  </a:solidFill>
                  <a:latin typeface="HGPｺﾞｼｯｸE" panose="020B0900000000000000" pitchFamily="50" charset="-128"/>
                  <a:ea typeface="HGPｺﾞｼｯｸE" panose="020B0900000000000000" pitchFamily="50" charset="-128"/>
                </a:rPr>
                <a:t>　</a:t>
              </a:r>
              <a:endParaRPr lang="ja-JP" altLang="en-US" sz="3200" dirty="0">
                <a:latin typeface="HGPｺﾞｼｯｸE" panose="020B0900000000000000" pitchFamily="50" charset="-128"/>
                <a:ea typeface="HGPｺﾞｼｯｸE" panose="020B0900000000000000" pitchFamily="50" charset="-128"/>
              </a:endParaRPr>
            </a:p>
          </p:txBody>
        </p:sp>
        <p:cxnSp>
          <p:nvCxnSpPr>
            <p:cNvPr id="8" name="直線コネクタ 7">
              <a:extLst>
                <a:ext uri="{FF2B5EF4-FFF2-40B4-BE49-F238E27FC236}">
                  <a16:creationId xmlns:a16="http://schemas.microsoft.com/office/drawing/2014/main" id="{5883FEF7-CC28-4E9A-8EDA-34938D973E4D}"/>
                </a:ext>
              </a:extLst>
            </p:cNvPr>
            <p:cNvCxnSpPr/>
            <p:nvPr/>
          </p:nvCxnSpPr>
          <p:spPr>
            <a:xfrm>
              <a:off x="344051" y="3838994"/>
              <a:ext cx="87820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0015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CC955-4EBA-8EA9-8D40-5B40EE1BE01B}"/>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E52744AE-A6A1-68C2-06D6-EB6518471EFF}"/>
              </a:ext>
            </a:extLst>
          </p:cNvPr>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cxnSp>
        <p:nvCxnSpPr>
          <p:cNvPr id="19" name="直線コネクタ 18">
            <a:extLst>
              <a:ext uri="{FF2B5EF4-FFF2-40B4-BE49-F238E27FC236}">
                <a16:creationId xmlns:a16="http://schemas.microsoft.com/office/drawing/2014/main" id="{94E7DF16-9DF7-8A80-4171-9AF0941FC87C}"/>
              </a:ext>
            </a:extLst>
          </p:cNvPr>
          <p:cNvCxnSpPr/>
          <p:nvPr/>
        </p:nvCxnSpPr>
        <p:spPr>
          <a:xfrm>
            <a:off x="1372546" y="966684"/>
            <a:ext cx="953660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5534A6BB-9F79-01D2-3000-46DF19BA9A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cxnSp>
        <p:nvCxnSpPr>
          <p:cNvPr id="12" name="直線コネクタ 11">
            <a:extLst>
              <a:ext uri="{FF2B5EF4-FFF2-40B4-BE49-F238E27FC236}">
                <a16:creationId xmlns:a16="http://schemas.microsoft.com/office/drawing/2014/main" id="{AD8D788D-AB5D-B40A-82E6-249A4CBB8BF4}"/>
              </a:ext>
            </a:extLst>
          </p:cNvPr>
          <p:cNvCxnSpPr/>
          <p:nvPr/>
        </p:nvCxnSpPr>
        <p:spPr>
          <a:xfrm>
            <a:off x="1325086" y="6484209"/>
            <a:ext cx="9678985" cy="568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18" name="図 17">
            <a:extLst>
              <a:ext uri="{FF2B5EF4-FFF2-40B4-BE49-F238E27FC236}">
                <a16:creationId xmlns:a16="http://schemas.microsoft.com/office/drawing/2014/main" id="{F1B156A4-33D0-3D86-9C96-BEBE47DF2EE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183" t="2880" r="503" b="7608"/>
          <a:stretch/>
        </p:blipFill>
        <p:spPr>
          <a:xfrm>
            <a:off x="6252960" y="1862038"/>
            <a:ext cx="4940759" cy="33787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図 19">
            <a:extLst>
              <a:ext uri="{FF2B5EF4-FFF2-40B4-BE49-F238E27FC236}">
                <a16:creationId xmlns:a16="http://schemas.microsoft.com/office/drawing/2014/main" id="{C3E981D6-E6E5-2D5B-656F-918C253922C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40114" y="1890885"/>
            <a:ext cx="4801313" cy="33512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3" name="テキスト ボックス 22">
            <a:extLst>
              <a:ext uri="{FF2B5EF4-FFF2-40B4-BE49-F238E27FC236}">
                <a16:creationId xmlns:a16="http://schemas.microsoft.com/office/drawing/2014/main" id="{180593AF-982F-8253-EFB0-421478E183D3}"/>
              </a:ext>
            </a:extLst>
          </p:cNvPr>
          <p:cNvSpPr txBox="1"/>
          <p:nvPr/>
        </p:nvSpPr>
        <p:spPr>
          <a:xfrm>
            <a:off x="6646272" y="1070017"/>
            <a:ext cx="4288353" cy="707886"/>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4000" b="1" dirty="0">
                <a:latin typeface="+mn-ea"/>
              </a:rPr>
              <a:t>クリエイター学科</a:t>
            </a:r>
          </a:p>
        </p:txBody>
      </p:sp>
      <p:sp>
        <p:nvSpPr>
          <p:cNvPr id="24" name="テキスト ボックス 23">
            <a:extLst>
              <a:ext uri="{FF2B5EF4-FFF2-40B4-BE49-F238E27FC236}">
                <a16:creationId xmlns:a16="http://schemas.microsoft.com/office/drawing/2014/main" id="{D066A245-046C-D1ED-6A9C-49DFD3C76D66}"/>
              </a:ext>
            </a:extLst>
          </p:cNvPr>
          <p:cNvSpPr txBox="1"/>
          <p:nvPr/>
        </p:nvSpPr>
        <p:spPr>
          <a:xfrm>
            <a:off x="2283296" y="1094845"/>
            <a:ext cx="2730831" cy="707886"/>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4000" b="1" dirty="0">
                <a:latin typeface="+mn-ea"/>
              </a:rPr>
              <a:t>情報</a:t>
            </a:r>
            <a:r>
              <a:rPr kumimoji="1" lang="en-US" altLang="ja-JP" sz="4000" b="1" dirty="0">
                <a:latin typeface="+mn-ea"/>
              </a:rPr>
              <a:t>IT</a:t>
            </a:r>
            <a:r>
              <a:rPr kumimoji="1" lang="ja-JP" altLang="en-US" sz="4000" b="1" dirty="0">
                <a:latin typeface="+mn-ea"/>
              </a:rPr>
              <a:t>学科</a:t>
            </a:r>
          </a:p>
        </p:txBody>
      </p:sp>
      <p:sp>
        <p:nvSpPr>
          <p:cNvPr id="25" name="テキスト ボックス 24">
            <a:extLst>
              <a:ext uri="{FF2B5EF4-FFF2-40B4-BE49-F238E27FC236}">
                <a16:creationId xmlns:a16="http://schemas.microsoft.com/office/drawing/2014/main" id="{0E64BB34-0480-0D3C-EF45-6455BADDAE00}"/>
              </a:ext>
            </a:extLst>
          </p:cNvPr>
          <p:cNvSpPr txBox="1"/>
          <p:nvPr/>
        </p:nvSpPr>
        <p:spPr>
          <a:xfrm>
            <a:off x="2340493" y="5324883"/>
            <a:ext cx="7511012" cy="1107996"/>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dist"/>
            <a:r>
              <a:rPr kumimoji="1" lang="ja-JP" altLang="en-US" sz="66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HGP創英角ｺﾞｼｯｸUB" panose="020B0900000000000000" pitchFamily="50" charset="-128"/>
                <a:ea typeface="HGP創英角ｺﾞｼｯｸUB" panose="020B0900000000000000" pitchFamily="50" charset="-128"/>
              </a:rPr>
              <a:t>どちらかを学ぶ学校</a:t>
            </a:r>
          </a:p>
        </p:txBody>
      </p:sp>
      <p:sp>
        <p:nvSpPr>
          <p:cNvPr id="28" name="テキスト ボックス 27">
            <a:extLst>
              <a:ext uri="{FF2B5EF4-FFF2-40B4-BE49-F238E27FC236}">
                <a16:creationId xmlns:a16="http://schemas.microsoft.com/office/drawing/2014/main" id="{5B87730E-2C99-1E25-1AEF-0BE73AE3A144}"/>
              </a:ext>
            </a:extLst>
          </p:cNvPr>
          <p:cNvSpPr txBox="1"/>
          <p:nvPr/>
        </p:nvSpPr>
        <p:spPr>
          <a:xfrm>
            <a:off x="664021" y="136423"/>
            <a:ext cx="5118712"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学校概要</a:t>
            </a:r>
          </a:p>
        </p:txBody>
      </p:sp>
    </p:spTree>
    <p:extLst>
      <p:ext uri="{BB962C8B-B14F-4D97-AF65-F5344CB8AC3E}">
        <p14:creationId xmlns:p14="http://schemas.microsoft.com/office/powerpoint/2010/main" val="217260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2C957290-460C-43E8-8198-819489A24E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87699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11" name="テキスト ボックス 10"/>
          <p:cNvSpPr txBox="1"/>
          <p:nvPr/>
        </p:nvSpPr>
        <p:spPr>
          <a:xfrm>
            <a:off x="664021" y="136423"/>
            <a:ext cx="5118712"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コース紹介</a:t>
            </a:r>
            <a:r>
              <a:rPr lang="en-US" altLang="ja-JP" sz="2400" dirty="0">
                <a:solidFill>
                  <a:schemeClr val="bg1"/>
                </a:solidFill>
                <a:latin typeface="HGPｺﾞｼｯｸE" panose="020B0900000000000000" pitchFamily="50" charset="-128"/>
                <a:ea typeface="HGPｺﾞｼｯｸE" panose="020B0900000000000000" pitchFamily="50" charset="-128"/>
              </a:rPr>
              <a:t>(</a:t>
            </a:r>
            <a:r>
              <a:rPr lang="ja-JP" altLang="en-US" sz="2400" dirty="0">
                <a:solidFill>
                  <a:schemeClr val="bg1"/>
                </a:solidFill>
                <a:latin typeface="HGPｺﾞｼｯｸE" panose="020B0900000000000000" pitchFamily="50" charset="-128"/>
                <a:ea typeface="HGPｺﾞｼｯｸE" panose="020B0900000000000000" pitchFamily="50" charset="-128"/>
              </a:rPr>
              <a:t>情報</a:t>
            </a:r>
            <a:r>
              <a:rPr lang="en-US" altLang="ja-JP" sz="2400" dirty="0">
                <a:solidFill>
                  <a:schemeClr val="bg1"/>
                </a:solidFill>
                <a:latin typeface="HGPｺﾞｼｯｸE" panose="020B0900000000000000" pitchFamily="50" charset="-128"/>
                <a:ea typeface="HGPｺﾞｼｯｸE" panose="020B0900000000000000" pitchFamily="50" charset="-128"/>
              </a:rPr>
              <a:t>IT</a:t>
            </a:r>
            <a:r>
              <a:rPr lang="ja-JP" altLang="en-US" sz="2400" dirty="0">
                <a:solidFill>
                  <a:schemeClr val="bg1"/>
                </a:solidFill>
                <a:latin typeface="HGPｺﾞｼｯｸE" panose="020B0900000000000000" pitchFamily="50" charset="-128"/>
                <a:ea typeface="HGPｺﾞｼｯｸE" panose="020B0900000000000000" pitchFamily="50" charset="-128"/>
              </a:rPr>
              <a:t>学科</a:t>
            </a:r>
            <a:r>
              <a:rPr lang="en-US" altLang="ja-JP" sz="2400" dirty="0">
                <a:solidFill>
                  <a:schemeClr val="bg1"/>
                </a:solidFill>
                <a:latin typeface="HGPｺﾞｼｯｸE" panose="020B0900000000000000" pitchFamily="50" charset="-128"/>
                <a:ea typeface="HGPｺﾞｼｯｸE" panose="020B0900000000000000" pitchFamily="50" charset="-128"/>
              </a:rPr>
              <a:t>)</a:t>
            </a:r>
            <a:endParaRPr lang="ja-JP" altLang="en-US" sz="2400" dirty="0">
              <a:solidFill>
                <a:schemeClr val="bg1"/>
              </a:solidFill>
              <a:latin typeface="HGPｺﾞｼｯｸE" panose="020B0900000000000000" pitchFamily="50" charset="-128"/>
              <a:ea typeface="HGPｺﾞｼｯｸE" panose="020B0900000000000000" pitchFamily="50" charset="-128"/>
            </a:endParaRPr>
          </a:p>
        </p:txBody>
      </p:sp>
      <p:sp>
        <p:nvSpPr>
          <p:cNvPr id="13" name="正方形/長方形 12"/>
          <p:cNvSpPr/>
          <p:nvPr/>
        </p:nvSpPr>
        <p:spPr>
          <a:xfrm>
            <a:off x="8166004" y="3340833"/>
            <a:ext cx="3147917" cy="2579533"/>
          </a:xfrm>
          <a:prstGeom prst="rect">
            <a:avLst/>
          </a:prstGeom>
          <a:solidFill>
            <a:srgbClr val="FFFFFF"/>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　</a:t>
            </a:r>
            <a:r>
              <a:rPr lang="en-US" altLang="ja-JP" sz="2400" dirty="0">
                <a:solidFill>
                  <a:sysClr val="windowText" lastClr="000000"/>
                </a:solidFill>
                <a:latin typeface="HGPｺﾞｼｯｸE" panose="020B0900000000000000" pitchFamily="50" charset="-128"/>
                <a:ea typeface="HGPｺﾞｼｯｸE" panose="020B0900000000000000" pitchFamily="50" charset="-128"/>
              </a:rPr>
              <a:t>【</a:t>
            </a:r>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エクステンション</a:t>
            </a:r>
            <a:r>
              <a:rPr lang="en-US" altLang="ja-JP" sz="2400" dirty="0">
                <a:solidFill>
                  <a:sysClr val="windowText" lastClr="000000"/>
                </a:solidFill>
                <a:latin typeface="HGPｺﾞｼｯｸE" panose="020B0900000000000000" pitchFamily="50" charset="-128"/>
                <a:ea typeface="HGPｺﾞｼｯｸE" panose="020B0900000000000000" pitchFamily="50" charset="-128"/>
              </a:rPr>
              <a:t>】</a:t>
            </a:r>
          </a:p>
          <a:p>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　 ・資格取得</a:t>
            </a:r>
            <a:endParaRPr lang="en-US" altLang="ja-JP" sz="2400" dirty="0">
              <a:solidFill>
                <a:sysClr val="windowText" lastClr="000000"/>
              </a:solidFill>
              <a:latin typeface="HGPｺﾞｼｯｸE" panose="020B0900000000000000" pitchFamily="50" charset="-128"/>
              <a:ea typeface="HGPｺﾞｼｯｸE" panose="020B0900000000000000" pitchFamily="50" charset="-128"/>
            </a:endParaRPr>
          </a:p>
          <a:p>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　 ・プログラミング部</a:t>
            </a:r>
            <a:endParaRPr lang="en-US" altLang="ja-JP" sz="2400" dirty="0">
              <a:solidFill>
                <a:sysClr val="windowText" lastClr="000000"/>
              </a:solidFill>
              <a:latin typeface="HGPｺﾞｼｯｸE" panose="020B0900000000000000" pitchFamily="50" charset="-128"/>
              <a:ea typeface="HGPｺﾞｼｯｸE" panose="020B0900000000000000" pitchFamily="50" charset="-128"/>
            </a:endParaRPr>
          </a:p>
          <a:p>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　 ・ゲーム開発部</a:t>
            </a:r>
            <a:endParaRPr lang="en-US" altLang="ja-JP" sz="2400" dirty="0">
              <a:solidFill>
                <a:sysClr val="windowText" lastClr="000000"/>
              </a:solidFill>
              <a:latin typeface="HGPｺﾞｼｯｸE" panose="020B0900000000000000" pitchFamily="50" charset="-128"/>
              <a:ea typeface="HGPｺﾞｼｯｸE" panose="020B0900000000000000" pitchFamily="50" charset="-128"/>
            </a:endParaRPr>
          </a:p>
          <a:p>
            <a:r>
              <a:rPr lang="en-US" altLang="ja-JP" dirty="0">
                <a:solidFill>
                  <a:sysClr val="windowText" lastClr="000000"/>
                </a:solidFill>
                <a:latin typeface="HGPｺﾞｼｯｸE" panose="020B0900000000000000" pitchFamily="50" charset="-128"/>
                <a:ea typeface="HGPｺﾞｼｯｸE" panose="020B0900000000000000" pitchFamily="50" charset="-128"/>
              </a:rPr>
              <a:t>					</a:t>
            </a:r>
            <a:r>
              <a:rPr lang="ja-JP" altLang="en-US" dirty="0">
                <a:solidFill>
                  <a:sysClr val="windowText" lastClr="000000"/>
                </a:solidFill>
                <a:latin typeface="HGPｺﾞｼｯｸE" panose="020B0900000000000000" pitchFamily="50" charset="-128"/>
                <a:ea typeface="HGPｺﾞｼｯｸE" panose="020B0900000000000000" pitchFamily="50" charset="-128"/>
              </a:rPr>
              <a:t>　  等</a:t>
            </a:r>
          </a:p>
        </p:txBody>
      </p:sp>
      <p:sp>
        <p:nvSpPr>
          <p:cNvPr id="32" name="フローチャート: 代替処理 31"/>
          <p:cNvSpPr/>
          <p:nvPr/>
        </p:nvSpPr>
        <p:spPr>
          <a:xfrm>
            <a:off x="524933" y="747896"/>
            <a:ext cx="11074400" cy="1800000"/>
          </a:xfrm>
          <a:prstGeom prst="flowChartAlternateProcess">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HGPｺﾞｼｯｸE" panose="020B0900000000000000" pitchFamily="50" charset="-128"/>
              <a:ea typeface="HGPｺﾞｼｯｸE" panose="020B0900000000000000" pitchFamily="50" charset="-128"/>
            </a:endParaRPr>
          </a:p>
        </p:txBody>
      </p:sp>
      <p:sp>
        <p:nvSpPr>
          <p:cNvPr id="33" name="テキスト ボックス 32"/>
          <p:cNvSpPr txBox="1"/>
          <p:nvPr/>
        </p:nvSpPr>
        <p:spPr>
          <a:xfrm>
            <a:off x="780470" y="1263935"/>
            <a:ext cx="10683398" cy="1200329"/>
          </a:xfrm>
          <a:prstGeom prst="rect">
            <a:avLst/>
          </a:prstGeom>
          <a:noFill/>
        </p:spPr>
        <p:txBody>
          <a:bodyPr wrap="square" rtlCol="0">
            <a:spAutoFit/>
          </a:bodyPr>
          <a:lstStyle/>
          <a:p>
            <a:r>
              <a:rPr lang="ja-JP" altLang="en-US" sz="2400" dirty="0">
                <a:latin typeface="HGPｺﾞｼｯｸE" panose="020B0900000000000000" pitchFamily="50" charset="-128"/>
                <a:ea typeface="HGPｺﾞｼｯｸE" panose="020B0900000000000000" pitchFamily="50" charset="-128"/>
              </a:rPr>
              <a:t>①カリキュラムの</a:t>
            </a:r>
            <a:r>
              <a:rPr lang="en-US" altLang="ja-JP" sz="2400" dirty="0">
                <a:latin typeface="HGPｺﾞｼｯｸE" panose="020B0900000000000000" pitchFamily="50" charset="-128"/>
                <a:ea typeface="HGPｺﾞｼｯｸE" panose="020B0900000000000000" pitchFamily="50" charset="-128"/>
              </a:rPr>
              <a:t>90</a:t>
            </a:r>
            <a:r>
              <a:rPr lang="ja-JP" altLang="en-US" sz="2400" dirty="0">
                <a:latin typeface="HGPｺﾞｼｯｸE" panose="020B0900000000000000" pitchFamily="50" charset="-128"/>
                <a:ea typeface="HGPｺﾞｼｯｸE" panose="020B0900000000000000" pitchFamily="50" charset="-128"/>
              </a:rPr>
              <a:t>％以上が実習、圧倒的な実習量で専門的なスキルが身につく</a:t>
            </a:r>
          </a:p>
          <a:p>
            <a:r>
              <a:rPr lang="ja-JP" altLang="en-US" sz="2400" dirty="0">
                <a:latin typeface="HGPｺﾞｼｯｸE" panose="020B0900000000000000" pitchFamily="50" charset="-128"/>
                <a:ea typeface="HGPｺﾞｼｯｸE" panose="020B0900000000000000" pitchFamily="50" charset="-128"/>
              </a:rPr>
              <a:t>②現場で使える技術を自然と身に付けることができるカリキュラム編成</a:t>
            </a:r>
          </a:p>
          <a:p>
            <a:r>
              <a:rPr lang="ja-JP" altLang="en-US" sz="2400" dirty="0">
                <a:latin typeface="HGPｺﾞｼｯｸE" panose="020B0900000000000000" pitchFamily="50" charset="-128"/>
                <a:ea typeface="HGPｺﾞｼｯｸE" panose="020B0900000000000000" pitchFamily="50" charset="-128"/>
              </a:rPr>
              <a:t>③チーム制作を経験し業界での即戦力を目指す</a:t>
            </a:r>
          </a:p>
        </p:txBody>
      </p:sp>
      <p:sp>
        <p:nvSpPr>
          <p:cNvPr id="29" name="テキスト ボックス 28"/>
          <p:cNvSpPr txBox="1"/>
          <p:nvPr/>
        </p:nvSpPr>
        <p:spPr>
          <a:xfrm>
            <a:off x="780470" y="792021"/>
            <a:ext cx="6417584" cy="523220"/>
          </a:xfrm>
          <a:prstGeom prst="rect">
            <a:avLst/>
          </a:prstGeom>
          <a:noFill/>
        </p:spPr>
        <p:txBody>
          <a:bodyPr wrap="square" rtlCol="0">
            <a:spAutoFit/>
          </a:bodyPr>
          <a:lstStyle/>
          <a:p>
            <a:r>
              <a:rPr lang="ja-JP" altLang="en-US" sz="2800" b="1" dirty="0">
                <a:solidFill>
                  <a:srgbClr val="FF9900"/>
                </a:solidFill>
                <a:latin typeface="HGPｺﾞｼｯｸE" panose="020B0900000000000000" pitchFamily="50" charset="-128"/>
                <a:ea typeface="HGPｺﾞｼｯｸE" panose="020B0900000000000000" pitchFamily="50" charset="-128"/>
              </a:rPr>
              <a:t>実践力・スキルが身につくカリキュラム</a:t>
            </a:r>
          </a:p>
        </p:txBody>
      </p:sp>
      <p:pic>
        <p:nvPicPr>
          <p:cNvPr id="2" name="図 1"/>
          <p:cNvPicPr>
            <a:picLocks noChangeAspect="1"/>
          </p:cNvPicPr>
          <p:nvPr/>
        </p:nvPicPr>
        <p:blipFill>
          <a:blip r:embed="rId5"/>
          <a:stretch>
            <a:fillRect/>
          </a:stretch>
        </p:blipFill>
        <p:spPr>
          <a:xfrm>
            <a:off x="1239093" y="2647210"/>
            <a:ext cx="2787217" cy="4090117"/>
          </a:xfrm>
          <a:prstGeom prst="rect">
            <a:avLst/>
          </a:prstGeom>
        </p:spPr>
      </p:pic>
      <p:grpSp>
        <p:nvGrpSpPr>
          <p:cNvPr id="34" name="グループ化 33"/>
          <p:cNvGrpSpPr/>
          <p:nvPr/>
        </p:nvGrpSpPr>
        <p:grpSpPr>
          <a:xfrm>
            <a:off x="4468990" y="2662061"/>
            <a:ext cx="2849613" cy="4046048"/>
            <a:chOff x="323850" y="1298742"/>
            <a:chExt cx="4343251" cy="3529290"/>
          </a:xfrm>
        </p:grpSpPr>
        <p:sp>
          <p:nvSpPr>
            <p:cNvPr id="35" name="正方形/長方形 34"/>
            <p:cNvSpPr/>
            <p:nvPr/>
          </p:nvSpPr>
          <p:spPr>
            <a:xfrm>
              <a:off x="323850" y="1298742"/>
              <a:ext cx="4248150" cy="3529290"/>
            </a:xfrm>
            <a:prstGeom prst="rect">
              <a:avLst/>
            </a:prstGeom>
            <a:solidFill>
              <a:srgbClr val="FFFFFF"/>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solidFill>
                <a:latin typeface="HGPｺﾞｼｯｸE" panose="020B0900000000000000" pitchFamily="50" charset="-128"/>
                <a:ea typeface="HGPｺﾞｼｯｸE" panose="020B0900000000000000" pitchFamily="50" charset="-128"/>
              </a:endParaRPr>
            </a:p>
          </p:txBody>
        </p:sp>
        <p:sp>
          <p:nvSpPr>
            <p:cNvPr id="36" name="正方形/長方形 35"/>
            <p:cNvSpPr/>
            <p:nvPr/>
          </p:nvSpPr>
          <p:spPr>
            <a:xfrm>
              <a:off x="323850" y="1298742"/>
              <a:ext cx="4248150" cy="456906"/>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ja-JP" sz="2000" dirty="0">
                  <a:latin typeface="Dotum" panose="020B0503020000020004" pitchFamily="34" charset="-127"/>
                  <a:ea typeface="Dotum" panose="020B0503020000020004" pitchFamily="34" charset="-127"/>
                </a:rPr>
                <a:t>2</a:t>
              </a:r>
              <a:r>
                <a:rPr lang="ja-JP" altLang="en-US" sz="2000" dirty="0">
                  <a:latin typeface="Dotum" panose="020B0503020000020004" pitchFamily="34" charset="-127"/>
                  <a:ea typeface="Dotum" panose="020B0503020000020004" pitchFamily="34" charset="-127"/>
                </a:rPr>
                <a:t>年制</a:t>
              </a:r>
            </a:p>
          </p:txBody>
        </p:sp>
        <p:sp>
          <p:nvSpPr>
            <p:cNvPr id="37" name="テキスト ボックス 36"/>
            <p:cNvSpPr txBox="1"/>
            <p:nvPr/>
          </p:nvSpPr>
          <p:spPr>
            <a:xfrm>
              <a:off x="1332651" y="1772449"/>
              <a:ext cx="3334450" cy="295314"/>
            </a:xfrm>
            <a:prstGeom prst="rect">
              <a:avLst/>
            </a:prstGeom>
            <a:noFill/>
          </p:spPr>
          <p:txBody>
            <a:bodyPr wrap="square" rtlCol="0">
              <a:spAutoFit/>
            </a:bodyPr>
            <a:lstStyle/>
            <a:p>
              <a:r>
                <a:rPr lang="en-US" altLang="ja-JP" sz="1600" dirty="0">
                  <a:latin typeface="HGPｺﾞｼｯｸE" panose="020B0900000000000000" pitchFamily="50" charset="-128"/>
                  <a:ea typeface="HGPｺﾞｼｯｸE" panose="020B0900000000000000" pitchFamily="50" charset="-128"/>
                </a:rPr>
                <a:t>IT</a:t>
              </a:r>
              <a:r>
                <a:rPr lang="ja-JP" altLang="en-US" sz="1600" dirty="0">
                  <a:latin typeface="HGPｺﾞｼｯｸE" panose="020B0900000000000000" pitchFamily="50" charset="-128"/>
                  <a:ea typeface="HGPｺﾞｼｯｸE" panose="020B0900000000000000" pitchFamily="50" charset="-128"/>
                </a:rPr>
                <a:t>スペシャリスト</a:t>
              </a:r>
            </a:p>
          </p:txBody>
        </p:sp>
      </p:grpSp>
      <p:sp>
        <p:nvSpPr>
          <p:cNvPr id="38" name="正方形/長方形 37"/>
          <p:cNvSpPr/>
          <p:nvPr/>
        </p:nvSpPr>
        <p:spPr>
          <a:xfrm>
            <a:off x="4753121" y="5838014"/>
            <a:ext cx="2218954" cy="737420"/>
          </a:xfrm>
          <a:prstGeom prst="rect">
            <a:avLst/>
          </a:prstGeom>
          <a:solidFill>
            <a:srgbClr val="FFFFFF"/>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ysClr val="windowText" lastClr="000000"/>
                </a:solidFill>
                <a:latin typeface="HGPｺﾞｼｯｸE" panose="020B0900000000000000" pitchFamily="50" charset="-128"/>
                <a:ea typeface="HGPｺﾞｼｯｸE" panose="020B0900000000000000" pitchFamily="50" charset="-128"/>
              </a:rPr>
              <a:t>入学定員</a:t>
            </a:r>
            <a:r>
              <a:rPr lang="en-US" altLang="ja-JP" dirty="0">
                <a:solidFill>
                  <a:sysClr val="windowText" lastClr="000000"/>
                </a:solidFill>
                <a:latin typeface="HGPｺﾞｼｯｸE" panose="020B0900000000000000" pitchFamily="50" charset="-128"/>
                <a:ea typeface="HGPｺﾞｼｯｸE" panose="020B0900000000000000" pitchFamily="50" charset="-128"/>
              </a:rPr>
              <a:t>35</a:t>
            </a:r>
            <a:r>
              <a:rPr lang="ja-JP" altLang="en-US" dirty="0">
                <a:solidFill>
                  <a:sysClr val="windowText" lastClr="000000"/>
                </a:solidFill>
                <a:latin typeface="HGPｺﾞｼｯｸE" panose="020B0900000000000000" pitchFamily="50" charset="-128"/>
                <a:ea typeface="HGPｺﾞｼｯｸE" panose="020B0900000000000000" pitchFamily="50" charset="-128"/>
              </a:rPr>
              <a:t>名</a:t>
            </a:r>
          </a:p>
        </p:txBody>
      </p:sp>
      <p:grpSp>
        <p:nvGrpSpPr>
          <p:cNvPr id="39" name="グループ化 38"/>
          <p:cNvGrpSpPr/>
          <p:nvPr/>
        </p:nvGrpSpPr>
        <p:grpSpPr>
          <a:xfrm>
            <a:off x="4679081" y="3590156"/>
            <a:ext cx="2490199" cy="2161716"/>
            <a:chOff x="4235175" y="1831886"/>
            <a:chExt cx="3800031" cy="3298769"/>
          </a:xfrm>
        </p:grpSpPr>
        <p:sp>
          <p:nvSpPr>
            <p:cNvPr id="40" name="正方形/長方形 39"/>
            <p:cNvSpPr/>
            <p:nvPr/>
          </p:nvSpPr>
          <p:spPr>
            <a:xfrm>
              <a:off x="4235175" y="1838279"/>
              <a:ext cx="3687006" cy="32923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HGPｺﾞｼｯｸE" panose="020B0900000000000000" pitchFamily="50" charset="-128"/>
                <a:ea typeface="HGPｺﾞｼｯｸE" panose="020B0900000000000000" pitchFamily="50" charset="-128"/>
              </a:endParaRPr>
            </a:p>
          </p:txBody>
        </p:sp>
        <p:sp>
          <p:nvSpPr>
            <p:cNvPr id="41" name="テキスト ボックス 40"/>
            <p:cNvSpPr txBox="1"/>
            <p:nvPr/>
          </p:nvSpPr>
          <p:spPr>
            <a:xfrm>
              <a:off x="5029791" y="4371034"/>
              <a:ext cx="2399785" cy="518808"/>
            </a:xfrm>
            <a:prstGeom prst="rect">
              <a:avLst/>
            </a:prstGeom>
            <a:noFill/>
          </p:spPr>
          <p:txBody>
            <a:bodyPr wrap="square" rtlCol="0">
              <a:spAutoFit/>
            </a:bodyPr>
            <a:lstStyle/>
            <a:p>
              <a:r>
                <a:rPr lang="ja-JP" altLang="en-US" sz="1600" dirty="0">
                  <a:solidFill>
                    <a:schemeClr val="bg1"/>
                  </a:solidFill>
                  <a:latin typeface="HGPｺﾞｼｯｸE" panose="020B0900000000000000" pitchFamily="50" charset="-128"/>
                  <a:ea typeface="HGPｺﾞｼｯｸE" panose="020B0900000000000000" pitchFamily="50" charset="-128"/>
                </a:rPr>
                <a:t>システム開発</a:t>
              </a:r>
            </a:p>
          </p:txBody>
        </p:sp>
        <p:pic>
          <p:nvPicPr>
            <p:cNvPr id="42" name="図 4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69540" y="1980118"/>
              <a:ext cx="3418276" cy="2280845"/>
            </a:xfrm>
            <a:prstGeom prst="rect">
              <a:avLst/>
            </a:prstGeom>
          </p:spPr>
        </p:pic>
        <p:sp>
          <p:nvSpPr>
            <p:cNvPr id="43" name="斜め縞 42"/>
            <p:cNvSpPr/>
            <p:nvPr/>
          </p:nvSpPr>
          <p:spPr>
            <a:xfrm rot="5400000">
              <a:off x="6532905" y="1740490"/>
              <a:ext cx="1310852" cy="1493644"/>
            </a:xfrm>
            <a:prstGeom prst="diagStripe">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solidFill>
                <a:latin typeface="HGPｺﾞｼｯｸE" panose="020B0900000000000000" pitchFamily="50" charset="-128"/>
                <a:ea typeface="HGPｺﾞｼｯｸE" panose="020B0900000000000000" pitchFamily="50" charset="-128"/>
              </a:endParaRPr>
            </a:p>
          </p:txBody>
        </p:sp>
        <p:sp>
          <p:nvSpPr>
            <p:cNvPr id="44" name="正方形/長方形 43"/>
            <p:cNvSpPr/>
            <p:nvPr/>
          </p:nvSpPr>
          <p:spPr>
            <a:xfrm rot="2445475">
              <a:off x="6711437" y="2224746"/>
              <a:ext cx="1323769" cy="3764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bg1"/>
                  </a:solidFill>
                  <a:latin typeface="HGPｺﾞｼｯｸE" panose="020B0900000000000000" pitchFamily="50" charset="-128"/>
                  <a:ea typeface="HGPｺﾞｼｯｸE" panose="020B0900000000000000" pitchFamily="50" charset="-128"/>
                </a:rPr>
                <a:t>2</a:t>
              </a:r>
              <a:r>
                <a:rPr lang="ja-JP" altLang="en-US" dirty="0">
                  <a:solidFill>
                    <a:schemeClr val="bg1"/>
                  </a:solidFill>
                  <a:latin typeface="HGPｺﾞｼｯｸE" panose="020B0900000000000000" pitchFamily="50" charset="-128"/>
                  <a:ea typeface="HGPｺﾞｼｯｸE" panose="020B0900000000000000" pitchFamily="50" charset="-128"/>
                </a:rPr>
                <a:t>年制</a:t>
              </a:r>
            </a:p>
          </p:txBody>
        </p:sp>
      </p:grpSp>
    </p:spTree>
    <p:extLst>
      <p:ext uri="{BB962C8B-B14F-4D97-AF65-F5344CB8AC3E}">
        <p14:creationId xmlns:p14="http://schemas.microsoft.com/office/powerpoint/2010/main" val="3403140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graphicFrame>
        <p:nvGraphicFramePr>
          <p:cNvPr id="4" name="グラフ 3"/>
          <p:cNvGraphicFramePr/>
          <p:nvPr/>
        </p:nvGraphicFramePr>
        <p:xfrm>
          <a:off x="480768" y="2449471"/>
          <a:ext cx="4426526" cy="4129388"/>
        </p:xfrm>
        <a:graphic>
          <a:graphicData uri="http://schemas.openxmlformats.org/drawingml/2006/chart">
            <c:chart xmlns:c="http://schemas.openxmlformats.org/drawingml/2006/chart" xmlns:r="http://schemas.openxmlformats.org/officeDocument/2006/relationships" r:id="rId4"/>
          </a:graphicData>
        </a:graphic>
      </p:graphicFrame>
      <p:pic>
        <p:nvPicPr>
          <p:cNvPr id="10" name="図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5" name="正方形/長方形 4"/>
          <p:cNvSpPr/>
          <p:nvPr/>
        </p:nvSpPr>
        <p:spPr>
          <a:xfrm>
            <a:off x="1524000" y="794517"/>
            <a:ext cx="9144000" cy="7877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ja-JP" altLang="en-US" sz="2800" b="1" dirty="0">
                <a:solidFill>
                  <a:prstClr val="black"/>
                </a:solidFill>
                <a:latin typeface="HGPｺﾞｼｯｸE" panose="020B0900000000000000" pitchFamily="50" charset="-128"/>
                <a:ea typeface="HGPｺﾞｼｯｸE" panose="020B0900000000000000" pitchFamily="50" charset="-128"/>
              </a:rPr>
              <a:t>実践的カリキュラム</a:t>
            </a:r>
            <a:r>
              <a:rPr lang="en-US" altLang="ja-JP" sz="2800" b="1" dirty="0">
                <a:solidFill>
                  <a:prstClr val="black"/>
                </a:solidFill>
                <a:latin typeface="HGPｺﾞｼｯｸE" panose="020B0900000000000000" pitchFamily="50" charset="-128"/>
                <a:ea typeface="HGPｺﾞｼｯｸE" panose="020B0900000000000000" pitchFamily="50" charset="-128"/>
              </a:rPr>
              <a:t>[</a:t>
            </a:r>
            <a:r>
              <a:rPr lang="ja-JP" altLang="en-US" sz="2800" b="1" dirty="0">
                <a:solidFill>
                  <a:prstClr val="black"/>
                </a:solidFill>
                <a:latin typeface="HGPｺﾞｼｯｸE" panose="020B0900000000000000" pitchFamily="50" charset="-128"/>
                <a:ea typeface="HGPｺﾞｼｯｸE" panose="020B0900000000000000" pitchFamily="50" charset="-128"/>
              </a:rPr>
              <a:t>情報</a:t>
            </a:r>
            <a:r>
              <a:rPr lang="en-US" altLang="ja-JP" sz="2800" b="1" dirty="0">
                <a:solidFill>
                  <a:prstClr val="black"/>
                </a:solidFill>
                <a:latin typeface="HGPｺﾞｼｯｸE" panose="020B0900000000000000" pitchFamily="50" charset="-128"/>
                <a:ea typeface="HGPｺﾞｼｯｸE" panose="020B0900000000000000" pitchFamily="50" charset="-128"/>
              </a:rPr>
              <a:t>IT</a:t>
            </a:r>
            <a:r>
              <a:rPr lang="ja-JP" altLang="en-US" sz="2800" b="1" dirty="0">
                <a:solidFill>
                  <a:prstClr val="black"/>
                </a:solidFill>
                <a:latin typeface="HGPｺﾞｼｯｸE" panose="020B0900000000000000" pitchFamily="50" charset="-128"/>
                <a:ea typeface="HGPｺﾞｼｯｸE" panose="020B0900000000000000" pitchFamily="50" charset="-128"/>
              </a:rPr>
              <a:t>学科</a:t>
            </a:r>
            <a:r>
              <a:rPr lang="en-US" altLang="ja-JP" sz="2800" b="1" dirty="0">
                <a:solidFill>
                  <a:prstClr val="black"/>
                </a:solidFill>
                <a:latin typeface="HGPｺﾞｼｯｸE" panose="020B0900000000000000" pitchFamily="50" charset="-128"/>
                <a:ea typeface="HGPｺﾞｼｯｸE" panose="020B0900000000000000" pitchFamily="50" charset="-128"/>
              </a:rPr>
              <a:t>]</a:t>
            </a:r>
            <a:endParaRPr lang="ja-JP" altLang="en-US" sz="2800" b="1" dirty="0">
              <a:solidFill>
                <a:prstClr val="black"/>
              </a:solidFill>
              <a:latin typeface="HGPｺﾞｼｯｸE" panose="020B0900000000000000" pitchFamily="50" charset="-128"/>
              <a:ea typeface="HGPｺﾞｼｯｸE" panose="020B0900000000000000" pitchFamily="50" charset="-128"/>
            </a:endParaRPr>
          </a:p>
        </p:txBody>
      </p:sp>
      <p:sp>
        <p:nvSpPr>
          <p:cNvPr id="13" name="テキスト ボックス 12"/>
          <p:cNvSpPr txBox="1"/>
          <p:nvPr/>
        </p:nvSpPr>
        <p:spPr>
          <a:xfrm>
            <a:off x="1798928" y="5072906"/>
            <a:ext cx="1995773" cy="461665"/>
          </a:xfrm>
          <a:prstGeom prst="rect">
            <a:avLst/>
          </a:prstGeom>
          <a:noFill/>
        </p:spPr>
        <p:txBody>
          <a:bodyPr wrap="square" rtlCol="0">
            <a:spAutoFit/>
          </a:bodyPr>
          <a:lstStyle/>
          <a:p>
            <a:pPr algn="ctr"/>
            <a:r>
              <a:rPr lang="ja-JP" altLang="en-US" sz="2400" b="1" dirty="0">
                <a:latin typeface="HGPｺﾞｼｯｸE" panose="020B0900000000000000" pitchFamily="50" charset="-128"/>
                <a:ea typeface="HGPｺﾞｼｯｸE" panose="020B0900000000000000" pitchFamily="50" charset="-128"/>
              </a:rPr>
              <a:t>実習</a:t>
            </a:r>
            <a:r>
              <a:rPr lang="en-US" altLang="ja-JP" sz="2400" b="1" dirty="0">
                <a:latin typeface="HGPｺﾞｼｯｸE" panose="020B0900000000000000" pitchFamily="50" charset="-128"/>
                <a:ea typeface="HGPｺﾞｼｯｸE" panose="020B0900000000000000" pitchFamily="50" charset="-128"/>
              </a:rPr>
              <a:t>80</a:t>
            </a:r>
            <a:r>
              <a:rPr lang="ja-JP" altLang="en-US" sz="2400" b="1" dirty="0">
                <a:latin typeface="HGPｺﾞｼｯｸE" panose="020B0900000000000000" pitchFamily="50" charset="-128"/>
                <a:ea typeface="HGPｺﾞｼｯｸE" panose="020B0900000000000000" pitchFamily="50" charset="-128"/>
              </a:rPr>
              <a:t>％</a:t>
            </a:r>
          </a:p>
        </p:txBody>
      </p:sp>
      <p:sp>
        <p:nvSpPr>
          <p:cNvPr id="15" name="テキスト ボックス 14"/>
          <p:cNvSpPr txBox="1"/>
          <p:nvPr/>
        </p:nvSpPr>
        <p:spPr>
          <a:xfrm>
            <a:off x="2796815" y="3068682"/>
            <a:ext cx="2430648" cy="830997"/>
          </a:xfrm>
          <a:prstGeom prst="rect">
            <a:avLst/>
          </a:prstGeom>
          <a:noFill/>
        </p:spPr>
        <p:txBody>
          <a:bodyPr wrap="square" rtlCol="0">
            <a:spAutoFit/>
          </a:bodyPr>
          <a:lstStyle/>
          <a:p>
            <a:r>
              <a:rPr lang="ja-JP" altLang="en-US" sz="2400" b="1" dirty="0">
                <a:latin typeface="HGPｺﾞｼｯｸE" panose="020B0900000000000000" pitchFamily="50" charset="-128"/>
                <a:ea typeface="HGPｺﾞｼｯｸE" panose="020B0900000000000000" pitchFamily="50" charset="-128"/>
              </a:rPr>
              <a:t>講義・演習</a:t>
            </a:r>
            <a:endParaRPr lang="en-US" altLang="ja-JP" sz="2400" b="1" dirty="0">
              <a:latin typeface="HGPｺﾞｼｯｸE" panose="020B0900000000000000" pitchFamily="50" charset="-128"/>
              <a:ea typeface="HGPｺﾞｼｯｸE" panose="020B0900000000000000" pitchFamily="50" charset="-128"/>
            </a:endParaRPr>
          </a:p>
          <a:p>
            <a:r>
              <a:rPr lang="en-US" altLang="ja-JP" sz="2400" b="1" dirty="0">
                <a:latin typeface="HGPｺﾞｼｯｸE" panose="020B0900000000000000" pitchFamily="50" charset="-128"/>
                <a:ea typeface="HGPｺﾞｼｯｸE" panose="020B0900000000000000" pitchFamily="50" charset="-128"/>
              </a:rPr>
              <a:t>200</a:t>
            </a:r>
            <a:r>
              <a:rPr lang="ja-JP" altLang="en-US" sz="2400" b="1" dirty="0">
                <a:latin typeface="HGPｺﾞｼｯｸE" panose="020B0900000000000000" pitchFamily="50" charset="-128"/>
                <a:ea typeface="HGPｺﾞｼｯｸE" panose="020B0900000000000000" pitchFamily="50" charset="-128"/>
              </a:rPr>
              <a:t>時間</a:t>
            </a:r>
          </a:p>
        </p:txBody>
      </p:sp>
      <p:sp>
        <p:nvSpPr>
          <p:cNvPr id="19" name="テキスト ボックス 11"/>
          <p:cNvSpPr txBox="1"/>
          <p:nvPr/>
        </p:nvSpPr>
        <p:spPr>
          <a:xfrm>
            <a:off x="5227463" y="1911692"/>
            <a:ext cx="6483769" cy="2677656"/>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2400" dirty="0">
                <a:solidFill>
                  <a:schemeClr val="accent5"/>
                </a:solidFill>
                <a:latin typeface="HGPｺﾞｼｯｸE" panose="020B0900000000000000" pitchFamily="50" charset="-128"/>
                <a:ea typeface="HGPｺﾞｼｯｸE" panose="020B0900000000000000" pitchFamily="50" charset="-128"/>
              </a:rPr>
              <a:t>特徴</a:t>
            </a:r>
            <a:endParaRPr lang="en-US" altLang="ja-JP" sz="2400" dirty="0">
              <a:solidFill>
                <a:schemeClr val="accent5"/>
              </a:solidFill>
              <a:latin typeface="HGPｺﾞｼｯｸE" panose="020B0900000000000000" pitchFamily="50" charset="-128"/>
              <a:ea typeface="HGPｺﾞｼｯｸE" panose="020B0900000000000000" pitchFamily="50" charset="-128"/>
            </a:endParaRPr>
          </a:p>
          <a:p>
            <a:r>
              <a:rPr lang="ja-JP" altLang="en-US" sz="2400" dirty="0">
                <a:solidFill>
                  <a:schemeClr val="accent5"/>
                </a:solidFill>
                <a:latin typeface="HGPｺﾞｼｯｸE" panose="020B0900000000000000" pitchFamily="50" charset="-128"/>
                <a:ea typeface="HGPｺﾞｼｯｸE" panose="020B0900000000000000" pitchFamily="50" charset="-128"/>
              </a:rPr>
              <a:t>　実習時間が多い</a:t>
            </a:r>
            <a:endParaRPr lang="en-US" altLang="ja-JP" sz="2400" dirty="0">
              <a:solidFill>
                <a:schemeClr val="accent5"/>
              </a:solidFill>
              <a:latin typeface="HGPｺﾞｼｯｸE" panose="020B0900000000000000" pitchFamily="50" charset="-128"/>
              <a:ea typeface="HGPｺﾞｼｯｸE" panose="020B0900000000000000" pitchFamily="50" charset="-128"/>
            </a:endParaRPr>
          </a:p>
          <a:p>
            <a:r>
              <a:rPr lang="ja-JP" altLang="en-US" sz="2400" dirty="0">
                <a:solidFill>
                  <a:schemeClr val="accent5"/>
                </a:solidFill>
                <a:latin typeface="HGPｺﾞｼｯｸE" panose="020B0900000000000000" pitchFamily="50" charset="-128"/>
                <a:ea typeface="HGPｺﾞｼｯｸE" panose="020B0900000000000000" pitchFamily="50" charset="-128"/>
              </a:rPr>
              <a:t>　習得可能なスキル最多</a:t>
            </a:r>
            <a:endParaRPr lang="en-US" altLang="ja-JP" sz="2400" dirty="0">
              <a:solidFill>
                <a:schemeClr val="accent5"/>
              </a:solidFill>
              <a:latin typeface="HGPｺﾞｼｯｸE" panose="020B0900000000000000" pitchFamily="50" charset="-128"/>
              <a:ea typeface="HGPｺﾞｼｯｸE" panose="020B0900000000000000" pitchFamily="50" charset="-128"/>
            </a:endParaRPr>
          </a:p>
          <a:p>
            <a:r>
              <a:rPr lang="ja-JP" altLang="en-US" sz="2400" dirty="0">
                <a:solidFill>
                  <a:schemeClr val="accent5"/>
                </a:solidFill>
                <a:latin typeface="HGPｺﾞｼｯｸE" panose="020B0900000000000000" pitchFamily="50" charset="-128"/>
                <a:ea typeface="HGPｺﾞｼｯｸE" panose="020B0900000000000000" pitchFamily="50" charset="-128"/>
              </a:rPr>
              <a:t>　実践で使うスキルを学べる</a:t>
            </a:r>
            <a:endParaRPr lang="en-US" altLang="ja-JP" sz="2400" dirty="0">
              <a:solidFill>
                <a:schemeClr val="accent5"/>
              </a:solidFill>
              <a:latin typeface="HGPｺﾞｼｯｸE" panose="020B0900000000000000" pitchFamily="50" charset="-128"/>
              <a:ea typeface="HGPｺﾞｼｯｸE" panose="020B0900000000000000" pitchFamily="50" charset="-128"/>
            </a:endParaRPr>
          </a:p>
          <a:p>
            <a:r>
              <a:rPr lang="ja-JP" altLang="en-US" sz="2400" dirty="0">
                <a:solidFill>
                  <a:schemeClr val="accent5"/>
                </a:solidFill>
                <a:latin typeface="HGPｺﾞｼｯｸE" panose="020B0900000000000000" pitchFamily="50" charset="-128"/>
                <a:ea typeface="HGPｺﾞｼｯｸE" panose="020B0900000000000000" pitchFamily="50" charset="-128"/>
              </a:rPr>
              <a:t>　ヒューマンスキルを身につける</a:t>
            </a:r>
            <a:endParaRPr lang="en-US" altLang="ja-JP" sz="2400" dirty="0">
              <a:solidFill>
                <a:schemeClr val="accent5"/>
              </a:solidFill>
              <a:latin typeface="HGPｺﾞｼｯｸE" panose="020B0900000000000000" pitchFamily="50" charset="-128"/>
              <a:ea typeface="HGPｺﾞｼｯｸE" panose="020B0900000000000000" pitchFamily="50" charset="-128"/>
            </a:endParaRPr>
          </a:p>
          <a:p>
            <a:r>
              <a:rPr lang="ja-JP" altLang="en-US" sz="2400" dirty="0">
                <a:solidFill>
                  <a:schemeClr val="accent5"/>
                </a:solidFill>
                <a:latin typeface="HGPｺﾞｼｯｸE" panose="020B0900000000000000" pitchFamily="50" charset="-128"/>
                <a:ea typeface="HGPｺﾞｼｯｸE" panose="020B0900000000000000" pitchFamily="50" charset="-128"/>
              </a:rPr>
              <a:t>　インターンシップ参加</a:t>
            </a:r>
            <a:endParaRPr lang="en-US" altLang="ja-JP" sz="2400" dirty="0">
              <a:solidFill>
                <a:schemeClr val="accent5"/>
              </a:solidFill>
              <a:latin typeface="HGPｺﾞｼｯｸE" panose="020B0900000000000000" pitchFamily="50" charset="-128"/>
              <a:ea typeface="HGPｺﾞｼｯｸE" panose="020B0900000000000000" pitchFamily="50" charset="-128"/>
            </a:endParaRPr>
          </a:p>
          <a:p>
            <a:r>
              <a:rPr lang="ja-JP" altLang="en-US" sz="2400" dirty="0">
                <a:solidFill>
                  <a:schemeClr val="accent5"/>
                </a:solidFill>
                <a:latin typeface="HGPｺﾞｼｯｸE" panose="020B0900000000000000" pitchFamily="50" charset="-128"/>
                <a:ea typeface="HGPｺﾞｼｯｸE" panose="020B0900000000000000" pitchFamily="50" charset="-128"/>
              </a:rPr>
              <a:t>　資格取得は希望者のみ</a:t>
            </a:r>
            <a:endParaRPr lang="en-US" altLang="ja-JP" sz="2400" dirty="0">
              <a:solidFill>
                <a:schemeClr val="accent5"/>
              </a:solidFill>
              <a:latin typeface="HGPｺﾞｼｯｸE" panose="020B0900000000000000" pitchFamily="50" charset="-128"/>
              <a:ea typeface="HGPｺﾞｼｯｸE" panose="020B0900000000000000" pitchFamily="50" charset="-128"/>
            </a:endParaRPr>
          </a:p>
        </p:txBody>
      </p:sp>
      <p:sp>
        <p:nvSpPr>
          <p:cNvPr id="20" name="テキスト ボックス 19"/>
          <p:cNvSpPr txBox="1"/>
          <p:nvPr/>
        </p:nvSpPr>
        <p:spPr>
          <a:xfrm>
            <a:off x="5227463" y="4918790"/>
            <a:ext cx="6855766" cy="1569660"/>
          </a:xfrm>
          <a:prstGeom prst="rect">
            <a:avLst/>
          </a:prstGeom>
          <a:noFill/>
        </p:spPr>
        <p:txBody>
          <a:bodyPr wrap="square" rtlCol="0">
            <a:spAutoFit/>
          </a:bodyPr>
          <a:lstStyle/>
          <a:p>
            <a:r>
              <a:rPr lang="ja-JP" altLang="en-US" sz="2400" dirty="0">
                <a:latin typeface="HGPｺﾞｼｯｸE" panose="020B0900000000000000" pitchFamily="50" charset="-128"/>
                <a:ea typeface="HGPｺﾞｼｯｸE" panose="020B0900000000000000" pitchFamily="50" charset="-128"/>
              </a:rPr>
              <a:t>目指せる職種</a:t>
            </a:r>
            <a:endParaRPr lang="en-US" altLang="ja-JP" sz="2400" dirty="0">
              <a:latin typeface="HGPｺﾞｼｯｸE" panose="020B0900000000000000" pitchFamily="50" charset="-128"/>
              <a:ea typeface="HGPｺﾞｼｯｸE" panose="020B0900000000000000" pitchFamily="50" charset="-128"/>
            </a:endParaRPr>
          </a:p>
          <a:p>
            <a:r>
              <a:rPr lang="ja-JP" altLang="en-US" sz="2400" dirty="0">
                <a:latin typeface="HGPｺﾞｼｯｸE" panose="020B0900000000000000" pitchFamily="50" charset="-128"/>
                <a:ea typeface="HGPｺﾞｼｯｸE" panose="020B0900000000000000" pitchFamily="50" charset="-128"/>
              </a:rPr>
              <a:t>　システムエンジニア・セキュリティエンジニア</a:t>
            </a:r>
            <a:endParaRPr lang="en-US" altLang="ja-JP" sz="2400" dirty="0">
              <a:latin typeface="HGPｺﾞｼｯｸE" panose="020B0900000000000000" pitchFamily="50" charset="-128"/>
              <a:ea typeface="HGPｺﾞｼｯｸE" panose="020B0900000000000000" pitchFamily="50" charset="-128"/>
            </a:endParaRPr>
          </a:p>
          <a:p>
            <a:r>
              <a:rPr lang="ja-JP" altLang="en-US" sz="2400" dirty="0">
                <a:latin typeface="HGPｺﾞｼｯｸE" panose="020B0900000000000000" pitchFamily="50" charset="-128"/>
                <a:ea typeface="HGPｺﾞｼｯｸE" panose="020B0900000000000000" pitchFamily="50" charset="-128"/>
              </a:rPr>
              <a:t>　プロジェクトマネージャー・</a:t>
            </a:r>
            <a:r>
              <a:rPr lang="en-US" altLang="ja-JP" sz="2400" dirty="0">
                <a:latin typeface="HGPｺﾞｼｯｸE" panose="020B0900000000000000" pitchFamily="50" charset="-128"/>
                <a:ea typeface="HGPｺﾞｼｯｸE" panose="020B0900000000000000" pitchFamily="50" charset="-128"/>
              </a:rPr>
              <a:t> AI</a:t>
            </a:r>
            <a:r>
              <a:rPr lang="ja-JP" altLang="en-US" sz="2400" dirty="0">
                <a:latin typeface="HGPｺﾞｼｯｸE" panose="020B0900000000000000" pitchFamily="50" charset="-128"/>
                <a:ea typeface="HGPｺﾞｼｯｸE" panose="020B0900000000000000" pitchFamily="50" charset="-128"/>
              </a:rPr>
              <a:t>エンジニア・</a:t>
            </a:r>
            <a:endParaRPr lang="en-US" altLang="ja-JP" sz="2400" dirty="0">
              <a:latin typeface="HGPｺﾞｼｯｸE" panose="020B0900000000000000" pitchFamily="50" charset="-128"/>
              <a:ea typeface="HGPｺﾞｼｯｸE" panose="020B0900000000000000" pitchFamily="50" charset="-128"/>
            </a:endParaRPr>
          </a:p>
          <a:p>
            <a:r>
              <a:rPr lang="ja-JP" altLang="en-US" sz="2400" dirty="0">
                <a:latin typeface="HGPｺﾞｼｯｸE" panose="020B0900000000000000" pitchFamily="50" charset="-128"/>
                <a:ea typeface="HGPｺﾞｼｯｸE" panose="020B0900000000000000" pitchFamily="50" charset="-128"/>
              </a:rPr>
              <a:t>　ネットワークエンジニア・システムコンサルタント　</a:t>
            </a:r>
            <a:endParaRPr lang="en-US" altLang="ja-JP" sz="2400" dirty="0">
              <a:latin typeface="HGPｺﾞｼｯｸE" panose="020B0900000000000000" pitchFamily="50" charset="-128"/>
              <a:ea typeface="HGPｺﾞｼｯｸE" panose="020B0900000000000000" pitchFamily="50" charset="-128"/>
            </a:endParaRPr>
          </a:p>
        </p:txBody>
      </p:sp>
      <p:sp>
        <p:nvSpPr>
          <p:cNvPr id="7" name="正方形/長方形 6"/>
          <p:cNvSpPr/>
          <p:nvPr/>
        </p:nvSpPr>
        <p:spPr>
          <a:xfrm>
            <a:off x="641975" y="1851382"/>
            <a:ext cx="4320240" cy="523220"/>
          </a:xfrm>
          <a:prstGeom prst="rect">
            <a:avLst/>
          </a:prstGeom>
        </p:spPr>
        <p:txBody>
          <a:bodyPr wrap="square">
            <a:spAutoFit/>
          </a:bodyPr>
          <a:lstStyle/>
          <a:p>
            <a:r>
              <a:rPr lang="ja-JP" altLang="en-US" sz="2800" b="1" dirty="0">
                <a:latin typeface="HGPｺﾞｼｯｸE" panose="020B0900000000000000" pitchFamily="50" charset="-128"/>
                <a:ea typeface="HGPｺﾞｼｯｸE" panose="020B0900000000000000" pitchFamily="50" charset="-128"/>
              </a:rPr>
              <a:t>■実習比率</a:t>
            </a:r>
          </a:p>
        </p:txBody>
      </p:sp>
      <p:pic>
        <p:nvPicPr>
          <p:cNvPr id="28" name="図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3127" y="3857719"/>
            <a:ext cx="1143519" cy="966354"/>
          </a:xfrm>
          <a:prstGeom prst="rect">
            <a:avLst/>
          </a:prstGeom>
        </p:spPr>
      </p:pic>
      <p:sp>
        <p:nvSpPr>
          <p:cNvPr id="41" name="テキスト ボックス 40">
            <a:extLst>
              <a:ext uri="{FF2B5EF4-FFF2-40B4-BE49-F238E27FC236}">
                <a16:creationId xmlns:a16="http://schemas.microsoft.com/office/drawing/2014/main" id="{9EF03578-1DB2-41EA-A2EC-E5F7FDE8EA04}"/>
              </a:ext>
            </a:extLst>
          </p:cNvPr>
          <p:cNvSpPr txBox="1"/>
          <p:nvPr/>
        </p:nvSpPr>
        <p:spPr>
          <a:xfrm>
            <a:off x="664021" y="136423"/>
            <a:ext cx="5118712"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カリキュラム</a:t>
            </a:r>
            <a:r>
              <a:rPr lang="en-US" altLang="ja-JP" sz="2400" dirty="0">
                <a:solidFill>
                  <a:schemeClr val="bg1"/>
                </a:solidFill>
                <a:latin typeface="HGPｺﾞｼｯｸE" panose="020B0900000000000000" pitchFamily="50" charset="-128"/>
                <a:ea typeface="HGPｺﾞｼｯｸE" panose="020B0900000000000000" pitchFamily="50" charset="-128"/>
              </a:rPr>
              <a:t>(</a:t>
            </a:r>
            <a:r>
              <a:rPr lang="ja-JP" altLang="en-US" sz="2400" dirty="0">
                <a:solidFill>
                  <a:schemeClr val="bg1"/>
                </a:solidFill>
                <a:latin typeface="HGPｺﾞｼｯｸE" panose="020B0900000000000000" pitchFamily="50" charset="-128"/>
                <a:ea typeface="HGPｺﾞｼｯｸE" panose="020B0900000000000000" pitchFamily="50" charset="-128"/>
              </a:rPr>
              <a:t>情報</a:t>
            </a:r>
            <a:r>
              <a:rPr lang="en-US" altLang="ja-JP" sz="2400" dirty="0">
                <a:solidFill>
                  <a:schemeClr val="bg1"/>
                </a:solidFill>
                <a:latin typeface="HGPｺﾞｼｯｸE" panose="020B0900000000000000" pitchFamily="50" charset="-128"/>
                <a:ea typeface="HGPｺﾞｼｯｸE" panose="020B0900000000000000" pitchFamily="50" charset="-128"/>
              </a:rPr>
              <a:t>IT</a:t>
            </a:r>
            <a:r>
              <a:rPr lang="ja-JP" altLang="en-US" sz="2400" dirty="0">
                <a:solidFill>
                  <a:schemeClr val="bg1"/>
                </a:solidFill>
                <a:latin typeface="HGPｺﾞｼｯｸE" panose="020B0900000000000000" pitchFamily="50" charset="-128"/>
                <a:ea typeface="HGPｺﾞｼｯｸE" panose="020B0900000000000000" pitchFamily="50" charset="-128"/>
              </a:rPr>
              <a:t>学科</a:t>
            </a:r>
            <a:r>
              <a:rPr lang="en-US" altLang="ja-JP" sz="2400" dirty="0">
                <a:solidFill>
                  <a:schemeClr val="bg1"/>
                </a:solidFill>
                <a:latin typeface="HGPｺﾞｼｯｸE" panose="020B0900000000000000" pitchFamily="50" charset="-128"/>
                <a:ea typeface="HGPｺﾞｼｯｸE" panose="020B0900000000000000" pitchFamily="50" charset="-128"/>
              </a:rPr>
              <a:t>)</a:t>
            </a:r>
            <a:endParaRPr lang="ja-JP" altLang="en-US" sz="2400" dirty="0">
              <a:solidFill>
                <a:schemeClr val="bg1"/>
              </a:solidFill>
              <a:latin typeface="HGPｺﾞｼｯｸE" panose="020B0900000000000000" pitchFamily="50" charset="-128"/>
              <a:ea typeface="HGPｺﾞｼｯｸE" panose="020B0900000000000000" pitchFamily="50" charset="-128"/>
            </a:endParaRPr>
          </a:p>
        </p:txBody>
      </p:sp>
    </p:spTree>
    <p:extLst>
      <p:ext uri="{BB962C8B-B14F-4D97-AF65-F5344CB8AC3E}">
        <p14:creationId xmlns:p14="http://schemas.microsoft.com/office/powerpoint/2010/main" val="1333486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5" name="正方形/長方形 4"/>
          <p:cNvSpPr/>
          <p:nvPr/>
        </p:nvSpPr>
        <p:spPr>
          <a:xfrm>
            <a:off x="1524000" y="794517"/>
            <a:ext cx="9144000" cy="7877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ja-JP" altLang="en-US" sz="2800" b="1" dirty="0">
                <a:solidFill>
                  <a:prstClr val="black"/>
                </a:solidFill>
                <a:latin typeface="HGPｺﾞｼｯｸE" panose="020B0900000000000000" pitchFamily="50" charset="-128"/>
                <a:ea typeface="HGPｺﾞｼｯｸE" panose="020B0900000000000000" pitchFamily="50" charset="-128"/>
              </a:rPr>
              <a:t>スケジュール例　</a:t>
            </a:r>
            <a:r>
              <a:rPr lang="en-US" altLang="ja-JP" sz="2800" b="1" dirty="0">
                <a:solidFill>
                  <a:prstClr val="black"/>
                </a:solidFill>
                <a:latin typeface="HGPｺﾞｼｯｸE" panose="020B0900000000000000" pitchFamily="50" charset="-128"/>
                <a:ea typeface="HGPｺﾞｼｯｸE" panose="020B0900000000000000" pitchFamily="50" charset="-128"/>
              </a:rPr>
              <a:t>【</a:t>
            </a:r>
            <a:r>
              <a:rPr lang="ja-JP" altLang="en-US" sz="2800" b="1" dirty="0">
                <a:solidFill>
                  <a:prstClr val="black"/>
                </a:solidFill>
                <a:latin typeface="HGPｺﾞｼｯｸE" panose="020B0900000000000000" pitchFamily="50" charset="-128"/>
                <a:ea typeface="HGPｺﾞｼｯｸE" panose="020B0900000000000000" pitchFamily="50" charset="-128"/>
              </a:rPr>
              <a:t>高度システム開発コース</a:t>
            </a:r>
            <a:r>
              <a:rPr lang="en-US" altLang="ja-JP" sz="2800" b="1" dirty="0">
                <a:solidFill>
                  <a:prstClr val="black"/>
                </a:solidFill>
                <a:latin typeface="HGPｺﾞｼｯｸE" panose="020B0900000000000000" pitchFamily="50" charset="-128"/>
                <a:ea typeface="HGPｺﾞｼｯｸE" panose="020B0900000000000000" pitchFamily="50" charset="-128"/>
              </a:rPr>
              <a:t>】</a:t>
            </a:r>
            <a:endParaRPr lang="ja-JP" altLang="en-US" sz="2800" b="1" dirty="0">
              <a:solidFill>
                <a:prstClr val="black"/>
              </a:solidFill>
              <a:latin typeface="HGPｺﾞｼｯｸE" panose="020B0900000000000000" pitchFamily="50" charset="-128"/>
              <a:ea typeface="HGPｺﾞｼｯｸE" panose="020B0900000000000000" pitchFamily="50" charset="-128"/>
            </a:endParaRPr>
          </a:p>
        </p:txBody>
      </p:sp>
      <p:pic>
        <p:nvPicPr>
          <p:cNvPr id="3" name="図 2">
            <a:extLst>
              <a:ext uri="{FF2B5EF4-FFF2-40B4-BE49-F238E27FC236}">
                <a16:creationId xmlns:a16="http://schemas.microsoft.com/office/drawing/2014/main" id="{B88F7904-D4A5-4CF8-AAE1-3891ABAC5747}"/>
              </a:ext>
            </a:extLst>
          </p:cNvPr>
          <p:cNvPicPr>
            <a:picLocks noChangeAspect="1"/>
          </p:cNvPicPr>
          <p:nvPr/>
        </p:nvPicPr>
        <p:blipFill>
          <a:blip r:embed="rId5"/>
          <a:stretch>
            <a:fillRect/>
          </a:stretch>
        </p:blipFill>
        <p:spPr>
          <a:xfrm>
            <a:off x="186265" y="1878732"/>
            <a:ext cx="11819467" cy="4184751"/>
          </a:xfrm>
          <a:prstGeom prst="rect">
            <a:avLst/>
          </a:prstGeom>
        </p:spPr>
      </p:pic>
      <p:sp>
        <p:nvSpPr>
          <p:cNvPr id="32" name="テキスト ボックス 31">
            <a:extLst>
              <a:ext uri="{FF2B5EF4-FFF2-40B4-BE49-F238E27FC236}">
                <a16:creationId xmlns:a16="http://schemas.microsoft.com/office/drawing/2014/main" id="{9C2FBEDF-C2C1-4D7A-8787-5AB9E85F33C9}"/>
              </a:ext>
            </a:extLst>
          </p:cNvPr>
          <p:cNvSpPr txBox="1"/>
          <p:nvPr/>
        </p:nvSpPr>
        <p:spPr>
          <a:xfrm>
            <a:off x="664021" y="136423"/>
            <a:ext cx="5118712"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スケジュール例（情報</a:t>
            </a:r>
            <a:r>
              <a:rPr lang="en-US" altLang="ja-JP" sz="2400" dirty="0">
                <a:solidFill>
                  <a:schemeClr val="bg1"/>
                </a:solidFill>
                <a:latin typeface="HGPｺﾞｼｯｸE" panose="020B0900000000000000" pitchFamily="50" charset="-128"/>
                <a:ea typeface="HGPｺﾞｼｯｸE" panose="020B0900000000000000" pitchFamily="50" charset="-128"/>
              </a:rPr>
              <a:t>IT</a:t>
            </a:r>
            <a:r>
              <a:rPr lang="ja-JP" altLang="en-US" sz="2400" dirty="0">
                <a:solidFill>
                  <a:schemeClr val="bg1"/>
                </a:solidFill>
                <a:latin typeface="HGPｺﾞｼｯｸE" panose="020B0900000000000000" pitchFamily="50" charset="-128"/>
                <a:ea typeface="HGPｺﾞｼｯｸE" panose="020B0900000000000000" pitchFamily="50" charset="-128"/>
              </a:rPr>
              <a:t>学科）</a:t>
            </a:r>
          </a:p>
        </p:txBody>
      </p:sp>
    </p:spTree>
    <p:extLst>
      <p:ext uri="{BB962C8B-B14F-4D97-AF65-F5344CB8AC3E}">
        <p14:creationId xmlns:p14="http://schemas.microsoft.com/office/powerpoint/2010/main" val="3768996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5" name="テキスト プレースホルダー 5">
            <a:extLst>
              <a:ext uri="{FF2B5EF4-FFF2-40B4-BE49-F238E27FC236}">
                <a16:creationId xmlns:a16="http://schemas.microsoft.com/office/drawing/2014/main" id="{0F0E443A-F987-4A67-86AD-557D61E47992}"/>
              </a:ext>
            </a:extLst>
          </p:cNvPr>
          <p:cNvSpPr txBox="1">
            <a:spLocks/>
          </p:cNvSpPr>
          <p:nvPr/>
        </p:nvSpPr>
        <p:spPr>
          <a:xfrm>
            <a:off x="2168161" y="725885"/>
            <a:ext cx="10018578" cy="577096"/>
          </a:xfrm>
          <a:prstGeom prst="rect">
            <a:avLst/>
          </a:prstGeom>
        </p:spPr>
        <p:txBody>
          <a:bodyPr rtlCol="0"/>
          <a:lstStyle>
            <a:lvl1pPr marL="266700" indent="-266700" algn="l" defTabSz="914400" rtl="0" eaLnBrk="1" latinLnBrk="0" hangingPunct="1">
              <a:lnSpc>
                <a:spcPct val="100000"/>
              </a:lnSpc>
              <a:spcBef>
                <a:spcPts val="1000"/>
              </a:spcBef>
              <a:spcAft>
                <a:spcPts val="500"/>
              </a:spcAft>
              <a:buClr>
                <a:schemeClr val="accent1"/>
              </a:buClr>
              <a:buFont typeface="Arial" panose="020B0604020202020204" pitchFamily="34" charset="0"/>
              <a:buChar char="○"/>
              <a:defRPr kumimoji="1" sz="1800" kern="1200" baseline="0">
                <a:solidFill>
                  <a:schemeClr val="tx2"/>
                </a:solidFill>
                <a:latin typeface="Meiryo UI" panose="020B0604030504040204" pitchFamily="50" charset="-128"/>
                <a:ea typeface="Meiryo UI" panose="020B0604030504040204" pitchFamily="50" charset="-128"/>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kumimoji="1" sz="1600" kern="1200" baseline="0">
                <a:solidFill>
                  <a:schemeClr val="tx2"/>
                </a:solidFill>
                <a:latin typeface="Meiryo UI" panose="020B0604030504040204" pitchFamily="50" charset="-128"/>
                <a:ea typeface="Meiryo UI" panose="020B0604030504040204" pitchFamily="50" charset="-128"/>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kumimoji="1" sz="1600" kern="1200" baseline="0">
                <a:solidFill>
                  <a:schemeClr val="tx2"/>
                </a:solidFill>
                <a:latin typeface="Meiryo UI" panose="020B0604030504040204" pitchFamily="50" charset="-128"/>
                <a:ea typeface="Meiryo UI" panose="020B0604030504040204" pitchFamily="50" charset="-128"/>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kumimoji="1" sz="1400" kern="1200" baseline="0">
                <a:solidFill>
                  <a:schemeClr val="tx2"/>
                </a:solidFill>
                <a:latin typeface="Meiryo UI" panose="020B0604030504040204" pitchFamily="50" charset="-128"/>
                <a:ea typeface="Meiryo UI" panose="020B0604030504040204" pitchFamily="50" charset="-128"/>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kumimoji="1" sz="1200" kern="1200" baseline="0">
                <a:solidFill>
                  <a:schemeClr val="tx2"/>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4000" dirty="0">
                <a:latin typeface="HGPｺﾞｼｯｸE" panose="020B0900000000000000" pitchFamily="50" charset="-128"/>
                <a:ea typeface="HGPｺﾞｼｯｸE" panose="020B0900000000000000" pitchFamily="50" charset="-128"/>
              </a:rPr>
              <a:t>アンケート　</a:t>
            </a:r>
            <a:r>
              <a:rPr lang="en-US" altLang="ja-JP" sz="2800" dirty="0">
                <a:latin typeface="HGPｺﾞｼｯｸE" panose="020B0900000000000000" pitchFamily="50" charset="-128"/>
                <a:ea typeface="HGPｺﾞｼｯｸE" panose="020B0900000000000000" pitchFamily="50" charset="-128"/>
              </a:rPr>
              <a:t>…IT</a:t>
            </a:r>
            <a:r>
              <a:rPr lang="ja-JP" altLang="en-US" sz="2800" dirty="0">
                <a:latin typeface="HGPｺﾞｼｯｸE" panose="020B0900000000000000" pitchFamily="50" charset="-128"/>
                <a:ea typeface="HGPｺﾞｼｯｸE" panose="020B0900000000000000" pitchFamily="50" charset="-128"/>
              </a:rPr>
              <a:t>企業の</a:t>
            </a:r>
            <a:r>
              <a:rPr lang="en-US" altLang="ja-JP" sz="2800" dirty="0">
                <a:latin typeface="HGPｺﾞｼｯｸE" panose="020B0900000000000000" pitchFamily="50" charset="-128"/>
                <a:ea typeface="HGPｺﾞｼｯｸE" panose="020B0900000000000000" pitchFamily="50" charset="-128"/>
              </a:rPr>
              <a:t>1,000</a:t>
            </a:r>
            <a:r>
              <a:rPr lang="ja-JP" altLang="en-US" sz="2800" dirty="0">
                <a:latin typeface="HGPｺﾞｼｯｸE" panose="020B0900000000000000" pitchFamily="50" charset="-128"/>
                <a:ea typeface="HGPｺﾞｼｯｸE" panose="020B0900000000000000" pitchFamily="50" charset="-128"/>
              </a:rPr>
              <a:t>社に聞きました</a:t>
            </a:r>
            <a:endParaRPr lang="ja-JP" altLang="en-US" sz="2800" noProof="1">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cxnSp>
        <p:nvCxnSpPr>
          <p:cNvPr id="6" name="直線​​コネクタ(S) 17" title="区切り線">
            <a:extLst>
              <a:ext uri="{FF2B5EF4-FFF2-40B4-BE49-F238E27FC236}">
                <a16:creationId xmlns:a16="http://schemas.microsoft.com/office/drawing/2014/main" id="{45C26E9A-3991-49A2-8D63-94C577E8A0AC}"/>
              </a:ext>
            </a:extLst>
          </p:cNvPr>
          <p:cNvCxnSpPr>
            <a:cxnSpLocks/>
          </p:cNvCxnSpPr>
          <p:nvPr/>
        </p:nvCxnSpPr>
        <p:spPr>
          <a:xfrm flipV="1">
            <a:off x="1880325" y="1429060"/>
            <a:ext cx="8407578" cy="570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307866" y="5287217"/>
            <a:ext cx="9115978" cy="139076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kumimoji="1" lang="ja-JP" altLang="en-US" sz="2400" dirty="0">
                <a:latin typeface="HGPｺﾞｼｯｸE" panose="020B0900000000000000" pitchFamily="50" charset="-128"/>
                <a:ea typeface="HGPｺﾞｼｯｸE" panose="020B0900000000000000" pitchFamily="50" charset="-128"/>
              </a:rPr>
              <a:t>①合格が必須は僅か</a:t>
            </a:r>
            <a:r>
              <a:rPr kumimoji="1" lang="en-US" altLang="ja-JP" sz="2400" dirty="0">
                <a:latin typeface="HGPｺﾞｼｯｸE" panose="020B0900000000000000" pitchFamily="50" charset="-128"/>
                <a:ea typeface="HGPｺﾞｼｯｸE" panose="020B0900000000000000" pitchFamily="50" charset="-128"/>
              </a:rPr>
              <a:t>1.6</a:t>
            </a:r>
            <a:r>
              <a:rPr kumimoji="1" lang="ja-JP" altLang="en-US" sz="2400" dirty="0">
                <a:latin typeface="HGPｺﾞｼｯｸE" panose="020B0900000000000000" pitchFamily="50" charset="-128"/>
                <a:ea typeface="HGPｺﾞｼｯｸE" panose="020B0900000000000000" pitchFamily="50" charset="-128"/>
              </a:rPr>
              <a:t>％、④不問に至ってはなんと</a:t>
            </a:r>
            <a:r>
              <a:rPr kumimoji="1" lang="en-US" altLang="ja-JP" sz="3600" b="1" dirty="0">
                <a:solidFill>
                  <a:srgbClr val="FF0000"/>
                </a:solidFill>
                <a:latin typeface="HGPｺﾞｼｯｸE" panose="020B0900000000000000" pitchFamily="50" charset="-128"/>
                <a:ea typeface="HGPｺﾞｼｯｸE" panose="020B0900000000000000" pitchFamily="50" charset="-128"/>
              </a:rPr>
              <a:t>80.7</a:t>
            </a:r>
            <a:r>
              <a:rPr kumimoji="1" lang="ja-JP" altLang="en-US" sz="3600" b="1" dirty="0">
                <a:solidFill>
                  <a:srgbClr val="FF0000"/>
                </a:solidFill>
                <a:latin typeface="HGPｺﾞｼｯｸE" panose="020B0900000000000000" pitchFamily="50" charset="-128"/>
                <a:ea typeface="HGPｺﾞｼｯｸE" panose="020B0900000000000000" pitchFamily="50" charset="-128"/>
              </a:rPr>
              <a:t>％</a:t>
            </a:r>
            <a:endParaRPr kumimoji="1" lang="en-US" altLang="ja-JP" sz="2400" b="1" dirty="0">
              <a:solidFill>
                <a:srgbClr val="FF0000"/>
              </a:solidFill>
              <a:latin typeface="HGPｺﾞｼｯｸE" panose="020B0900000000000000" pitchFamily="50" charset="-128"/>
              <a:ea typeface="HGPｺﾞｼｯｸE" panose="020B0900000000000000" pitchFamily="50" charset="-128"/>
            </a:endParaRPr>
          </a:p>
          <a:p>
            <a:pPr marL="285750" indent="-285750">
              <a:lnSpc>
                <a:spcPct val="150000"/>
              </a:lnSpc>
              <a:buFont typeface="Wingdings" panose="05000000000000000000" pitchFamily="2" charset="2"/>
              <a:buChar char="Ø"/>
            </a:pPr>
            <a:r>
              <a:rPr kumimoji="1" lang="en-US" altLang="ja-JP" sz="2400" dirty="0">
                <a:latin typeface="HGPｺﾞｼｯｸE" panose="020B0900000000000000" pitchFamily="50" charset="-128"/>
                <a:ea typeface="HGPｺﾞｼｯｸE" panose="020B0900000000000000" pitchFamily="50" charset="-128"/>
              </a:rPr>
              <a:t>IT</a:t>
            </a:r>
            <a:r>
              <a:rPr kumimoji="1" lang="ja-JP" altLang="en-US" sz="2400" dirty="0">
                <a:latin typeface="HGPｺﾞｼｯｸE" panose="020B0900000000000000" pitchFamily="50" charset="-128"/>
                <a:ea typeface="HGPｺﾞｼｯｸE" panose="020B0900000000000000" pitchFamily="50" charset="-128"/>
              </a:rPr>
              <a:t>企業が国家資格を求めない</a:t>
            </a:r>
            <a:r>
              <a:rPr kumimoji="1" lang="ja-JP" altLang="en-US" sz="2400" dirty="0">
                <a:solidFill>
                  <a:srgbClr val="FF0000"/>
                </a:solidFill>
                <a:latin typeface="HGPｺﾞｼｯｸE" panose="020B0900000000000000" pitchFamily="50" charset="-128"/>
                <a:ea typeface="HGPｺﾞｼｯｸE" panose="020B0900000000000000" pitchFamily="50" charset="-128"/>
              </a:rPr>
              <a:t>理由とは・・・？</a:t>
            </a:r>
          </a:p>
        </p:txBody>
      </p:sp>
      <p:graphicFrame>
        <p:nvGraphicFramePr>
          <p:cNvPr id="8" name="グラフ 7"/>
          <p:cNvGraphicFramePr/>
          <p:nvPr/>
        </p:nvGraphicFramePr>
        <p:xfrm>
          <a:off x="2768156" y="1563565"/>
          <a:ext cx="7157720" cy="3806614"/>
        </p:xfrm>
        <a:graphic>
          <a:graphicData uri="http://schemas.openxmlformats.org/drawingml/2006/chart">
            <c:chart xmlns:c="http://schemas.openxmlformats.org/drawingml/2006/chart" xmlns:r="http://schemas.openxmlformats.org/officeDocument/2006/relationships" r:id="rId5"/>
          </a:graphicData>
        </a:graphic>
      </p:graphicFrame>
      <p:sp>
        <p:nvSpPr>
          <p:cNvPr id="12" name="テキスト ボックス 11"/>
          <p:cNvSpPr txBox="1"/>
          <p:nvPr/>
        </p:nvSpPr>
        <p:spPr>
          <a:xfrm>
            <a:off x="7590680" y="4985702"/>
            <a:ext cx="2725405" cy="261610"/>
          </a:xfrm>
          <a:prstGeom prst="rect">
            <a:avLst/>
          </a:prstGeom>
          <a:noFill/>
        </p:spPr>
        <p:txBody>
          <a:bodyPr wrap="square" rtlCol="0">
            <a:spAutoFit/>
          </a:bodyPr>
          <a:lstStyle/>
          <a:p>
            <a:r>
              <a:rPr lang="en-US" altLang="ja-JP" sz="1100" b="1" dirty="0">
                <a:solidFill>
                  <a:schemeClr val="tx1">
                    <a:lumMod val="50000"/>
                  </a:schemeClr>
                </a:solidFill>
                <a:latin typeface="HGPｺﾞｼｯｸE" panose="020B0900000000000000" pitchFamily="50" charset="-128"/>
                <a:ea typeface="HGPｺﾞｼｯｸE" panose="020B0900000000000000" pitchFamily="50" charset="-128"/>
              </a:rPr>
              <a:t>※</a:t>
            </a:r>
            <a:r>
              <a:rPr lang="ja-JP" altLang="en-US" sz="1100" b="1" dirty="0">
                <a:solidFill>
                  <a:schemeClr val="tx1">
                    <a:lumMod val="50000"/>
                  </a:schemeClr>
                </a:solidFill>
                <a:latin typeface="HGPｺﾞｼｯｸE" panose="020B0900000000000000" pitchFamily="50" charset="-128"/>
                <a:ea typeface="HGPｺﾞｼｯｸE" panose="020B0900000000000000" pitchFamily="50" charset="-128"/>
              </a:rPr>
              <a:t>有効回答数　</a:t>
            </a:r>
            <a:r>
              <a:rPr lang="en-US" altLang="ja-JP" sz="1100" b="1" dirty="0">
                <a:solidFill>
                  <a:schemeClr val="tx1">
                    <a:lumMod val="50000"/>
                  </a:schemeClr>
                </a:solidFill>
                <a:latin typeface="HGPｺﾞｼｯｸE" panose="020B0900000000000000" pitchFamily="50" charset="-128"/>
                <a:ea typeface="HGPｺﾞｼｯｸE" panose="020B0900000000000000" pitchFamily="50" charset="-128"/>
              </a:rPr>
              <a:t>1,000</a:t>
            </a:r>
            <a:r>
              <a:rPr lang="ja-JP" altLang="en-US" sz="1100" b="1" dirty="0">
                <a:solidFill>
                  <a:schemeClr val="tx1">
                    <a:lumMod val="50000"/>
                  </a:schemeClr>
                </a:solidFill>
                <a:latin typeface="HGPｺﾞｼｯｸE" panose="020B0900000000000000" pitchFamily="50" charset="-128"/>
                <a:ea typeface="HGPｺﾞｼｯｸE" panose="020B0900000000000000" pitchFamily="50" charset="-128"/>
              </a:rPr>
              <a:t>社中 </a:t>
            </a:r>
            <a:r>
              <a:rPr lang="en-US" altLang="ja-JP" sz="1100" b="1" dirty="0">
                <a:solidFill>
                  <a:schemeClr val="tx1">
                    <a:lumMod val="50000"/>
                  </a:schemeClr>
                </a:solidFill>
                <a:latin typeface="HGPｺﾞｼｯｸE" panose="020B0900000000000000" pitchFamily="50" charset="-128"/>
                <a:ea typeface="HGPｺﾞｼｯｸE" panose="020B0900000000000000" pitchFamily="50" charset="-128"/>
              </a:rPr>
              <a:t>984</a:t>
            </a:r>
            <a:r>
              <a:rPr lang="ja-JP" altLang="en-US" sz="1100" b="1" dirty="0">
                <a:solidFill>
                  <a:schemeClr val="tx1">
                    <a:lumMod val="50000"/>
                  </a:schemeClr>
                </a:solidFill>
                <a:latin typeface="HGPｺﾞｼｯｸE" panose="020B0900000000000000" pitchFamily="50" charset="-128"/>
                <a:ea typeface="HGPｺﾞｼｯｸE" panose="020B0900000000000000" pitchFamily="50" charset="-128"/>
              </a:rPr>
              <a:t>社</a:t>
            </a:r>
            <a:endParaRPr kumimoji="1" lang="en-US" altLang="ja-JP" sz="1100" b="1" dirty="0">
              <a:solidFill>
                <a:schemeClr val="tx1">
                  <a:lumMod val="50000"/>
                </a:schemeClr>
              </a:solidFill>
              <a:latin typeface="HGPｺﾞｼｯｸE" panose="020B0900000000000000" pitchFamily="50" charset="-128"/>
              <a:ea typeface="HGPｺﾞｼｯｸE" panose="020B0900000000000000" pitchFamily="50" charset="-128"/>
            </a:endParaRPr>
          </a:p>
        </p:txBody>
      </p:sp>
      <p:sp>
        <p:nvSpPr>
          <p:cNvPr id="16" name="正方形/長方形 15"/>
          <p:cNvSpPr/>
          <p:nvPr/>
        </p:nvSpPr>
        <p:spPr>
          <a:xfrm>
            <a:off x="8476300" y="6115573"/>
            <a:ext cx="3715700" cy="523220"/>
          </a:xfrm>
          <a:prstGeom prst="rect">
            <a:avLst/>
          </a:prstGeom>
        </p:spPr>
        <p:txBody>
          <a:bodyPr wrap="square">
            <a:spAutoFit/>
          </a:bodyPr>
          <a:lstStyle/>
          <a:p>
            <a:r>
              <a:rPr lang="ja-JP" altLang="en-US" sz="2800" b="1" dirty="0">
                <a:latin typeface="HGPｺﾞｼｯｸE" panose="020B0900000000000000" pitchFamily="50" charset="-128"/>
                <a:ea typeface="HGPｺﾞｼｯｸE" panose="020B0900000000000000" pitchFamily="50" charset="-128"/>
              </a:rPr>
              <a:t>国家試験より</a:t>
            </a:r>
            <a:r>
              <a:rPr lang="ja-JP" altLang="en-US" sz="2800" b="1" dirty="0">
                <a:solidFill>
                  <a:srgbClr val="FF0000"/>
                </a:solidFill>
                <a:latin typeface="HGPｺﾞｼｯｸE" panose="020B0900000000000000" pitchFamily="50" charset="-128"/>
                <a:ea typeface="HGPｺﾞｼｯｸE" panose="020B0900000000000000" pitchFamily="50" charset="-128"/>
              </a:rPr>
              <a:t>実践力</a:t>
            </a:r>
          </a:p>
        </p:txBody>
      </p:sp>
      <p:sp>
        <p:nvSpPr>
          <p:cNvPr id="14" name="テキスト ボックス 13">
            <a:extLst>
              <a:ext uri="{FF2B5EF4-FFF2-40B4-BE49-F238E27FC236}">
                <a16:creationId xmlns:a16="http://schemas.microsoft.com/office/drawing/2014/main" id="{80F39027-AF67-449D-88BC-3BE38C4932F7}"/>
              </a:ext>
            </a:extLst>
          </p:cNvPr>
          <p:cNvSpPr txBox="1"/>
          <p:nvPr/>
        </p:nvSpPr>
        <p:spPr>
          <a:xfrm>
            <a:off x="664020" y="136423"/>
            <a:ext cx="479698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国家資格の不必要性（情報</a:t>
            </a:r>
            <a:r>
              <a:rPr lang="en-US" altLang="ja-JP" sz="2400" dirty="0">
                <a:solidFill>
                  <a:schemeClr val="bg1"/>
                </a:solidFill>
                <a:latin typeface="HGPｺﾞｼｯｸE" panose="020B0900000000000000" pitchFamily="50" charset="-128"/>
                <a:ea typeface="HGPｺﾞｼｯｸE" panose="020B0900000000000000" pitchFamily="50" charset="-128"/>
              </a:rPr>
              <a:t>IT</a:t>
            </a:r>
            <a:r>
              <a:rPr lang="ja-JP" altLang="en-US" sz="2400" dirty="0">
                <a:solidFill>
                  <a:schemeClr val="bg1"/>
                </a:solidFill>
                <a:latin typeface="HGPｺﾞｼｯｸE" panose="020B0900000000000000" pitchFamily="50" charset="-128"/>
                <a:ea typeface="HGPｺﾞｼｯｸE" panose="020B0900000000000000" pitchFamily="50" charset="-128"/>
              </a:rPr>
              <a:t>学科）</a:t>
            </a:r>
          </a:p>
        </p:txBody>
      </p:sp>
    </p:spTree>
    <p:extLst>
      <p:ext uri="{BB962C8B-B14F-4D97-AF65-F5344CB8AC3E}">
        <p14:creationId xmlns:p14="http://schemas.microsoft.com/office/powerpoint/2010/main" val="2614580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pic>
        <p:nvPicPr>
          <p:cNvPr id="13" name="図プレースホルダー 16" descr="半分開いたノート PC">
            <a:extLst>
              <a:ext uri="{FF2B5EF4-FFF2-40B4-BE49-F238E27FC236}">
                <a16:creationId xmlns:a16="http://schemas.microsoft.com/office/drawing/2014/main" id="{6449BBFB-CA06-403B-A774-11459956BDA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431800" y="1735138"/>
            <a:ext cx="1979613" cy="1981200"/>
          </a:xfrm>
          <a:prstGeom prst="rect">
            <a:avLst/>
          </a:prstGeom>
        </p:spPr>
      </p:pic>
      <p:sp>
        <p:nvSpPr>
          <p:cNvPr id="14" name="テキスト プレースホルダー 4">
            <a:extLst>
              <a:ext uri="{FF2B5EF4-FFF2-40B4-BE49-F238E27FC236}">
                <a16:creationId xmlns:a16="http://schemas.microsoft.com/office/drawing/2014/main" id="{A96AA788-5F14-43DB-B035-1BC6DA150990}"/>
              </a:ext>
            </a:extLst>
          </p:cNvPr>
          <p:cNvSpPr txBox="1">
            <a:spLocks/>
          </p:cNvSpPr>
          <p:nvPr/>
        </p:nvSpPr>
        <p:spPr>
          <a:xfrm>
            <a:off x="431800" y="4049810"/>
            <a:ext cx="1980000" cy="36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50000"/>
              </a:lnSpc>
              <a:spcBef>
                <a:spcPts val="600"/>
              </a:spcBef>
            </a:pPr>
            <a:r>
              <a:rPr lang="ja-JP" altLang="en-US" sz="2000" dirty="0">
                <a:latin typeface="HGPｺﾞｼｯｸE" panose="020B0900000000000000" pitchFamily="50" charset="-128"/>
                <a:ea typeface="HGPｺﾞｼｯｸE" panose="020B0900000000000000" pitchFamily="50" charset="-128"/>
              </a:rPr>
              <a:t>ペーパー</a:t>
            </a:r>
            <a:endParaRPr lang="en-US" altLang="ja-JP" sz="2000" dirty="0">
              <a:latin typeface="HGPｺﾞｼｯｸE" panose="020B0900000000000000" pitchFamily="50" charset="-128"/>
              <a:ea typeface="HGPｺﾞｼｯｸE" panose="020B0900000000000000" pitchFamily="50" charset="-128"/>
            </a:endParaRPr>
          </a:p>
          <a:p>
            <a:pPr marL="0" indent="0">
              <a:lnSpc>
                <a:spcPct val="50000"/>
              </a:lnSpc>
              <a:spcBef>
                <a:spcPts val="600"/>
              </a:spcBef>
              <a:buNone/>
            </a:pPr>
            <a:r>
              <a:rPr lang="ja-JP" altLang="en-US" sz="2000" dirty="0">
                <a:latin typeface="HGPｺﾞｼｯｸE" panose="020B0900000000000000" pitchFamily="50" charset="-128"/>
                <a:ea typeface="HGPｺﾞｼｯｸE" panose="020B0900000000000000" pitchFamily="50" charset="-128"/>
              </a:rPr>
              <a:t>　ドライバー化</a:t>
            </a:r>
          </a:p>
        </p:txBody>
      </p:sp>
      <p:cxnSp>
        <p:nvCxnSpPr>
          <p:cNvPr id="15" name="直線​​コネクタ(S) 19" title="区切り線">
            <a:extLst>
              <a:ext uri="{FF2B5EF4-FFF2-40B4-BE49-F238E27FC236}">
                <a16:creationId xmlns:a16="http://schemas.microsoft.com/office/drawing/2014/main" id="{B674B9A6-D55C-478C-8D92-D0BFBCD7B598}"/>
              </a:ext>
            </a:extLst>
          </p:cNvPr>
          <p:cNvCxnSpPr>
            <a:cxnSpLocks/>
          </p:cNvCxnSpPr>
          <p:nvPr/>
        </p:nvCxnSpPr>
        <p:spPr>
          <a:xfrm>
            <a:off x="611413" y="4732431"/>
            <a:ext cx="1800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テキスト プレースホルダー 5">
            <a:extLst>
              <a:ext uri="{FF2B5EF4-FFF2-40B4-BE49-F238E27FC236}">
                <a16:creationId xmlns:a16="http://schemas.microsoft.com/office/drawing/2014/main" id="{CE675343-79F8-46AA-B56E-932984AB75EE}"/>
              </a:ext>
            </a:extLst>
          </p:cNvPr>
          <p:cNvSpPr txBox="1">
            <a:spLocks/>
          </p:cNvSpPr>
          <p:nvPr/>
        </p:nvSpPr>
        <p:spPr>
          <a:xfrm>
            <a:off x="444863" y="4919343"/>
            <a:ext cx="1980000" cy="72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000" dirty="0">
                <a:latin typeface="HGPｺﾞｼｯｸE" panose="020B0900000000000000" pitchFamily="50" charset="-128"/>
                <a:ea typeface="HGPｺﾞｼｯｸE" panose="020B0900000000000000" pitchFamily="50" charset="-128"/>
              </a:rPr>
              <a:t>National qualifications are not directly linked to on-site work</a:t>
            </a:r>
            <a:endParaRPr lang="ja-JP" altLang="en-US" sz="2000" dirty="0">
              <a:latin typeface="HGPｺﾞｼｯｸE" panose="020B0900000000000000" pitchFamily="50" charset="-128"/>
              <a:ea typeface="HGPｺﾞｼｯｸE" panose="020B0900000000000000" pitchFamily="50" charset="-128"/>
            </a:endParaRPr>
          </a:p>
        </p:txBody>
      </p:sp>
      <p:pic>
        <p:nvPicPr>
          <p:cNvPr id="17" name="図プレースホルダー 38" descr="画面を見ながら困った顔をしている女性">
            <a:extLst>
              <a:ext uri="{FF2B5EF4-FFF2-40B4-BE49-F238E27FC236}">
                <a16:creationId xmlns:a16="http://schemas.microsoft.com/office/drawing/2014/main" id="{0DDAC36A-574D-4761-9BCF-874D3C265750}"/>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2771850" y="1735138"/>
            <a:ext cx="1979613" cy="1981200"/>
          </a:xfrm>
          <a:prstGeom prst="rect">
            <a:avLst/>
          </a:prstGeom>
        </p:spPr>
      </p:pic>
      <p:sp>
        <p:nvSpPr>
          <p:cNvPr id="18" name="テキスト プレースホルダー 6">
            <a:extLst>
              <a:ext uri="{FF2B5EF4-FFF2-40B4-BE49-F238E27FC236}">
                <a16:creationId xmlns:a16="http://schemas.microsoft.com/office/drawing/2014/main" id="{1806F98B-6BF9-4D0F-B7E7-561F064602FD}"/>
              </a:ext>
            </a:extLst>
          </p:cNvPr>
          <p:cNvSpPr txBox="1">
            <a:spLocks/>
          </p:cNvSpPr>
          <p:nvPr/>
        </p:nvSpPr>
        <p:spPr>
          <a:xfrm>
            <a:off x="2640105" y="3971432"/>
            <a:ext cx="2635380" cy="36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000" dirty="0">
                <a:solidFill>
                  <a:srgbClr val="FF0000"/>
                </a:solidFill>
                <a:latin typeface="HGPｺﾞｼｯｸE" panose="020B0900000000000000" pitchFamily="50" charset="-128"/>
                <a:ea typeface="HGPｺﾞｼｯｸE" panose="020B0900000000000000" pitchFamily="50" charset="-128"/>
              </a:rPr>
              <a:t>IT</a:t>
            </a:r>
            <a:r>
              <a:rPr lang="ja-JP" altLang="en-US" sz="2000" dirty="0">
                <a:solidFill>
                  <a:srgbClr val="FF0000"/>
                </a:solidFill>
                <a:latin typeface="HGPｺﾞｼｯｸE" panose="020B0900000000000000" pitchFamily="50" charset="-128"/>
                <a:ea typeface="HGPｺﾞｼｯｸE" panose="020B0900000000000000" pitchFamily="50" charset="-128"/>
              </a:rPr>
              <a:t>現場との乖離</a:t>
            </a:r>
          </a:p>
        </p:txBody>
      </p:sp>
      <p:cxnSp>
        <p:nvCxnSpPr>
          <p:cNvPr id="19" name="直線​​コネクタ(S) 20" title="区切り線">
            <a:extLst>
              <a:ext uri="{FF2B5EF4-FFF2-40B4-BE49-F238E27FC236}">
                <a16:creationId xmlns:a16="http://schemas.microsoft.com/office/drawing/2014/main" id="{5A0322F4-E79A-4E4D-98CA-2DC1692F90C3}"/>
              </a:ext>
            </a:extLst>
          </p:cNvPr>
          <p:cNvCxnSpPr>
            <a:cxnSpLocks/>
          </p:cNvCxnSpPr>
          <p:nvPr/>
        </p:nvCxnSpPr>
        <p:spPr>
          <a:xfrm>
            <a:off x="2861850" y="4732431"/>
            <a:ext cx="1800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テキスト プレースホルダー 7">
            <a:extLst>
              <a:ext uri="{FF2B5EF4-FFF2-40B4-BE49-F238E27FC236}">
                <a16:creationId xmlns:a16="http://schemas.microsoft.com/office/drawing/2014/main" id="{93694D25-DE51-4F33-9ED7-7D9F4891DD93}"/>
              </a:ext>
            </a:extLst>
          </p:cNvPr>
          <p:cNvSpPr txBox="1">
            <a:spLocks/>
          </p:cNvSpPr>
          <p:nvPr/>
        </p:nvSpPr>
        <p:spPr>
          <a:xfrm>
            <a:off x="2874913" y="4864328"/>
            <a:ext cx="1980000" cy="72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000" dirty="0">
                <a:latin typeface="HGPｺﾞｼｯｸE" panose="020B0900000000000000" pitchFamily="50" charset="-128"/>
                <a:ea typeface="HGPｺﾞｼｯｸE" panose="020B0900000000000000" pitchFamily="50" charset="-128"/>
              </a:rPr>
              <a:t>Deviation from the work content of the IT site</a:t>
            </a:r>
            <a:endParaRPr lang="ja-JP" altLang="en-US" sz="2000" dirty="0">
              <a:latin typeface="HGPｺﾞｼｯｸE" panose="020B0900000000000000" pitchFamily="50" charset="-128"/>
              <a:ea typeface="HGPｺﾞｼｯｸE" panose="020B0900000000000000" pitchFamily="50" charset="-128"/>
            </a:endParaRPr>
          </a:p>
        </p:txBody>
      </p:sp>
      <p:pic>
        <p:nvPicPr>
          <p:cNvPr id="21" name="図プレースホルダー 42" descr="携帯電話をタップしている人と、上から見たデスク">
            <a:extLst>
              <a:ext uri="{FF2B5EF4-FFF2-40B4-BE49-F238E27FC236}">
                <a16:creationId xmlns:a16="http://schemas.microsoft.com/office/drawing/2014/main" id="{3A7E12C8-81B9-4B69-8557-9B66C1AD1251}"/>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5112287" y="1735138"/>
            <a:ext cx="1979613" cy="1981200"/>
          </a:xfrm>
          <a:prstGeom prst="rect">
            <a:avLst/>
          </a:prstGeom>
        </p:spPr>
      </p:pic>
      <p:sp>
        <p:nvSpPr>
          <p:cNvPr id="22" name="テキスト プレースホルダー 8">
            <a:extLst>
              <a:ext uri="{FF2B5EF4-FFF2-40B4-BE49-F238E27FC236}">
                <a16:creationId xmlns:a16="http://schemas.microsoft.com/office/drawing/2014/main" id="{2F0A8A16-8E92-40C1-913D-8CB3B9C1DDAF}"/>
              </a:ext>
            </a:extLst>
          </p:cNvPr>
          <p:cNvSpPr txBox="1">
            <a:spLocks/>
          </p:cNvSpPr>
          <p:nvPr/>
        </p:nvSpPr>
        <p:spPr>
          <a:xfrm>
            <a:off x="5111900" y="3971432"/>
            <a:ext cx="1980000" cy="36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a:latin typeface="HGPｺﾞｼｯｸE" panose="020B0900000000000000" pitchFamily="50" charset="-128"/>
                <a:ea typeface="HGPｺﾞｼｯｸE" panose="020B0900000000000000" pitchFamily="50" charset="-128"/>
              </a:rPr>
              <a:t>学習コスト</a:t>
            </a:r>
          </a:p>
        </p:txBody>
      </p:sp>
      <p:cxnSp>
        <p:nvCxnSpPr>
          <p:cNvPr id="23" name="直線​​コネクタ(S) 21" title="区切り線">
            <a:extLst>
              <a:ext uri="{FF2B5EF4-FFF2-40B4-BE49-F238E27FC236}">
                <a16:creationId xmlns:a16="http://schemas.microsoft.com/office/drawing/2014/main" id="{0DC27E82-D5C7-4AE4-BAF3-5DBB12CA0835}"/>
              </a:ext>
            </a:extLst>
          </p:cNvPr>
          <p:cNvCxnSpPr>
            <a:cxnSpLocks/>
          </p:cNvCxnSpPr>
          <p:nvPr/>
        </p:nvCxnSpPr>
        <p:spPr>
          <a:xfrm>
            <a:off x="5201900" y="4732431"/>
            <a:ext cx="1800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テキスト プレースホルダー 9">
            <a:extLst>
              <a:ext uri="{FF2B5EF4-FFF2-40B4-BE49-F238E27FC236}">
                <a16:creationId xmlns:a16="http://schemas.microsoft.com/office/drawing/2014/main" id="{CC804944-6423-4C0F-ABB0-9CF01A05FD92}"/>
              </a:ext>
            </a:extLst>
          </p:cNvPr>
          <p:cNvSpPr txBox="1">
            <a:spLocks/>
          </p:cNvSpPr>
          <p:nvPr/>
        </p:nvSpPr>
        <p:spPr>
          <a:xfrm>
            <a:off x="5124963" y="4919343"/>
            <a:ext cx="1980000" cy="72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000" dirty="0">
                <a:latin typeface="HGPｺﾞｼｯｸE" panose="020B0900000000000000" pitchFamily="50" charset="-128"/>
                <a:ea typeface="HGPｺﾞｼｯｸE" panose="020B0900000000000000" pitchFamily="50" charset="-128"/>
              </a:rPr>
              <a:t>High learning cost to obtain national qualification</a:t>
            </a:r>
            <a:endParaRPr lang="ja-JP" altLang="en-US" sz="2000" dirty="0">
              <a:latin typeface="HGPｺﾞｼｯｸE" panose="020B0900000000000000" pitchFamily="50" charset="-128"/>
              <a:ea typeface="HGPｺﾞｼｯｸE" panose="020B0900000000000000" pitchFamily="50" charset="-128"/>
            </a:endParaRPr>
          </a:p>
        </p:txBody>
      </p:sp>
      <p:pic>
        <p:nvPicPr>
          <p:cNvPr id="25" name="図プレースホルダー 70" descr="マイクロ チップ ピン">
            <a:extLst>
              <a:ext uri="{FF2B5EF4-FFF2-40B4-BE49-F238E27FC236}">
                <a16:creationId xmlns:a16="http://schemas.microsoft.com/office/drawing/2014/main" id="{C698E7AD-8D61-4952-9F38-6E6313EE4B05}"/>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7451950" y="1735138"/>
            <a:ext cx="1979613" cy="1981200"/>
          </a:xfrm>
          <a:prstGeom prst="rect">
            <a:avLst/>
          </a:prstGeom>
        </p:spPr>
      </p:pic>
      <p:sp>
        <p:nvSpPr>
          <p:cNvPr id="26" name="テキスト プレースホルダー 10">
            <a:extLst>
              <a:ext uri="{FF2B5EF4-FFF2-40B4-BE49-F238E27FC236}">
                <a16:creationId xmlns:a16="http://schemas.microsoft.com/office/drawing/2014/main" id="{3BF93F76-B979-4659-9F60-ADD378371A4D}"/>
              </a:ext>
            </a:extLst>
          </p:cNvPr>
          <p:cNvSpPr txBox="1">
            <a:spLocks/>
          </p:cNvSpPr>
          <p:nvPr/>
        </p:nvSpPr>
        <p:spPr>
          <a:xfrm>
            <a:off x="7451950" y="3971432"/>
            <a:ext cx="1980000" cy="36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a:latin typeface="HGPｺﾞｼｯｸE" panose="020B0900000000000000" pitchFamily="50" charset="-128"/>
                <a:ea typeface="HGPｺﾞｼｯｸE" panose="020B0900000000000000" pitchFamily="50" charset="-128"/>
              </a:rPr>
              <a:t>上流工程</a:t>
            </a:r>
          </a:p>
        </p:txBody>
      </p:sp>
      <p:cxnSp>
        <p:nvCxnSpPr>
          <p:cNvPr id="27" name="直線​​コネクタ(S) 22" title="区切り線">
            <a:extLst>
              <a:ext uri="{FF2B5EF4-FFF2-40B4-BE49-F238E27FC236}">
                <a16:creationId xmlns:a16="http://schemas.microsoft.com/office/drawing/2014/main" id="{8C3BE7D2-4C35-4BA9-9A98-1A6E17A84A71}"/>
              </a:ext>
            </a:extLst>
          </p:cNvPr>
          <p:cNvCxnSpPr>
            <a:cxnSpLocks/>
          </p:cNvCxnSpPr>
          <p:nvPr/>
        </p:nvCxnSpPr>
        <p:spPr>
          <a:xfrm>
            <a:off x="7541950" y="4732431"/>
            <a:ext cx="1800000"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テキスト プレースホルダー 11">
            <a:extLst>
              <a:ext uri="{FF2B5EF4-FFF2-40B4-BE49-F238E27FC236}">
                <a16:creationId xmlns:a16="http://schemas.microsoft.com/office/drawing/2014/main" id="{179E7FC2-4098-49F6-8F55-7D42A85A40B6}"/>
              </a:ext>
            </a:extLst>
          </p:cNvPr>
          <p:cNvSpPr txBox="1">
            <a:spLocks/>
          </p:cNvSpPr>
          <p:nvPr/>
        </p:nvSpPr>
        <p:spPr>
          <a:xfrm>
            <a:off x="7465013" y="4919343"/>
            <a:ext cx="1980000" cy="72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000" dirty="0">
                <a:latin typeface="HGPｺﾞｼｯｸE" panose="020B0900000000000000" pitchFamily="50" charset="-128"/>
                <a:ea typeface="HGPｺﾞｼｯｸE" panose="020B0900000000000000" pitchFamily="50" charset="-128"/>
              </a:rPr>
              <a:t>Acquisition of knowledge of upstream process is essential</a:t>
            </a:r>
            <a:endParaRPr lang="ja-JP" altLang="en-US" sz="2000" dirty="0">
              <a:latin typeface="HGPｺﾞｼｯｸE" panose="020B0900000000000000" pitchFamily="50" charset="-128"/>
              <a:ea typeface="HGPｺﾞｼｯｸE" panose="020B0900000000000000" pitchFamily="50" charset="-128"/>
            </a:endParaRPr>
          </a:p>
        </p:txBody>
      </p:sp>
      <p:pic>
        <p:nvPicPr>
          <p:cNvPr id="29" name="図プレースホルダー 62" descr="分析のスクリーン ショットが表示されているタブレット">
            <a:extLst>
              <a:ext uri="{FF2B5EF4-FFF2-40B4-BE49-F238E27FC236}">
                <a16:creationId xmlns:a16="http://schemas.microsoft.com/office/drawing/2014/main" id="{DA70A5B7-C485-42A2-BB9D-2180002A6220}"/>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a:off x="9780587" y="1735138"/>
            <a:ext cx="1979613" cy="1981200"/>
          </a:xfrm>
          <a:prstGeom prst="rect">
            <a:avLst/>
          </a:prstGeom>
        </p:spPr>
      </p:pic>
      <p:sp>
        <p:nvSpPr>
          <p:cNvPr id="30" name="テキスト プレースホルダー 12">
            <a:extLst>
              <a:ext uri="{FF2B5EF4-FFF2-40B4-BE49-F238E27FC236}">
                <a16:creationId xmlns:a16="http://schemas.microsoft.com/office/drawing/2014/main" id="{B42EB40D-8479-42AF-A4AE-92D6BE6908B5}"/>
              </a:ext>
            </a:extLst>
          </p:cNvPr>
          <p:cNvSpPr txBox="1">
            <a:spLocks/>
          </p:cNvSpPr>
          <p:nvPr/>
        </p:nvSpPr>
        <p:spPr>
          <a:xfrm>
            <a:off x="9792000" y="3971432"/>
            <a:ext cx="1980000" cy="36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a:solidFill>
                  <a:srgbClr val="FF0000"/>
                </a:solidFill>
                <a:latin typeface="HGPｺﾞｼｯｸE" panose="020B0900000000000000" pitchFamily="50" charset="-128"/>
                <a:ea typeface="HGPｺﾞｼｯｸE" panose="020B0900000000000000" pitchFamily="50" charset="-128"/>
              </a:rPr>
              <a:t>スキル不明瞭 </a:t>
            </a:r>
          </a:p>
        </p:txBody>
      </p:sp>
      <p:cxnSp>
        <p:nvCxnSpPr>
          <p:cNvPr id="31" name="直線​​コネクタ(S) 23" title="区切り線">
            <a:extLst>
              <a:ext uri="{FF2B5EF4-FFF2-40B4-BE49-F238E27FC236}">
                <a16:creationId xmlns:a16="http://schemas.microsoft.com/office/drawing/2014/main" id="{75979D46-D664-4267-B673-E6B048C084A4}"/>
              </a:ext>
            </a:extLst>
          </p:cNvPr>
          <p:cNvCxnSpPr>
            <a:cxnSpLocks/>
          </p:cNvCxnSpPr>
          <p:nvPr/>
        </p:nvCxnSpPr>
        <p:spPr>
          <a:xfrm>
            <a:off x="9882000" y="4732431"/>
            <a:ext cx="180000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2" name="テキスト プレースホルダー 13">
            <a:extLst>
              <a:ext uri="{FF2B5EF4-FFF2-40B4-BE49-F238E27FC236}">
                <a16:creationId xmlns:a16="http://schemas.microsoft.com/office/drawing/2014/main" id="{D11578AB-8F47-4648-B827-D4367249BDBB}"/>
              </a:ext>
            </a:extLst>
          </p:cNvPr>
          <p:cNvSpPr txBox="1">
            <a:spLocks/>
          </p:cNvSpPr>
          <p:nvPr/>
        </p:nvSpPr>
        <p:spPr>
          <a:xfrm>
            <a:off x="9805063" y="4919343"/>
            <a:ext cx="1980000" cy="72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000" dirty="0">
                <a:latin typeface="HGPｺﾞｼｯｸE" panose="020B0900000000000000" pitchFamily="50" charset="-128"/>
                <a:ea typeface="HGPｺﾞｼｯｸE" panose="020B0900000000000000" pitchFamily="50" charset="-128"/>
              </a:rPr>
              <a:t>It is unclear whether IT skills will work in the field</a:t>
            </a:r>
            <a:endParaRPr lang="ja-JP" altLang="en-US" sz="2000" dirty="0">
              <a:latin typeface="HGPｺﾞｼｯｸE" panose="020B0900000000000000" pitchFamily="50" charset="-128"/>
              <a:ea typeface="HGPｺﾞｼｯｸE" panose="020B0900000000000000" pitchFamily="50" charset="-128"/>
            </a:endParaRPr>
          </a:p>
        </p:txBody>
      </p:sp>
      <p:sp>
        <p:nvSpPr>
          <p:cNvPr id="33" name="テキスト プレースホルダー 7">
            <a:extLst>
              <a:ext uri="{FF2B5EF4-FFF2-40B4-BE49-F238E27FC236}">
                <a16:creationId xmlns:a16="http://schemas.microsoft.com/office/drawing/2014/main" id="{FA562AA1-9ED1-4AA1-8F21-A53B5A69CB06}"/>
              </a:ext>
            </a:extLst>
          </p:cNvPr>
          <p:cNvSpPr txBox="1">
            <a:spLocks/>
          </p:cNvSpPr>
          <p:nvPr/>
        </p:nvSpPr>
        <p:spPr>
          <a:xfrm>
            <a:off x="1627962" y="853182"/>
            <a:ext cx="8739048" cy="864379"/>
          </a:xfrm>
          <a:prstGeom prst="rect">
            <a:avLst/>
          </a:prstGeom>
        </p:spPr>
        <p:txBody>
          <a:bodyPr rtlCol="0"/>
          <a:lstStyle>
            <a:lvl1pPr marL="266700" indent="-266700" algn="l" defTabSz="914400" rtl="0" eaLnBrk="1" latinLnBrk="0" hangingPunct="1">
              <a:lnSpc>
                <a:spcPct val="100000"/>
              </a:lnSpc>
              <a:spcBef>
                <a:spcPts val="1000"/>
              </a:spcBef>
              <a:spcAft>
                <a:spcPts val="500"/>
              </a:spcAft>
              <a:buClr>
                <a:schemeClr val="accent1"/>
              </a:buClr>
              <a:buFont typeface="Arial" panose="020B0604020202020204" pitchFamily="34" charset="0"/>
              <a:buChar char="○"/>
              <a:defRPr kumimoji="1" sz="1800" kern="1200" baseline="0">
                <a:solidFill>
                  <a:schemeClr val="tx2"/>
                </a:solidFill>
                <a:latin typeface="Meiryo UI" panose="020B0604030504040204" pitchFamily="50" charset="-128"/>
                <a:ea typeface="Meiryo UI" panose="020B0604030504040204" pitchFamily="50" charset="-128"/>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kumimoji="1" sz="1600" kern="1200" baseline="0">
                <a:solidFill>
                  <a:schemeClr val="tx2"/>
                </a:solidFill>
                <a:latin typeface="Meiryo UI" panose="020B0604030504040204" pitchFamily="50" charset="-128"/>
                <a:ea typeface="Meiryo UI" panose="020B0604030504040204" pitchFamily="50" charset="-128"/>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kumimoji="1" sz="1600" kern="1200" baseline="0">
                <a:solidFill>
                  <a:schemeClr val="tx2"/>
                </a:solidFill>
                <a:latin typeface="Meiryo UI" panose="020B0604030504040204" pitchFamily="50" charset="-128"/>
                <a:ea typeface="Meiryo UI" panose="020B0604030504040204" pitchFamily="50" charset="-128"/>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kumimoji="1" sz="1400" kern="1200" baseline="0">
                <a:solidFill>
                  <a:schemeClr val="tx2"/>
                </a:solidFill>
                <a:latin typeface="Meiryo UI" panose="020B0604030504040204" pitchFamily="50" charset="-128"/>
                <a:ea typeface="Meiryo UI" panose="020B0604030504040204" pitchFamily="50" charset="-128"/>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kumimoji="1" sz="1200" kern="1200" baseline="0">
                <a:solidFill>
                  <a:schemeClr val="tx2"/>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sz="2800" noProof="1">
                <a:latin typeface="HGPｺﾞｼｯｸE" panose="020B0900000000000000" pitchFamily="50" charset="-128"/>
                <a:ea typeface="HGPｺﾞｼｯｸE" panose="020B0900000000000000" pitchFamily="50" charset="-128"/>
              </a:rPr>
              <a:t>IT</a:t>
            </a:r>
            <a:r>
              <a:rPr lang="ja-JP" altLang="en-US" sz="2800" noProof="1">
                <a:latin typeface="HGPｺﾞｼｯｸE" panose="020B0900000000000000" pitchFamily="50" charset="-128"/>
                <a:ea typeface="HGPｺﾞｼｯｸE" panose="020B0900000000000000" pitchFamily="50" charset="-128"/>
              </a:rPr>
              <a:t>企業が国家資格</a:t>
            </a:r>
            <a:r>
              <a:rPr lang="en-US" altLang="ja-JP" sz="2800" noProof="1">
                <a:latin typeface="HGPｺﾞｼｯｸE" panose="020B0900000000000000" pitchFamily="50" charset="-128"/>
                <a:ea typeface="HGPｺﾞｼｯｸE" panose="020B0900000000000000" pitchFamily="50" charset="-128"/>
              </a:rPr>
              <a:t>(</a:t>
            </a:r>
            <a:r>
              <a:rPr lang="ja-JP" altLang="en-US" sz="2800" noProof="1">
                <a:latin typeface="HGPｺﾞｼｯｸE" panose="020B0900000000000000" pitchFamily="50" charset="-128"/>
                <a:ea typeface="HGPｺﾞｼｯｸE" panose="020B0900000000000000" pitchFamily="50" charset="-128"/>
              </a:rPr>
              <a:t>基本情報</a:t>
            </a:r>
            <a:r>
              <a:rPr lang="en-US" altLang="ja-JP" sz="2800" noProof="1">
                <a:latin typeface="HGPｺﾞｼｯｸE" panose="020B0900000000000000" pitchFamily="50" charset="-128"/>
                <a:ea typeface="HGPｺﾞｼｯｸE" panose="020B0900000000000000" pitchFamily="50" charset="-128"/>
              </a:rPr>
              <a:t>)</a:t>
            </a:r>
            <a:r>
              <a:rPr lang="ja-JP" altLang="en-US" sz="2800" noProof="1">
                <a:latin typeface="HGPｺﾞｼｯｸE" panose="020B0900000000000000" pitchFamily="50" charset="-128"/>
                <a:ea typeface="HGPｺﾞｼｯｸE" panose="020B0900000000000000" pitchFamily="50" charset="-128"/>
              </a:rPr>
              <a:t>を求めない理由</a:t>
            </a:r>
            <a:endParaRPr lang="ja-JP" altLang="en-US" sz="2800" noProof="1">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cxnSp>
        <p:nvCxnSpPr>
          <p:cNvPr id="34" name="直線​​コネクタ(S) 18" title="区切り線">
            <a:extLst>
              <a:ext uri="{FF2B5EF4-FFF2-40B4-BE49-F238E27FC236}">
                <a16:creationId xmlns:a16="http://schemas.microsoft.com/office/drawing/2014/main" id="{4EAA895A-8A04-4C68-83A5-3E4F5209FB7E}"/>
              </a:ext>
            </a:extLst>
          </p:cNvPr>
          <p:cNvCxnSpPr>
            <a:cxnSpLocks/>
          </p:cNvCxnSpPr>
          <p:nvPr/>
        </p:nvCxnSpPr>
        <p:spPr>
          <a:xfrm flipV="1">
            <a:off x="1833837" y="1444433"/>
            <a:ext cx="8327298" cy="8573"/>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E3B7018E-D04C-48B7-AE6C-D99D0EFAA0C6}"/>
              </a:ext>
            </a:extLst>
          </p:cNvPr>
          <p:cNvSpPr txBox="1"/>
          <p:nvPr/>
        </p:nvSpPr>
        <p:spPr>
          <a:xfrm>
            <a:off x="664020" y="136423"/>
            <a:ext cx="4796980" cy="461665"/>
          </a:xfrm>
          <a:prstGeom prst="rect">
            <a:avLst/>
          </a:prstGeom>
          <a:noFill/>
        </p:spPr>
        <p:txBody>
          <a:bodyPr wrap="square" rtlCol="0">
            <a:spAutoFit/>
          </a:bodyPr>
          <a:lstStyle/>
          <a:p>
            <a:r>
              <a:rPr lang="ja-JP" altLang="en-US" sz="2400" b="1" dirty="0">
                <a:solidFill>
                  <a:schemeClr val="bg1"/>
                </a:solidFill>
              </a:rPr>
              <a:t>求めない理由</a:t>
            </a:r>
            <a:r>
              <a:rPr lang="en-US" altLang="ja-JP" sz="2400" dirty="0"/>
              <a:t>)</a:t>
            </a:r>
            <a:r>
              <a:rPr lang="ja-JP" altLang="en-US" sz="2400" dirty="0">
                <a:solidFill>
                  <a:schemeClr val="bg1"/>
                </a:solidFill>
                <a:latin typeface="HGPｺﾞｼｯｸE" panose="020B0900000000000000" pitchFamily="50" charset="-128"/>
                <a:ea typeface="HGPｺﾞｼｯｸE" panose="020B0900000000000000" pitchFamily="50" charset="-128"/>
              </a:rPr>
              <a:t>（情報</a:t>
            </a:r>
            <a:r>
              <a:rPr lang="en-US" altLang="ja-JP" sz="2400" dirty="0">
                <a:solidFill>
                  <a:schemeClr val="bg1"/>
                </a:solidFill>
                <a:latin typeface="HGPｺﾞｼｯｸE" panose="020B0900000000000000" pitchFamily="50" charset="-128"/>
                <a:ea typeface="HGPｺﾞｼｯｸE" panose="020B0900000000000000" pitchFamily="50" charset="-128"/>
              </a:rPr>
              <a:t>IT</a:t>
            </a:r>
            <a:r>
              <a:rPr lang="ja-JP" altLang="en-US" sz="2400" dirty="0">
                <a:solidFill>
                  <a:schemeClr val="bg1"/>
                </a:solidFill>
                <a:latin typeface="HGPｺﾞｼｯｸE" panose="020B0900000000000000" pitchFamily="50" charset="-128"/>
                <a:ea typeface="HGPｺﾞｼｯｸE" panose="020B0900000000000000" pitchFamily="50" charset="-128"/>
              </a:rPr>
              <a:t>学科）</a:t>
            </a:r>
          </a:p>
        </p:txBody>
      </p:sp>
    </p:spTree>
    <p:extLst>
      <p:ext uri="{BB962C8B-B14F-4D97-AF65-F5344CB8AC3E}">
        <p14:creationId xmlns:p14="http://schemas.microsoft.com/office/powerpoint/2010/main" val="295274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050B1C54-24A4-44E0-8F2D-05818383033B}"/>
              </a:ext>
            </a:extLst>
          </p:cNvPr>
          <p:cNvPicPr>
            <a:picLocks noChangeAspect="1"/>
          </p:cNvPicPr>
          <p:nvPr/>
        </p:nvPicPr>
        <p:blipFill rotWithShape="1">
          <a:blip r:embed="rId2">
            <a:extLst>
              <a:ext uri="{28A0092B-C50C-407E-A947-70E740481C1C}">
                <a14:useLocalDpi xmlns:a14="http://schemas.microsoft.com/office/drawing/2010/main" val="0"/>
              </a:ext>
            </a:extLst>
          </a:blip>
          <a:srcRect b="25026"/>
          <a:stretch/>
        </p:blipFill>
        <p:spPr>
          <a:xfrm>
            <a:off x="0" y="0"/>
            <a:ext cx="12192000" cy="6858000"/>
          </a:xfrm>
          <a:prstGeom prst="rect">
            <a:avLst/>
          </a:prstGeom>
        </p:spPr>
      </p:pic>
      <p:pic>
        <p:nvPicPr>
          <p:cNvPr id="3" name="図 2">
            <a:extLst>
              <a:ext uri="{FF2B5EF4-FFF2-40B4-BE49-F238E27FC236}">
                <a16:creationId xmlns:a16="http://schemas.microsoft.com/office/drawing/2014/main" id="{08BF6112-0F9A-4863-B774-107D6D0D1E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4" name="テキスト ボックス 3">
            <a:extLst>
              <a:ext uri="{FF2B5EF4-FFF2-40B4-BE49-F238E27FC236}">
                <a16:creationId xmlns:a16="http://schemas.microsoft.com/office/drawing/2014/main" id="{7DED83CF-4466-4DA9-830C-8AEB03DC8BEF}"/>
              </a:ext>
            </a:extLst>
          </p:cNvPr>
          <p:cNvSpPr txBox="1"/>
          <p:nvPr/>
        </p:nvSpPr>
        <p:spPr>
          <a:xfrm>
            <a:off x="653972" y="136423"/>
            <a:ext cx="479698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２０２５年度　内定率</a:t>
            </a:r>
          </a:p>
        </p:txBody>
      </p:sp>
      <p:sp>
        <p:nvSpPr>
          <p:cNvPr id="8" name="テキスト プレースホルダー 7">
            <a:extLst>
              <a:ext uri="{FF2B5EF4-FFF2-40B4-BE49-F238E27FC236}">
                <a16:creationId xmlns:a16="http://schemas.microsoft.com/office/drawing/2014/main" id="{07397760-D221-4C9F-9D73-DA839A336375}"/>
              </a:ext>
            </a:extLst>
          </p:cNvPr>
          <p:cNvSpPr txBox="1">
            <a:spLocks/>
          </p:cNvSpPr>
          <p:nvPr/>
        </p:nvSpPr>
        <p:spPr>
          <a:xfrm>
            <a:off x="1719098" y="1220980"/>
            <a:ext cx="10640375" cy="5014127"/>
          </a:xfrm>
          <a:prstGeom prst="rect">
            <a:avLst/>
          </a:prstGeom>
        </p:spPr>
        <p:txBody>
          <a:bodyPr rtlCol="0"/>
          <a:lstStyle>
            <a:lvl1pPr marL="266700" indent="-266700" algn="l" defTabSz="914400" rtl="0" eaLnBrk="1" latinLnBrk="0" hangingPunct="1">
              <a:lnSpc>
                <a:spcPct val="100000"/>
              </a:lnSpc>
              <a:spcBef>
                <a:spcPts val="1000"/>
              </a:spcBef>
              <a:spcAft>
                <a:spcPts val="500"/>
              </a:spcAft>
              <a:buClr>
                <a:schemeClr val="accent1"/>
              </a:buClr>
              <a:buFont typeface="Arial" panose="020B0604020202020204" pitchFamily="34" charset="0"/>
              <a:buChar char="○"/>
              <a:defRPr kumimoji="1" sz="1800" kern="1200" baseline="0">
                <a:solidFill>
                  <a:schemeClr val="tx2"/>
                </a:solidFill>
                <a:latin typeface="Meiryo UI" panose="020B0604030504040204" pitchFamily="50" charset="-128"/>
                <a:ea typeface="Meiryo UI" panose="020B0604030504040204" pitchFamily="50" charset="-128"/>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kumimoji="1" sz="1600" kern="1200" baseline="0">
                <a:solidFill>
                  <a:schemeClr val="tx2"/>
                </a:solidFill>
                <a:latin typeface="Meiryo UI" panose="020B0604030504040204" pitchFamily="50" charset="-128"/>
                <a:ea typeface="Meiryo UI" panose="020B0604030504040204" pitchFamily="50" charset="-128"/>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kumimoji="1" sz="1600" kern="1200" baseline="0">
                <a:solidFill>
                  <a:schemeClr val="tx2"/>
                </a:solidFill>
                <a:latin typeface="Meiryo UI" panose="020B0604030504040204" pitchFamily="50" charset="-128"/>
                <a:ea typeface="Meiryo UI" panose="020B0604030504040204" pitchFamily="50" charset="-128"/>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kumimoji="1" sz="1400" kern="1200" baseline="0">
                <a:solidFill>
                  <a:schemeClr val="tx2"/>
                </a:solidFill>
                <a:latin typeface="Meiryo UI" panose="020B0604030504040204" pitchFamily="50" charset="-128"/>
                <a:ea typeface="Meiryo UI" panose="020B0604030504040204" pitchFamily="50" charset="-128"/>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kumimoji="1" sz="1200" kern="1200" baseline="0">
                <a:solidFill>
                  <a:schemeClr val="tx2"/>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4800" noProof="1">
                <a:solidFill>
                  <a:schemeClr val="tx1"/>
                </a:solidFill>
                <a:latin typeface="HGPｺﾞｼｯｸE" panose="020B0900000000000000" pitchFamily="50" charset="-128"/>
                <a:ea typeface="HGPｺﾞｼｯｸE" panose="020B0900000000000000" pitchFamily="50" charset="-128"/>
              </a:rPr>
              <a:t>全国平均　　５６％</a:t>
            </a:r>
            <a:endParaRPr lang="en-US" altLang="ja-JP" sz="4800" noProof="1">
              <a:solidFill>
                <a:schemeClr val="tx1"/>
              </a:solidFill>
              <a:latin typeface="HGPｺﾞｼｯｸE" panose="020B0900000000000000" pitchFamily="50" charset="-128"/>
              <a:ea typeface="HGPｺﾞｼｯｸE" panose="020B0900000000000000" pitchFamily="50" charset="-128"/>
            </a:endParaRPr>
          </a:p>
          <a:p>
            <a:pPr marL="0" indent="0">
              <a:buNone/>
            </a:pPr>
            <a:r>
              <a:rPr lang="ja-JP" altLang="en-US" sz="4800" noProof="1">
                <a:solidFill>
                  <a:schemeClr val="tx1"/>
                </a:solidFill>
                <a:latin typeface="HGPｺﾞｼｯｸE" panose="020B0900000000000000" pitchFamily="50" charset="-128"/>
                <a:ea typeface="HGPｺﾞｼｯｸE" panose="020B0900000000000000" pitchFamily="50" charset="-128"/>
              </a:rPr>
              <a:t>九州全体　　５３％</a:t>
            </a:r>
            <a:endParaRPr lang="en-US" altLang="ja-JP" sz="4800" noProof="1">
              <a:solidFill>
                <a:schemeClr val="tx1"/>
              </a:solidFill>
              <a:latin typeface="HGPｺﾞｼｯｸE" panose="020B0900000000000000" pitchFamily="50" charset="-128"/>
              <a:ea typeface="HGPｺﾞｼｯｸE" panose="020B0900000000000000" pitchFamily="50" charset="-128"/>
            </a:endParaRPr>
          </a:p>
          <a:p>
            <a:pPr marL="0" indent="0">
              <a:buNone/>
            </a:pPr>
            <a:endParaRPr lang="en-US" altLang="ja-JP" sz="4800" noProof="1">
              <a:solidFill>
                <a:schemeClr val="tx1"/>
              </a:solidFill>
              <a:latin typeface="HGPｺﾞｼｯｸE" panose="020B0900000000000000" pitchFamily="50" charset="-128"/>
              <a:ea typeface="HGPｺﾞｼｯｸE" panose="020B0900000000000000" pitchFamily="50" charset="-128"/>
            </a:endParaRPr>
          </a:p>
          <a:p>
            <a:pPr marL="0" indent="0">
              <a:buNone/>
            </a:pPr>
            <a:r>
              <a:rPr lang="ja-JP" altLang="en-US" sz="4800" noProof="1">
                <a:solidFill>
                  <a:schemeClr val="tx1"/>
                </a:solidFill>
                <a:latin typeface="HGPｺﾞｼｯｸE" panose="020B0900000000000000" pitchFamily="50" charset="-128"/>
                <a:ea typeface="HGPｺﾞｼｯｸE" panose="020B0900000000000000" pitchFamily="50" charset="-128"/>
              </a:rPr>
              <a:t>福岡校　内定率　　　　</a:t>
            </a:r>
            <a:r>
              <a:rPr lang="ja-JP" altLang="en-US" sz="4800" noProof="1">
                <a:solidFill>
                  <a:srgbClr val="FF3300"/>
                </a:solidFill>
                <a:latin typeface="HGPｺﾞｼｯｸE" panose="020B0900000000000000" pitchFamily="50" charset="-128"/>
                <a:ea typeface="HGPｺﾞｼｯｸE" panose="020B0900000000000000" pitchFamily="50" charset="-128"/>
              </a:rPr>
              <a:t>８０％越え</a:t>
            </a:r>
            <a:endParaRPr lang="en-US" altLang="ja-JP" sz="4800" noProof="1">
              <a:solidFill>
                <a:srgbClr val="FF3300"/>
              </a:solidFill>
              <a:latin typeface="HGPｺﾞｼｯｸE" panose="020B0900000000000000" pitchFamily="50" charset="-128"/>
              <a:ea typeface="HGPｺﾞｼｯｸE" panose="020B0900000000000000" pitchFamily="50" charset="-128"/>
            </a:endParaRPr>
          </a:p>
          <a:p>
            <a:pPr marL="0" indent="0">
              <a:buNone/>
            </a:pPr>
            <a:r>
              <a:rPr lang="ja-JP" altLang="en-US" sz="4800" noProof="1">
                <a:solidFill>
                  <a:schemeClr val="tx1"/>
                </a:solidFill>
                <a:latin typeface="HGPｺﾞｼｯｸE" panose="020B0900000000000000" pitchFamily="50" charset="-128"/>
                <a:ea typeface="HGPｺﾞｼｯｸE" panose="020B0900000000000000" pitchFamily="50" charset="-128"/>
              </a:rPr>
              <a:t>　　　　　 内定承諾者　</a:t>
            </a:r>
            <a:r>
              <a:rPr lang="ja-JP" altLang="en-US" sz="4800" noProof="1">
                <a:solidFill>
                  <a:srgbClr val="FF3300"/>
                </a:solidFill>
                <a:latin typeface="HGPｺﾞｼｯｸE" panose="020B0900000000000000" pitchFamily="50" charset="-128"/>
                <a:ea typeface="HGPｺﾞｼｯｸE" panose="020B0900000000000000" pitchFamily="50" charset="-128"/>
              </a:rPr>
              <a:t>７４％</a:t>
            </a:r>
          </a:p>
        </p:txBody>
      </p:sp>
      <p:sp>
        <p:nvSpPr>
          <p:cNvPr id="9" name="テキスト プレースホルダー 4">
            <a:extLst>
              <a:ext uri="{FF2B5EF4-FFF2-40B4-BE49-F238E27FC236}">
                <a16:creationId xmlns:a16="http://schemas.microsoft.com/office/drawing/2014/main" id="{0C1CE369-4910-45FA-92B8-7A09313FAD08}"/>
              </a:ext>
            </a:extLst>
          </p:cNvPr>
          <p:cNvSpPr txBox="1">
            <a:spLocks/>
          </p:cNvSpPr>
          <p:nvPr/>
        </p:nvSpPr>
        <p:spPr>
          <a:xfrm>
            <a:off x="4019062" y="6186553"/>
            <a:ext cx="1980000" cy="36000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spcBef>
                <a:spcPts val="600"/>
              </a:spcBef>
              <a:buNone/>
            </a:pPr>
            <a:r>
              <a:rPr lang="en-US" altLang="ja-JP" sz="2000" b="1" dirty="0">
                <a:latin typeface="HGPｺﾞｼｯｸE" panose="020B0900000000000000" pitchFamily="50" charset="-128"/>
                <a:ea typeface="HGPｺﾞｼｯｸE" panose="020B0900000000000000" pitchFamily="50" charset="-128"/>
              </a:rPr>
              <a:t>※ 6/16</a:t>
            </a:r>
            <a:r>
              <a:rPr lang="ja-JP" altLang="en-US" sz="2000" b="1" dirty="0">
                <a:latin typeface="HGPｺﾞｼｯｸE" panose="020B0900000000000000" pitchFamily="50" charset="-128"/>
                <a:ea typeface="HGPｺﾞｼｯｸE" panose="020B0900000000000000" pitchFamily="50" charset="-128"/>
              </a:rPr>
              <a:t>　現在</a:t>
            </a:r>
          </a:p>
        </p:txBody>
      </p:sp>
    </p:spTree>
    <p:extLst>
      <p:ext uri="{BB962C8B-B14F-4D97-AF65-F5344CB8AC3E}">
        <p14:creationId xmlns:p14="http://schemas.microsoft.com/office/powerpoint/2010/main" val="1539438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3855117B-FB2A-4C27-B9E5-9D7BC3F439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38668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sp>
        <p:nvSpPr>
          <p:cNvPr id="30" name="フローチャート: 代替処理 29">
            <a:extLst>
              <a:ext uri="{FF2B5EF4-FFF2-40B4-BE49-F238E27FC236}">
                <a16:creationId xmlns:a16="http://schemas.microsoft.com/office/drawing/2014/main" id="{7D9E4654-E42F-4CE5-B9F0-7FA3327660AC}"/>
              </a:ext>
            </a:extLst>
          </p:cNvPr>
          <p:cNvSpPr/>
          <p:nvPr/>
        </p:nvSpPr>
        <p:spPr>
          <a:xfrm>
            <a:off x="524933" y="747896"/>
            <a:ext cx="11074400" cy="1800000"/>
          </a:xfrm>
          <a:prstGeom prst="flowChartAlternateProcess">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HGPｺﾞｼｯｸE" panose="020B0900000000000000" pitchFamily="50" charset="-128"/>
              <a:ea typeface="HGPｺﾞｼｯｸE" panose="020B0900000000000000" pitchFamily="50" charset="-128"/>
            </a:endParaRPr>
          </a:p>
        </p:txBody>
      </p:sp>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grpSp>
        <p:nvGrpSpPr>
          <p:cNvPr id="6" name="グループ化 5"/>
          <p:cNvGrpSpPr/>
          <p:nvPr/>
        </p:nvGrpSpPr>
        <p:grpSpPr>
          <a:xfrm>
            <a:off x="706087" y="2862943"/>
            <a:ext cx="11020993" cy="3850958"/>
            <a:chOff x="323850" y="1298741"/>
            <a:chExt cx="4248150" cy="3529287"/>
          </a:xfrm>
        </p:grpSpPr>
        <p:sp>
          <p:nvSpPr>
            <p:cNvPr id="7" name="正方形/長方形 6"/>
            <p:cNvSpPr/>
            <p:nvPr/>
          </p:nvSpPr>
          <p:spPr>
            <a:xfrm>
              <a:off x="323850" y="1298741"/>
              <a:ext cx="4248150" cy="3529287"/>
            </a:xfrm>
            <a:prstGeom prst="rect">
              <a:avLst/>
            </a:prstGeom>
            <a:solidFill>
              <a:srgbClr val="FFFFFF"/>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solidFill>
                <a:latin typeface="HGPｺﾞｼｯｸE" panose="020B0900000000000000" pitchFamily="50" charset="-128"/>
                <a:ea typeface="HGPｺﾞｼｯｸE" panose="020B0900000000000000" pitchFamily="50" charset="-128"/>
              </a:endParaRPr>
            </a:p>
          </p:txBody>
        </p:sp>
        <p:sp>
          <p:nvSpPr>
            <p:cNvPr id="8" name="正方形/長方形 7"/>
            <p:cNvSpPr/>
            <p:nvPr/>
          </p:nvSpPr>
          <p:spPr>
            <a:xfrm>
              <a:off x="323850" y="1298742"/>
              <a:ext cx="4248150" cy="456906"/>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ja-JP" altLang="en-US" sz="2400" b="1" dirty="0">
                  <a:solidFill>
                    <a:srgbClr val="FFFFFF"/>
                  </a:solidFill>
                  <a:latin typeface="メイリオ" panose="020B0604030504040204" pitchFamily="50" charset="-128"/>
                  <a:ea typeface="メイリオ" panose="020B0604030504040204" pitchFamily="50" charset="-128"/>
                </a:rPr>
                <a:t>ゲームクリエイター学科　</a:t>
              </a:r>
              <a:r>
                <a:rPr lang="en-US" altLang="ja-JP" sz="2400" b="1" dirty="0">
                  <a:solidFill>
                    <a:srgbClr val="FFFFFF"/>
                  </a:solidFill>
                  <a:latin typeface="メイリオ" panose="020B0604030504040204" pitchFamily="50" charset="-128"/>
                  <a:ea typeface="メイリオ" panose="020B0604030504040204" pitchFamily="50" charset="-128"/>
                </a:rPr>
                <a:t>3</a:t>
              </a:r>
              <a:r>
                <a:rPr lang="ja-JP" altLang="en-US" sz="2400" b="1" dirty="0">
                  <a:solidFill>
                    <a:srgbClr val="FFFFFF"/>
                  </a:solidFill>
                  <a:latin typeface="メイリオ" panose="020B0604030504040204" pitchFamily="50" charset="-128"/>
                  <a:ea typeface="メイリオ" panose="020B0604030504040204" pitchFamily="50" charset="-128"/>
                </a:rPr>
                <a:t>年制</a:t>
              </a:r>
            </a:p>
          </p:txBody>
        </p:sp>
      </p:grpSp>
      <p:sp>
        <p:nvSpPr>
          <p:cNvPr id="12" name="正方形/長方形 11"/>
          <p:cNvSpPr/>
          <p:nvPr/>
        </p:nvSpPr>
        <p:spPr>
          <a:xfrm>
            <a:off x="4929194" y="6011699"/>
            <a:ext cx="2720171" cy="464298"/>
          </a:xfrm>
          <a:prstGeom prst="rect">
            <a:avLst/>
          </a:prstGeom>
          <a:solidFill>
            <a:srgbClr val="FFFFFF"/>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ysClr val="windowText" lastClr="000000"/>
                </a:solidFill>
                <a:latin typeface="HGPｺﾞｼｯｸE" panose="020B0900000000000000" pitchFamily="50" charset="-128"/>
                <a:ea typeface="HGPｺﾞｼｯｸE" panose="020B0900000000000000" pitchFamily="50" charset="-128"/>
              </a:rPr>
              <a:t>入学定員　</a:t>
            </a:r>
            <a:r>
              <a:rPr lang="en-US" altLang="ja-JP" dirty="0">
                <a:solidFill>
                  <a:sysClr val="windowText" lastClr="000000"/>
                </a:solidFill>
                <a:latin typeface="HGPｺﾞｼｯｸE" panose="020B0900000000000000" pitchFamily="50" charset="-128"/>
                <a:ea typeface="HGPｺﾞｼｯｸE" panose="020B0900000000000000" pitchFamily="50" charset="-128"/>
              </a:rPr>
              <a:t>30</a:t>
            </a:r>
            <a:r>
              <a:rPr lang="ja-JP" altLang="en-US" dirty="0">
                <a:solidFill>
                  <a:sysClr val="windowText" lastClr="000000"/>
                </a:solidFill>
                <a:latin typeface="HGPｺﾞｼｯｸE" panose="020B0900000000000000" pitchFamily="50" charset="-128"/>
                <a:ea typeface="HGPｺﾞｼｯｸE" panose="020B0900000000000000" pitchFamily="50" charset="-128"/>
              </a:rPr>
              <a:t>名</a:t>
            </a:r>
          </a:p>
        </p:txBody>
      </p:sp>
      <p:grpSp>
        <p:nvGrpSpPr>
          <p:cNvPr id="14" name="グループ化 13"/>
          <p:cNvGrpSpPr/>
          <p:nvPr/>
        </p:nvGrpSpPr>
        <p:grpSpPr>
          <a:xfrm>
            <a:off x="1034891" y="3209583"/>
            <a:ext cx="3279346" cy="2645419"/>
            <a:chOff x="370419" y="424969"/>
            <a:chExt cx="5325840" cy="4569060"/>
          </a:xfrm>
        </p:grpSpPr>
        <p:grpSp>
          <p:nvGrpSpPr>
            <p:cNvPr id="15" name="グループ化 14"/>
            <p:cNvGrpSpPr/>
            <p:nvPr/>
          </p:nvGrpSpPr>
          <p:grpSpPr>
            <a:xfrm>
              <a:off x="370419" y="1016710"/>
              <a:ext cx="5325840" cy="3977319"/>
              <a:chOff x="370419" y="1016710"/>
              <a:chExt cx="5325840" cy="3977319"/>
            </a:xfrm>
          </p:grpSpPr>
          <p:sp>
            <p:nvSpPr>
              <p:cNvPr id="17" name="正方形/長方形 16"/>
              <p:cNvSpPr/>
              <p:nvPr/>
            </p:nvSpPr>
            <p:spPr>
              <a:xfrm>
                <a:off x="370419" y="1016710"/>
                <a:ext cx="5325840" cy="39773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HGPｺﾞｼｯｸE" panose="020B0900000000000000" pitchFamily="50" charset="-128"/>
                  <a:ea typeface="HGPｺﾞｼｯｸE" panose="020B0900000000000000" pitchFamily="50" charset="-128"/>
                </a:endParaRPr>
              </a:p>
            </p:txBody>
          </p:sp>
          <p:sp>
            <p:nvSpPr>
              <p:cNvPr id="18" name="テキスト ボックス 17"/>
              <p:cNvSpPr txBox="1"/>
              <p:nvPr/>
            </p:nvSpPr>
            <p:spPr>
              <a:xfrm>
                <a:off x="1846755" y="4327413"/>
                <a:ext cx="2338419" cy="622462"/>
              </a:xfrm>
              <a:prstGeom prst="rect">
                <a:avLst/>
              </a:prstGeom>
              <a:noFill/>
            </p:spPr>
            <p:txBody>
              <a:bodyPr wrap="square" rtlCol="0">
                <a:spAutoFit/>
              </a:bodyPr>
              <a:lstStyle/>
              <a:p>
                <a:r>
                  <a:rPr lang="ja-JP" altLang="en-US" sz="2000" dirty="0">
                    <a:solidFill>
                      <a:schemeClr val="bg1"/>
                    </a:solidFill>
                    <a:latin typeface="HGPｺﾞｼｯｸE" panose="020B0900000000000000" pitchFamily="50" charset="-128"/>
                    <a:ea typeface="HGPｺﾞｼｯｸE" panose="020B0900000000000000" pitchFamily="50" charset="-128"/>
                  </a:rPr>
                  <a:t>ゲーム制作</a:t>
                </a:r>
              </a:p>
            </p:txBody>
          </p:sp>
          <p:pic>
            <p:nvPicPr>
              <p:cNvPr id="19" name="図 18"/>
              <p:cNvPicPr>
                <a:picLocks noChangeAspect="1"/>
              </p:cNvPicPr>
              <p:nvPr/>
            </p:nvPicPr>
            <p:blipFill rotWithShape="1">
              <a:blip r:embed="rId5" cstate="print">
                <a:extLst>
                  <a:ext uri="{28A0092B-C50C-407E-A947-70E740481C1C}">
                    <a14:useLocalDpi xmlns:a14="http://schemas.microsoft.com/office/drawing/2010/main" val="0"/>
                  </a:ext>
                </a:extLst>
              </a:blip>
              <a:srcRect b="10353"/>
              <a:stretch/>
            </p:blipFill>
            <p:spPr>
              <a:xfrm>
                <a:off x="597491" y="1234477"/>
                <a:ext cx="4836948" cy="2883113"/>
              </a:xfrm>
              <a:prstGeom prst="rect">
                <a:avLst/>
              </a:prstGeom>
            </p:spPr>
          </p:pic>
          <p:sp>
            <p:nvSpPr>
              <p:cNvPr id="20" name="斜め縞 19"/>
              <p:cNvSpPr/>
              <p:nvPr/>
            </p:nvSpPr>
            <p:spPr>
              <a:xfrm rot="5400000">
                <a:off x="3920452" y="1056919"/>
                <a:ext cx="1816013" cy="1735600"/>
              </a:xfrm>
              <a:prstGeom prst="diagStripe">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solidFill>
                  <a:latin typeface="HGPｺﾞｼｯｸE" panose="020B0900000000000000" pitchFamily="50" charset="-128"/>
                  <a:ea typeface="HGPｺﾞｼｯｸE" panose="020B0900000000000000" pitchFamily="50" charset="-128"/>
                </a:endParaRPr>
              </a:p>
            </p:txBody>
          </p:sp>
        </p:grpSp>
        <p:sp>
          <p:nvSpPr>
            <p:cNvPr id="16" name="正方形/長方形 15"/>
            <p:cNvSpPr/>
            <p:nvPr/>
          </p:nvSpPr>
          <p:spPr>
            <a:xfrm rot="2775928">
              <a:off x="3663095" y="1392813"/>
              <a:ext cx="2662949" cy="727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bg1"/>
                  </a:solidFill>
                  <a:latin typeface="HGPｺﾞｼｯｸE" panose="020B0900000000000000" pitchFamily="50" charset="-128"/>
                  <a:ea typeface="HGPｺﾞｼｯｸE" panose="020B0900000000000000" pitchFamily="50" charset="-128"/>
                </a:rPr>
                <a:t>3</a:t>
              </a:r>
              <a:r>
                <a:rPr lang="ja-JP" altLang="en-US" dirty="0">
                  <a:solidFill>
                    <a:schemeClr val="bg1"/>
                  </a:solidFill>
                  <a:latin typeface="HGPｺﾞｼｯｸE" panose="020B0900000000000000" pitchFamily="50" charset="-128"/>
                  <a:ea typeface="HGPｺﾞｼｯｸE" panose="020B0900000000000000" pitchFamily="50" charset="-128"/>
                </a:rPr>
                <a:t>年制</a:t>
              </a:r>
            </a:p>
          </p:txBody>
        </p:sp>
      </p:grpSp>
      <p:grpSp>
        <p:nvGrpSpPr>
          <p:cNvPr id="21" name="グループ化 20"/>
          <p:cNvGrpSpPr/>
          <p:nvPr/>
        </p:nvGrpSpPr>
        <p:grpSpPr>
          <a:xfrm>
            <a:off x="4621386" y="3186021"/>
            <a:ext cx="3335790" cy="2668982"/>
            <a:chOff x="6327087" y="424969"/>
            <a:chExt cx="5325841" cy="4569062"/>
          </a:xfrm>
        </p:grpSpPr>
        <p:grpSp>
          <p:nvGrpSpPr>
            <p:cNvPr id="22" name="グループ化 21"/>
            <p:cNvGrpSpPr/>
            <p:nvPr/>
          </p:nvGrpSpPr>
          <p:grpSpPr>
            <a:xfrm>
              <a:off x="6327087" y="1016711"/>
              <a:ext cx="5325841" cy="3977320"/>
              <a:chOff x="6327087" y="1016711"/>
              <a:chExt cx="5325841" cy="3977320"/>
            </a:xfrm>
          </p:grpSpPr>
          <p:sp>
            <p:nvSpPr>
              <p:cNvPr id="24" name="正方形/長方形 23"/>
              <p:cNvSpPr/>
              <p:nvPr/>
            </p:nvSpPr>
            <p:spPr>
              <a:xfrm>
                <a:off x="6327087" y="1016711"/>
                <a:ext cx="5325841" cy="3977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HGPｺﾞｼｯｸE" panose="020B0900000000000000" pitchFamily="50" charset="-128"/>
                  <a:ea typeface="HGPｺﾞｼｯｸE" panose="020B0900000000000000" pitchFamily="50" charset="-128"/>
                </a:endParaRPr>
              </a:p>
            </p:txBody>
          </p:sp>
          <p:sp>
            <p:nvSpPr>
              <p:cNvPr id="25" name="テキスト ボックス 24"/>
              <p:cNvSpPr txBox="1"/>
              <p:nvPr/>
            </p:nvSpPr>
            <p:spPr>
              <a:xfrm>
                <a:off x="7720705" y="4303303"/>
                <a:ext cx="3304949" cy="611930"/>
              </a:xfrm>
              <a:prstGeom prst="rect">
                <a:avLst/>
              </a:prstGeom>
              <a:noFill/>
            </p:spPr>
            <p:txBody>
              <a:bodyPr wrap="square" rtlCol="0">
                <a:spAutoFit/>
              </a:bodyPr>
              <a:lstStyle/>
              <a:p>
                <a:r>
                  <a:rPr lang="ja-JP" altLang="en-US" sz="2000" dirty="0">
                    <a:solidFill>
                      <a:schemeClr val="bg1"/>
                    </a:solidFill>
                    <a:latin typeface="HGPｺﾞｼｯｸE" panose="020B0900000000000000" pitchFamily="50" charset="-128"/>
                    <a:ea typeface="HGPｺﾞｼｯｸE" panose="020B0900000000000000" pitchFamily="50" charset="-128"/>
                  </a:rPr>
                  <a:t>ＣＧ・映像制作</a:t>
                </a:r>
              </a:p>
            </p:txBody>
          </p:sp>
          <p:pic>
            <p:nvPicPr>
              <p:cNvPr id="26" name="図 25"/>
              <p:cNvPicPr>
                <a:picLocks noChangeAspect="1"/>
              </p:cNvPicPr>
              <p:nvPr/>
            </p:nvPicPr>
            <p:blipFill rotWithShape="1">
              <a:blip r:embed="rId6" cstate="print">
                <a:extLst>
                  <a:ext uri="{28A0092B-C50C-407E-A947-70E740481C1C}">
                    <a14:useLocalDpi xmlns:a14="http://schemas.microsoft.com/office/drawing/2010/main" val="0"/>
                  </a:ext>
                </a:extLst>
              </a:blip>
              <a:srcRect l="14183" t="2880" r="503" b="7608"/>
              <a:stretch/>
            </p:blipFill>
            <p:spPr>
              <a:xfrm>
                <a:off x="6546013" y="1232875"/>
                <a:ext cx="4887988" cy="2884715"/>
              </a:xfrm>
              <a:prstGeom prst="rect">
                <a:avLst/>
              </a:prstGeom>
            </p:spPr>
          </p:pic>
          <p:sp>
            <p:nvSpPr>
              <p:cNvPr id="27" name="斜め縞 26"/>
              <p:cNvSpPr/>
              <p:nvPr/>
            </p:nvSpPr>
            <p:spPr>
              <a:xfrm rot="5400000">
                <a:off x="9877120" y="1056919"/>
                <a:ext cx="1816013" cy="1735600"/>
              </a:xfrm>
              <a:prstGeom prst="diagStripe">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solidFill>
                  <a:latin typeface="HGPｺﾞｼｯｸE" panose="020B0900000000000000" pitchFamily="50" charset="-128"/>
                  <a:ea typeface="HGPｺﾞｼｯｸE" panose="020B0900000000000000" pitchFamily="50" charset="-128"/>
                </a:endParaRPr>
              </a:p>
            </p:txBody>
          </p:sp>
        </p:grpSp>
        <p:sp>
          <p:nvSpPr>
            <p:cNvPr id="23" name="正方形/長方形 22"/>
            <p:cNvSpPr/>
            <p:nvPr/>
          </p:nvSpPr>
          <p:spPr>
            <a:xfrm rot="2775928">
              <a:off x="9619763" y="1392813"/>
              <a:ext cx="2662949" cy="727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bg1"/>
                  </a:solidFill>
                  <a:latin typeface="HGPｺﾞｼｯｸE" panose="020B0900000000000000" pitchFamily="50" charset="-128"/>
                  <a:ea typeface="HGPｺﾞｼｯｸE" panose="020B0900000000000000" pitchFamily="50" charset="-128"/>
                </a:rPr>
                <a:t>3</a:t>
              </a:r>
              <a:r>
                <a:rPr lang="ja-JP" altLang="en-US" dirty="0">
                  <a:solidFill>
                    <a:schemeClr val="bg1"/>
                  </a:solidFill>
                  <a:latin typeface="HGPｺﾞｼｯｸE" panose="020B0900000000000000" pitchFamily="50" charset="-128"/>
                  <a:ea typeface="HGPｺﾞｼｯｸE" panose="020B0900000000000000" pitchFamily="50" charset="-128"/>
                </a:rPr>
                <a:t>年制</a:t>
              </a:r>
            </a:p>
          </p:txBody>
        </p:sp>
      </p:grpSp>
      <p:sp>
        <p:nvSpPr>
          <p:cNvPr id="28" name="正方形/長方形 27"/>
          <p:cNvSpPr/>
          <p:nvPr/>
        </p:nvSpPr>
        <p:spPr>
          <a:xfrm>
            <a:off x="1314478" y="6010334"/>
            <a:ext cx="2720171" cy="464298"/>
          </a:xfrm>
          <a:prstGeom prst="rect">
            <a:avLst/>
          </a:prstGeom>
          <a:solidFill>
            <a:srgbClr val="FFFFFF"/>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ysClr val="windowText" lastClr="000000"/>
                </a:solidFill>
                <a:latin typeface="HGPｺﾞｼｯｸE" panose="020B0900000000000000" pitchFamily="50" charset="-128"/>
                <a:ea typeface="HGPｺﾞｼｯｸE" panose="020B0900000000000000" pitchFamily="50" charset="-128"/>
              </a:rPr>
              <a:t>入学定員　</a:t>
            </a:r>
            <a:r>
              <a:rPr lang="en-US" altLang="ja-JP" dirty="0">
                <a:solidFill>
                  <a:sysClr val="windowText" lastClr="000000"/>
                </a:solidFill>
                <a:latin typeface="HGPｺﾞｼｯｸE" panose="020B0900000000000000" pitchFamily="50" charset="-128"/>
                <a:ea typeface="HGPｺﾞｼｯｸE" panose="020B0900000000000000" pitchFamily="50" charset="-128"/>
              </a:rPr>
              <a:t>30</a:t>
            </a:r>
            <a:r>
              <a:rPr lang="ja-JP" altLang="en-US" dirty="0">
                <a:solidFill>
                  <a:sysClr val="windowText" lastClr="000000"/>
                </a:solidFill>
                <a:latin typeface="HGPｺﾞｼｯｸE" panose="020B0900000000000000" pitchFamily="50" charset="-128"/>
                <a:ea typeface="HGPｺﾞｼｯｸE" panose="020B0900000000000000" pitchFamily="50" charset="-128"/>
              </a:rPr>
              <a:t>名</a:t>
            </a:r>
          </a:p>
        </p:txBody>
      </p:sp>
      <p:sp>
        <p:nvSpPr>
          <p:cNvPr id="35" name="テキスト ボックス 34"/>
          <p:cNvSpPr txBox="1"/>
          <p:nvPr/>
        </p:nvSpPr>
        <p:spPr>
          <a:xfrm>
            <a:off x="912271" y="1285476"/>
            <a:ext cx="10053271" cy="1200329"/>
          </a:xfrm>
          <a:prstGeom prst="rect">
            <a:avLst/>
          </a:prstGeom>
          <a:noFill/>
        </p:spPr>
        <p:txBody>
          <a:bodyPr wrap="square" rtlCol="0">
            <a:spAutoFit/>
          </a:bodyPr>
          <a:lstStyle/>
          <a:p>
            <a:r>
              <a:rPr lang="ja-JP" altLang="en-US" sz="2400" dirty="0">
                <a:latin typeface="HGPｺﾞｼｯｸE" panose="020B0900000000000000" pitchFamily="50" charset="-128"/>
                <a:ea typeface="HGPｺﾞｼｯｸE" panose="020B0900000000000000" pitchFamily="50" charset="-128"/>
              </a:rPr>
              <a:t>①豊富な実習量で専門的なスキルが身につく</a:t>
            </a:r>
          </a:p>
          <a:p>
            <a:r>
              <a:rPr lang="ja-JP" altLang="en-US" sz="2400" dirty="0">
                <a:latin typeface="HGPｺﾞｼｯｸE" panose="020B0900000000000000" pitchFamily="50" charset="-128"/>
                <a:ea typeface="HGPｺﾞｼｯｸE" panose="020B0900000000000000" pitchFamily="50" charset="-128"/>
              </a:rPr>
              <a:t>②現場で使える技術を自然と身に付けることができるカリキュラム編成</a:t>
            </a:r>
            <a:endParaRPr lang="en-US" altLang="ja-JP" sz="2400" dirty="0">
              <a:latin typeface="HGPｺﾞｼｯｸE" panose="020B0900000000000000" pitchFamily="50" charset="-128"/>
              <a:ea typeface="HGPｺﾞｼｯｸE" panose="020B0900000000000000" pitchFamily="50" charset="-128"/>
            </a:endParaRPr>
          </a:p>
          <a:p>
            <a:r>
              <a:rPr lang="ja-JP" altLang="en-US" sz="2400" dirty="0">
                <a:latin typeface="HGPｺﾞｼｯｸE" panose="020B0900000000000000" pitchFamily="50" charset="-128"/>
                <a:ea typeface="HGPｺﾞｼｯｸE" panose="020B0900000000000000" pitchFamily="50" charset="-128"/>
              </a:rPr>
              <a:t>③チーム制作を経験し業界での即戦力を目指す</a:t>
            </a:r>
          </a:p>
        </p:txBody>
      </p:sp>
      <p:sp>
        <p:nvSpPr>
          <p:cNvPr id="31" name="テキスト ボックス 30">
            <a:extLst>
              <a:ext uri="{FF2B5EF4-FFF2-40B4-BE49-F238E27FC236}">
                <a16:creationId xmlns:a16="http://schemas.microsoft.com/office/drawing/2014/main" id="{DB716233-083C-43CC-A82D-52065D7B2524}"/>
              </a:ext>
            </a:extLst>
          </p:cNvPr>
          <p:cNvSpPr txBox="1"/>
          <p:nvPr/>
        </p:nvSpPr>
        <p:spPr>
          <a:xfrm>
            <a:off x="780470" y="792021"/>
            <a:ext cx="6417584" cy="523220"/>
          </a:xfrm>
          <a:prstGeom prst="rect">
            <a:avLst/>
          </a:prstGeom>
          <a:noFill/>
        </p:spPr>
        <p:txBody>
          <a:bodyPr wrap="square" rtlCol="0">
            <a:spAutoFit/>
          </a:bodyPr>
          <a:lstStyle/>
          <a:p>
            <a:r>
              <a:rPr lang="ja-JP" altLang="en-US" sz="2800" b="1" dirty="0">
                <a:solidFill>
                  <a:srgbClr val="FF9900"/>
                </a:solidFill>
                <a:latin typeface="HGPｺﾞｼｯｸE" panose="020B0900000000000000" pitchFamily="50" charset="-128"/>
                <a:ea typeface="HGPｺﾞｼｯｸE" panose="020B0900000000000000" pitchFamily="50" charset="-128"/>
              </a:rPr>
              <a:t>実践力・スキルが身につくカリキュラム</a:t>
            </a:r>
          </a:p>
        </p:txBody>
      </p:sp>
      <p:sp>
        <p:nvSpPr>
          <p:cNvPr id="32" name="正方形/長方形 31">
            <a:extLst>
              <a:ext uri="{FF2B5EF4-FFF2-40B4-BE49-F238E27FC236}">
                <a16:creationId xmlns:a16="http://schemas.microsoft.com/office/drawing/2014/main" id="{0D0F70B4-CA74-4AFE-AD05-A234050B4BCD}"/>
              </a:ext>
            </a:extLst>
          </p:cNvPr>
          <p:cNvSpPr/>
          <p:nvPr/>
        </p:nvSpPr>
        <p:spPr>
          <a:xfrm>
            <a:off x="8257756" y="3678810"/>
            <a:ext cx="3147917" cy="2579533"/>
          </a:xfrm>
          <a:prstGeom prst="rect">
            <a:avLst/>
          </a:prstGeom>
          <a:solidFill>
            <a:srgbClr val="FFFFFF"/>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　</a:t>
            </a:r>
            <a:r>
              <a:rPr lang="en-US" altLang="ja-JP" sz="2400" dirty="0">
                <a:solidFill>
                  <a:sysClr val="windowText" lastClr="000000"/>
                </a:solidFill>
                <a:latin typeface="HGPｺﾞｼｯｸE" panose="020B0900000000000000" pitchFamily="50" charset="-128"/>
                <a:ea typeface="HGPｺﾞｼｯｸE" panose="020B0900000000000000" pitchFamily="50" charset="-128"/>
              </a:rPr>
              <a:t>【</a:t>
            </a:r>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エクステンション</a:t>
            </a:r>
            <a:r>
              <a:rPr lang="en-US" altLang="ja-JP" sz="2400" dirty="0">
                <a:solidFill>
                  <a:sysClr val="windowText" lastClr="000000"/>
                </a:solidFill>
                <a:latin typeface="HGPｺﾞｼｯｸE" panose="020B0900000000000000" pitchFamily="50" charset="-128"/>
                <a:ea typeface="HGPｺﾞｼｯｸE" panose="020B0900000000000000" pitchFamily="50" charset="-128"/>
              </a:rPr>
              <a:t>】</a:t>
            </a:r>
          </a:p>
          <a:p>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　 ・ゲーム開発部</a:t>
            </a:r>
            <a:endParaRPr lang="en-US" altLang="ja-JP" sz="2400" dirty="0">
              <a:solidFill>
                <a:sysClr val="windowText" lastClr="000000"/>
              </a:solidFill>
              <a:latin typeface="HGPｺﾞｼｯｸE" panose="020B0900000000000000" pitchFamily="50" charset="-128"/>
              <a:ea typeface="HGPｺﾞｼｯｸE" panose="020B0900000000000000" pitchFamily="50" charset="-128"/>
            </a:endParaRPr>
          </a:p>
          <a:p>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　 ・</a:t>
            </a:r>
            <a:r>
              <a:rPr lang="en-US" altLang="ja-JP" sz="2400" dirty="0">
                <a:solidFill>
                  <a:sysClr val="windowText" lastClr="000000"/>
                </a:solidFill>
                <a:latin typeface="HGPｺﾞｼｯｸE" panose="020B0900000000000000" pitchFamily="50" charset="-128"/>
                <a:ea typeface="HGPｺﾞｼｯｸE" panose="020B0900000000000000" pitchFamily="50" charset="-128"/>
              </a:rPr>
              <a:t>e</a:t>
            </a:r>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スポーツ部</a:t>
            </a:r>
            <a:endParaRPr lang="en-US" altLang="ja-JP" sz="2400" dirty="0">
              <a:solidFill>
                <a:sysClr val="windowText" lastClr="000000"/>
              </a:solidFill>
              <a:latin typeface="HGPｺﾞｼｯｸE" panose="020B0900000000000000" pitchFamily="50" charset="-128"/>
              <a:ea typeface="HGPｺﾞｼｯｸE" panose="020B0900000000000000" pitchFamily="50" charset="-128"/>
            </a:endParaRPr>
          </a:p>
          <a:p>
            <a:r>
              <a:rPr lang="ja-JP" altLang="en-US" sz="2400" dirty="0">
                <a:solidFill>
                  <a:sysClr val="windowText" lastClr="000000"/>
                </a:solidFill>
                <a:latin typeface="HGPｺﾞｼｯｸE" panose="020B0900000000000000" pitchFamily="50" charset="-128"/>
                <a:ea typeface="HGPｺﾞｼｯｸE" panose="020B0900000000000000" pitchFamily="50" charset="-128"/>
              </a:rPr>
              <a:t>　 ・プログラミング部</a:t>
            </a:r>
            <a:endParaRPr lang="en-US" altLang="ja-JP" sz="2400" dirty="0">
              <a:solidFill>
                <a:sysClr val="windowText" lastClr="000000"/>
              </a:solidFill>
              <a:latin typeface="HGPｺﾞｼｯｸE" panose="020B0900000000000000" pitchFamily="50" charset="-128"/>
              <a:ea typeface="HGPｺﾞｼｯｸE" panose="020B0900000000000000" pitchFamily="50" charset="-128"/>
            </a:endParaRPr>
          </a:p>
          <a:p>
            <a:r>
              <a:rPr lang="en-US" altLang="ja-JP" dirty="0">
                <a:solidFill>
                  <a:sysClr val="windowText" lastClr="000000"/>
                </a:solidFill>
                <a:latin typeface="HGPｺﾞｼｯｸE" panose="020B0900000000000000" pitchFamily="50" charset="-128"/>
                <a:ea typeface="HGPｺﾞｼｯｸE" panose="020B0900000000000000" pitchFamily="50" charset="-128"/>
              </a:rPr>
              <a:t>					</a:t>
            </a:r>
            <a:r>
              <a:rPr lang="ja-JP" altLang="en-US" dirty="0">
                <a:solidFill>
                  <a:sysClr val="windowText" lastClr="000000"/>
                </a:solidFill>
                <a:latin typeface="HGPｺﾞｼｯｸE" panose="020B0900000000000000" pitchFamily="50" charset="-128"/>
                <a:ea typeface="HGPｺﾞｼｯｸE" panose="020B0900000000000000" pitchFamily="50" charset="-128"/>
              </a:rPr>
              <a:t>　  等</a:t>
            </a:r>
          </a:p>
        </p:txBody>
      </p:sp>
      <p:sp>
        <p:nvSpPr>
          <p:cNvPr id="39" name="テキスト ボックス 38">
            <a:extLst>
              <a:ext uri="{FF2B5EF4-FFF2-40B4-BE49-F238E27FC236}">
                <a16:creationId xmlns:a16="http://schemas.microsoft.com/office/drawing/2014/main" id="{7B3EC41B-394C-4422-BC80-B6C3FF7D3D25}"/>
              </a:ext>
            </a:extLst>
          </p:cNvPr>
          <p:cNvSpPr txBox="1"/>
          <p:nvPr/>
        </p:nvSpPr>
        <p:spPr>
          <a:xfrm>
            <a:off x="664021" y="136423"/>
            <a:ext cx="5118712"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設置コース（クリエイター学科）</a:t>
            </a:r>
          </a:p>
        </p:txBody>
      </p:sp>
    </p:spTree>
    <p:extLst>
      <p:ext uri="{BB962C8B-B14F-4D97-AF65-F5344CB8AC3E}">
        <p14:creationId xmlns:p14="http://schemas.microsoft.com/office/powerpoint/2010/main" val="3971856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cxnSp>
        <p:nvCxnSpPr>
          <p:cNvPr id="3" name="直線コネクタ 2"/>
          <p:cNvCxnSpPr/>
          <p:nvPr/>
        </p:nvCxnSpPr>
        <p:spPr>
          <a:xfrm>
            <a:off x="307051" y="1273354"/>
            <a:ext cx="287508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4" name="テキスト ボックス 33"/>
          <p:cNvSpPr txBox="1"/>
          <p:nvPr/>
        </p:nvSpPr>
        <p:spPr>
          <a:xfrm>
            <a:off x="345059" y="811689"/>
            <a:ext cx="2846415" cy="430887"/>
          </a:xfrm>
          <a:prstGeom prst="rect">
            <a:avLst/>
          </a:prstGeom>
          <a:noFill/>
        </p:spPr>
        <p:txBody>
          <a:bodyPr wrap="square" rtlCol="0">
            <a:spAutoFit/>
          </a:bodyPr>
          <a:lstStyle/>
          <a:p>
            <a:r>
              <a:rPr lang="en-US" altLang="ja-JP" sz="2200" b="1" dirty="0">
                <a:latin typeface="Gadugi" panose="020B0502040204020203" pitchFamily="34" charset="0"/>
                <a:ea typeface="Gadugi" panose="020B0502040204020203" pitchFamily="34" charset="0"/>
              </a:rPr>
              <a:t>FIC Original Method</a:t>
            </a:r>
            <a:endParaRPr lang="ja-JP" altLang="en-US" sz="2200" b="1" dirty="0">
              <a:latin typeface="Gadugi" panose="020B0502040204020203" pitchFamily="34" charset="0"/>
              <a:ea typeface="HGPｺﾞｼｯｸE" panose="020B0900000000000000" pitchFamily="50" charset="-128"/>
            </a:endParaRPr>
          </a:p>
        </p:txBody>
      </p:sp>
      <p:cxnSp>
        <p:nvCxnSpPr>
          <p:cNvPr id="35" name="直線コネクタ 34"/>
          <p:cNvCxnSpPr/>
          <p:nvPr/>
        </p:nvCxnSpPr>
        <p:spPr>
          <a:xfrm flipV="1">
            <a:off x="2663390" y="1273354"/>
            <a:ext cx="518746" cy="30731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a:off x="280675" y="888867"/>
            <a:ext cx="33611" cy="38448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2806943" y="739602"/>
            <a:ext cx="6537081" cy="923330"/>
          </a:xfrm>
          <a:prstGeom prst="rect">
            <a:avLst/>
          </a:prstGeom>
          <a:noFill/>
        </p:spPr>
        <p:txBody>
          <a:bodyPr wrap="square" rtlCol="0">
            <a:spAutoFit/>
          </a:bodyPr>
          <a:lstStyle/>
          <a:p>
            <a:pPr algn="ctr"/>
            <a:r>
              <a:rPr lang="ja-JP" altLang="en-US" sz="5400" b="1" dirty="0">
                <a:latin typeface="HGPｺﾞｼｯｸE" panose="020B0900000000000000" pitchFamily="50" charset="-128"/>
                <a:ea typeface="HGPｺﾞｼｯｸE" panose="020B0900000000000000" pitchFamily="50" charset="-128"/>
              </a:rPr>
              <a:t>クリエイター</a:t>
            </a:r>
            <a:r>
              <a:rPr lang="ja-JP" altLang="en-US" sz="2800" b="1" dirty="0">
                <a:latin typeface="HGPｺﾞｼｯｸE" panose="020B0900000000000000" pitchFamily="50" charset="-128"/>
                <a:ea typeface="HGPｺﾞｼｯｸE" panose="020B0900000000000000" pitchFamily="50" charset="-128"/>
              </a:rPr>
              <a:t> </a:t>
            </a:r>
            <a:r>
              <a:rPr lang="ja-JP" altLang="en-US" sz="2400" b="1" dirty="0">
                <a:latin typeface="HGPｺﾞｼｯｸE" panose="020B0900000000000000" pitchFamily="50" charset="-128"/>
                <a:ea typeface="HGPｺﾞｼｯｸE" panose="020B0900000000000000" pitchFamily="50" charset="-128"/>
              </a:rPr>
              <a:t>学科</a:t>
            </a:r>
          </a:p>
        </p:txBody>
      </p:sp>
      <p:sp>
        <p:nvSpPr>
          <p:cNvPr id="40" name="テキスト ボックス 39"/>
          <p:cNvSpPr txBox="1"/>
          <p:nvPr/>
        </p:nvSpPr>
        <p:spPr>
          <a:xfrm>
            <a:off x="710614" y="1292403"/>
            <a:ext cx="1678775" cy="400110"/>
          </a:xfrm>
          <a:prstGeom prst="rect">
            <a:avLst/>
          </a:prstGeom>
          <a:noFill/>
        </p:spPr>
        <p:txBody>
          <a:bodyPr wrap="square" rtlCol="0">
            <a:spAutoFit/>
          </a:bodyPr>
          <a:lstStyle/>
          <a:p>
            <a:r>
              <a:rPr lang="en-US" altLang="ja-JP" sz="2000" b="1" dirty="0">
                <a:latin typeface="HGPｺﾞｼｯｸE" panose="020B0900000000000000" pitchFamily="50" charset="-128"/>
                <a:ea typeface="HGPｺﾞｼｯｸE" panose="020B0900000000000000" pitchFamily="50" charset="-128"/>
              </a:rPr>
              <a:t>3</a:t>
            </a:r>
            <a:r>
              <a:rPr lang="ja-JP" altLang="en-US" sz="2000" b="1" dirty="0">
                <a:latin typeface="HGPｺﾞｼｯｸE" panose="020B0900000000000000" pitchFamily="50" charset="-128"/>
                <a:ea typeface="HGPｺﾞｼｯｸE" panose="020B0900000000000000" pitchFamily="50" charset="-128"/>
              </a:rPr>
              <a:t>年間の流れ</a:t>
            </a:r>
          </a:p>
        </p:txBody>
      </p:sp>
      <p:sp>
        <p:nvSpPr>
          <p:cNvPr id="41" name="正方形/長方形 40"/>
          <p:cNvSpPr/>
          <p:nvPr/>
        </p:nvSpPr>
        <p:spPr>
          <a:xfrm>
            <a:off x="0" y="2292078"/>
            <a:ext cx="6075485" cy="4565921"/>
          </a:xfrm>
          <a:prstGeom prst="rect">
            <a:avLst/>
          </a:prstGeom>
          <a:solidFill>
            <a:schemeClr val="accent1"/>
          </a:solidFill>
        </p:spPr>
        <p:style>
          <a:lnRef idx="0">
            <a:schemeClr val="accent3"/>
          </a:lnRef>
          <a:fillRef idx="3">
            <a:schemeClr val="accent3"/>
          </a:fillRef>
          <a:effectRef idx="3">
            <a:schemeClr val="accent3"/>
          </a:effectRef>
          <a:fontRef idx="minor">
            <a:schemeClr val="lt1"/>
          </a:fontRef>
        </p:style>
        <p:txBody>
          <a:bodyPr rtlCol="0" anchor="t"/>
          <a:lstStyle/>
          <a:p>
            <a:pPr algn="ctr"/>
            <a:r>
              <a:rPr lang="ja-JP" altLang="en-US" sz="2800" b="1" dirty="0">
                <a:latin typeface="HGPｺﾞｼｯｸE" panose="020B0900000000000000" pitchFamily="50" charset="-128"/>
                <a:ea typeface="HGPｺﾞｼｯｸE" panose="020B0900000000000000" pitchFamily="50" charset="-128"/>
              </a:rPr>
              <a:t>ゲーム制作コース</a:t>
            </a:r>
          </a:p>
        </p:txBody>
      </p:sp>
      <p:sp>
        <p:nvSpPr>
          <p:cNvPr id="42" name="正方形/長方形 41"/>
          <p:cNvSpPr/>
          <p:nvPr/>
        </p:nvSpPr>
        <p:spPr>
          <a:xfrm>
            <a:off x="6075485" y="2293409"/>
            <a:ext cx="6116515" cy="4564590"/>
          </a:xfrm>
          <a:prstGeom prst="rect">
            <a:avLst/>
          </a:prstGeom>
          <a:solidFill>
            <a:schemeClr val="accent6"/>
          </a:solidFill>
        </p:spPr>
        <p:style>
          <a:lnRef idx="0">
            <a:schemeClr val="accent3"/>
          </a:lnRef>
          <a:fillRef idx="3">
            <a:schemeClr val="accent3"/>
          </a:fillRef>
          <a:effectRef idx="3">
            <a:schemeClr val="accent3"/>
          </a:effectRef>
          <a:fontRef idx="minor">
            <a:schemeClr val="lt1"/>
          </a:fontRef>
        </p:style>
        <p:txBody>
          <a:bodyPr rtlCol="0" anchor="t"/>
          <a:lstStyle/>
          <a:p>
            <a:pPr algn="ctr"/>
            <a:r>
              <a:rPr lang="en-US" altLang="ja-JP" sz="2800" b="1" dirty="0">
                <a:latin typeface="HGPｺﾞｼｯｸE" panose="020B0900000000000000" pitchFamily="50" charset="-128"/>
                <a:ea typeface="HGPｺﾞｼｯｸE" panose="020B0900000000000000" pitchFamily="50" charset="-128"/>
              </a:rPr>
              <a:t>CG</a:t>
            </a:r>
            <a:r>
              <a:rPr lang="ja-JP" altLang="en-US" sz="2800" b="1" dirty="0">
                <a:latin typeface="HGPｺﾞｼｯｸE" panose="020B0900000000000000" pitchFamily="50" charset="-128"/>
                <a:ea typeface="HGPｺﾞｼｯｸE" panose="020B0900000000000000" pitchFamily="50" charset="-128"/>
              </a:rPr>
              <a:t>映像制作コース</a:t>
            </a:r>
          </a:p>
        </p:txBody>
      </p:sp>
      <p:sp>
        <p:nvSpPr>
          <p:cNvPr id="43" name="正方形/長方形 42"/>
          <p:cNvSpPr/>
          <p:nvPr/>
        </p:nvSpPr>
        <p:spPr>
          <a:xfrm>
            <a:off x="5340665" y="2292077"/>
            <a:ext cx="1469639" cy="399273"/>
          </a:xfrm>
          <a:prstGeom prst="rect">
            <a:avLst/>
          </a:prstGeom>
          <a:solidFill>
            <a:schemeClr val="tx1"/>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ja-JP" altLang="en-US" sz="2200" b="1" dirty="0">
                <a:latin typeface="HGPｺﾞｼｯｸE" panose="020B0900000000000000" pitchFamily="50" charset="-128"/>
                <a:ea typeface="HGPｺﾞｼｯｸE" panose="020B0900000000000000" pitchFamily="50" charset="-128"/>
              </a:rPr>
              <a:t>１～３年次</a:t>
            </a:r>
          </a:p>
        </p:txBody>
      </p:sp>
      <p:cxnSp>
        <p:nvCxnSpPr>
          <p:cNvPr id="46" name="直線矢印コネクタ 45"/>
          <p:cNvCxnSpPr>
            <a:stCxn id="43" idx="2"/>
          </p:cNvCxnSpPr>
          <p:nvPr/>
        </p:nvCxnSpPr>
        <p:spPr>
          <a:xfrm>
            <a:off x="6075485" y="2691350"/>
            <a:ext cx="0" cy="416664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正方形/長方形 43"/>
          <p:cNvSpPr/>
          <p:nvPr/>
        </p:nvSpPr>
        <p:spPr>
          <a:xfrm>
            <a:off x="1784839" y="2928064"/>
            <a:ext cx="8673612" cy="859187"/>
          </a:xfrm>
          <a:prstGeom prst="rect">
            <a:avLst/>
          </a:prstGeom>
          <a:solidFill>
            <a:srgbClr val="F9F07B"/>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ja-JP" altLang="en-US" sz="2400" b="1" dirty="0">
                <a:solidFill>
                  <a:schemeClr val="tx1"/>
                </a:solidFill>
                <a:latin typeface="HGPｺﾞｼｯｸE" panose="020B0900000000000000" pitchFamily="50" charset="-128"/>
                <a:ea typeface="HGPｺﾞｼｯｸE" panose="020B0900000000000000" pitchFamily="50" charset="-128"/>
              </a:rPr>
              <a:t>ゲ ー ム　・　</a:t>
            </a:r>
            <a:r>
              <a:rPr lang="en-US" altLang="ja-JP" sz="2400" b="1" dirty="0">
                <a:solidFill>
                  <a:schemeClr val="tx1"/>
                </a:solidFill>
                <a:latin typeface="HGPｺﾞｼｯｸE" panose="020B0900000000000000" pitchFamily="50" charset="-128"/>
                <a:ea typeface="HGPｺﾞｼｯｸE" panose="020B0900000000000000" pitchFamily="50" charset="-128"/>
              </a:rPr>
              <a:t>CG</a:t>
            </a:r>
            <a:r>
              <a:rPr lang="ja-JP" altLang="en-US" sz="2400" b="1" dirty="0">
                <a:solidFill>
                  <a:schemeClr val="tx1"/>
                </a:solidFill>
                <a:latin typeface="HGPｺﾞｼｯｸE" panose="020B0900000000000000" pitchFamily="50" charset="-128"/>
                <a:ea typeface="HGPｺﾞｼｯｸE" panose="020B0900000000000000" pitchFamily="50" charset="-128"/>
              </a:rPr>
              <a:t>制作 の 基 礎 を 理 解</a:t>
            </a:r>
            <a:endParaRPr lang="en-US" altLang="ja-JP" sz="2400" b="1" dirty="0">
              <a:solidFill>
                <a:schemeClr val="tx1"/>
              </a:solidFill>
              <a:latin typeface="HGPｺﾞｼｯｸE" panose="020B0900000000000000" pitchFamily="50" charset="-128"/>
              <a:ea typeface="HGPｺﾞｼｯｸE" panose="020B0900000000000000" pitchFamily="50" charset="-128"/>
            </a:endParaRPr>
          </a:p>
          <a:p>
            <a:pPr algn="ctr"/>
            <a:r>
              <a:rPr lang="ja-JP" altLang="en-US" b="1" dirty="0">
                <a:solidFill>
                  <a:schemeClr val="tx1"/>
                </a:solidFill>
                <a:latin typeface="HGPｺﾞｼｯｸE" panose="020B0900000000000000" pitchFamily="50" charset="-128"/>
                <a:ea typeface="HGPｺﾞｼｯｸE" panose="020B0900000000000000" pitchFamily="50" charset="-128"/>
              </a:rPr>
              <a:t>２</a:t>
            </a:r>
            <a:r>
              <a:rPr lang="en-US" altLang="ja-JP" b="1" dirty="0">
                <a:solidFill>
                  <a:schemeClr val="tx1"/>
                </a:solidFill>
                <a:latin typeface="HGPｺﾞｼｯｸE" panose="020B0900000000000000" pitchFamily="50" charset="-128"/>
                <a:ea typeface="HGPｺﾞｼｯｸE" panose="020B0900000000000000" pitchFamily="50" charset="-128"/>
              </a:rPr>
              <a:t>D</a:t>
            </a:r>
            <a:r>
              <a:rPr lang="ja-JP" altLang="en-US" b="1" dirty="0">
                <a:solidFill>
                  <a:schemeClr val="tx1"/>
                </a:solidFill>
                <a:latin typeface="HGPｺﾞｼｯｸE" panose="020B0900000000000000" pitchFamily="50" charset="-128"/>
                <a:ea typeface="HGPｺﾞｼｯｸE" panose="020B0900000000000000" pitchFamily="50" charset="-128"/>
              </a:rPr>
              <a:t>・３</a:t>
            </a:r>
            <a:r>
              <a:rPr lang="en-US" altLang="ja-JP" b="1" dirty="0">
                <a:solidFill>
                  <a:schemeClr val="tx1"/>
                </a:solidFill>
                <a:latin typeface="HGPｺﾞｼｯｸE" panose="020B0900000000000000" pitchFamily="50" charset="-128"/>
                <a:ea typeface="HGPｺﾞｼｯｸE" panose="020B0900000000000000" pitchFamily="50" charset="-128"/>
              </a:rPr>
              <a:t>D</a:t>
            </a:r>
            <a:r>
              <a:rPr lang="ja-JP" altLang="en-US" b="1" dirty="0">
                <a:solidFill>
                  <a:schemeClr val="tx1"/>
                </a:solidFill>
                <a:latin typeface="HGPｺﾞｼｯｸE" panose="020B0900000000000000" pitchFamily="50" charset="-128"/>
                <a:ea typeface="HGPｺﾞｼｯｸE" panose="020B0900000000000000" pitchFamily="50" charset="-128"/>
              </a:rPr>
              <a:t>ゲーム制作｜　アイデアトレーニング　｜　</a:t>
            </a:r>
            <a:r>
              <a:rPr lang="en-US" altLang="ja-JP" b="1" dirty="0">
                <a:solidFill>
                  <a:schemeClr val="tx1"/>
                </a:solidFill>
                <a:latin typeface="HGPｺﾞｼｯｸE" panose="020B0900000000000000" pitchFamily="50" charset="-128"/>
                <a:ea typeface="HGPｺﾞｼｯｸE" panose="020B0900000000000000" pitchFamily="50" charset="-128"/>
              </a:rPr>
              <a:t>3D</a:t>
            </a:r>
            <a:r>
              <a:rPr lang="ja-JP" altLang="en-US" b="1" dirty="0">
                <a:solidFill>
                  <a:schemeClr val="tx1"/>
                </a:solidFill>
                <a:latin typeface="HGPｺﾞｼｯｸE" panose="020B0900000000000000" pitchFamily="50" charset="-128"/>
                <a:ea typeface="HGPｺﾞｼｯｸE" panose="020B0900000000000000" pitchFamily="50" charset="-128"/>
              </a:rPr>
              <a:t>モデル・モーション・映像制作</a:t>
            </a:r>
          </a:p>
        </p:txBody>
      </p:sp>
      <p:sp>
        <p:nvSpPr>
          <p:cNvPr id="48" name="正方形/長方形 47"/>
          <p:cNvSpPr/>
          <p:nvPr/>
        </p:nvSpPr>
        <p:spPr>
          <a:xfrm>
            <a:off x="4773427" y="6192851"/>
            <a:ext cx="2644303" cy="399273"/>
          </a:xfrm>
          <a:prstGeom prst="rect">
            <a:avLst/>
          </a:prstGeom>
          <a:solidFill>
            <a:schemeClr val="tx1"/>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ja-JP" altLang="en-US" sz="2200" b="1" dirty="0">
                <a:latin typeface="HGPｺﾞｼｯｸE" panose="020B0900000000000000" pitchFamily="50" charset="-128"/>
                <a:ea typeface="HGPｺﾞｼｯｸE" panose="020B0900000000000000" pitchFamily="50" charset="-128"/>
              </a:rPr>
              <a:t>進級作品制作会</a:t>
            </a:r>
          </a:p>
        </p:txBody>
      </p:sp>
      <p:sp>
        <p:nvSpPr>
          <p:cNvPr id="56" name="テキスト ボックス 55"/>
          <p:cNvSpPr txBox="1"/>
          <p:nvPr/>
        </p:nvSpPr>
        <p:spPr>
          <a:xfrm>
            <a:off x="8128577" y="1598998"/>
            <a:ext cx="3819143" cy="523220"/>
          </a:xfrm>
          <a:prstGeom prst="rect">
            <a:avLst/>
          </a:prstGeom>
          <a:noFill/>
        </p:spPr>
        <p:txBody>
          <a:bodyPr wrap="square" rtlCol="0">
            <a:spAutoFit/>
          </a:bodyPr>
          <a:lstStyle/>
          <a:p>
            <a:r>
              <a:rPr lang="ja-JP" altLang="en-US" sz="2800" b="1" dirty="0">
                <a:solidFill>
                  <a:srgbClr val="FF9900"/>
                </a:solidFill>
                <a:latin typeface="HGPｺﾞｼｯｸE" panose="020B0900000000000000" pitchFamily="50" charset="-128"/>
                <a:ea typeface="HGPｺﾞｼｯｸE" panose="020B0900000000000000" pitchFamily="50" charset="-128"/>
              </a:rPr>
              <a:t>理論ではなく実践力！</a:t>
            </a:r>
          </a:p>
        </p:txBody>
      </p:sp>
      <p:graphicFrame>
        <p:nvGraphicFramePr>
          <p:cNvPr id="57" name="グラフ 56"/>
          <p:cNvGraphicFramePr/>
          <p:nvPr/>
        </p:nvGraphicFramePr>
        <p:xfrm>
          <a:off x="1" y="2292077"/>
          <a:ext cx="1784837" cy="182359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8" name="グラフ 57"/>
          <p:cNvGraphicFramePr/>
          <p:nvPr/>
        </p:nvGraphicFramePr>
        <p:xfrm>
          <a:off x="10228388" y="2292077"/>
          <a:ext cx="2079508" cy="1815525"/>
        </p:xfrm>
        <a:graphic>
          <a:graphicData uri="http://schemas.openxmlformats.org/drawingml/2006/chart">
            <c:chart xmlns:c="http://schemas.openxmlformats.org/drawingml/2006/chart" xmlns:r="http://schemas.openxmlformats.org/officeDocument/2006/relationships" r:id="rId6"/>
          </a:graphicData>
        </a:graphic>
      </p:graphicFrame>
      <p:sp>
        <p:nvSpPr>
          <p:cNvPr id="59" name="テキスト ボックス 58"/>
          <p:cNvSpPr txBox="1"/>
          <p:nvPr/>
        </p:nvSpPr>
        <p:spPr>
          <a:xfrm>
            <a:off x="831577" y="2824949"/>
            <a:ext cx="1091006" cy="338554"/>
          </a:xfrm>
          <a:prstGeom prst="rect">
            <a:avLst/>
          </a:prstGeom>
          <a:noFill/>
        </p:spPr>
        <p:txBody>
          <a:bodyPr wrap="square" rtlCol="0">
            <a:spAutoFit/>
          </a:bodyPr>
          <a:lstStyle/>
          <a:p>
            <a:r>
              <a:rPr lang="en-US" altLang="ja-JP" sz="1600" b="1" dirty="0">
                <a:latin typeface="HGPｺﾞｼｯｸE" panose="020B0900000000000000" pitchFamily="50" charset="-128"/>
                <a:ea typeface="HGPｺﾞｼｯｸE" panose="020B0900000000000000" pitchFamily="50" charset="-128"/>
              </a:rPr>
              <a:t>100</a:t>
            </a:r>
            <a:r>
              <a:rPr lang="ja-JP" altLang="en-US" sz="1600" b="1" dirty="0">
                <a:latin typeface="HGPｺﾞｼｯｸE" panose="020B0900000000000000" pitchFamily="50" charset="-128"/>
                <a:ea typeface="HGPｺﾞｼｯｸE" panose="020B0900000000000000" pitchFamily="50" charset="-128"/>
              </a:rPr>
              <a:t>時間</a:t>
            </a:r>
          </a:p>
        </p:txBody>
      </p:sp>
      <p:sp>
        <p:nvSpPr>
          <p:cNvPr id="60" name="テキスト ボックス 59"/>
          <p:cNvSpPr txBox="1"/>
          <p:nvPr/>
        </p:nvSpPr>
        <p:spPr>
          <a:xfrm>
            <a:off x="436613" y="3203081"/>
            <a:ext cx="1091006" cy="338554"/>
          </a:xfrm>
          <a:prstGeom prst="rect">
            <a:avLst/>
          </a:prstGeom>
          <a:noFill/>
        </p:spPr>
        <p:txBody>
          <a:bodyPr wrap="square" rtlCol="0">
            <a:spAutoFit/>
          </a:bodyPr>
          <a:lstStyle/>
          <a:p>
            <a:r>
              <a:rPr lang="en-US" altLang="ja-JP" sz="1600" b="1" dirty="0">
                <a:latin typeface="HGPｺﾞｼｯｸE" panose="020B0900000000000000" pitchFamily="50" charset="-128"/>
                <a:ea typeface="HGPｺﾞｼｯｸE" panose="020B0900000000000000" pitchFamily="50" charset="-128"/>
              </a:rPr>
              <a:t>800</a:t>
            </a:r>
            <a:r>
              <a:rPr lang="ja-JP" altLang="en-US" sz="1600" b="1" dirty="0">
                <a:latin typeface="HGPｺﾞｼｯｸE" panose="020B0900000000000000" pitchFamily="50" charset="-128"/>
                <a:ea typeface="HGPｺﾞｼｯｸE" panose="020B0900000000000000" pitchFamily="50" charset="-128"/>
              </a:rPr>
              <a:t>時間</a:t>
            </a:r>
          </a:p>
        </p:txBody>
      </p:sp>
      <p:sp>
        <p:nvSpPr>
          <p:cNvPr id="61" name="テキスト ボックス 60"/>
          <p:cNvSpPr txBox="1"/>
          <p:nvPr/>
        </p:nvSpPr>
        <p:spPr>
          <a:xfrm>
            <a:off x="11268142" y="2824949"/>
            <a:ext cx="1091006" cy="338554"/>
          </a:xfrm>
          <a:prstGeom prst="rect">
            <a:avLst/>
          </a:prstGeom>
          <a:noFill/>
        </p:spPr>
        <p:txBody>
          <a:bodyPr wrap="square" rtlCol="0">
            <a:spAutoFit/>
          </a:bodyPr>
          <a:lstStyle/>
          <a:p>
            <a:r>
              <a:rPr lang="en-US" altLang="ja-JP" sz="1600" b="1" dirty="0">
                <a:latin typeface="HGPｺﾞｼｯｸE" panose="020B0900000000000000" pitchFamily="50" charset="-128"/>
                <a:ea typeface="HGPｺﾞｼｯｸE" panose="020B0900000000000000" pitchFamily="50" charset="-128"/>
              </a:rPr>
              <a:t>300</a:t>
            </a:r>
            <a:r>
              <a:rPr lang="ja-JP" altLang="en-US" sz="1600" b="1" dirty="0">
                <a:latin typeface="HGPｺﾞｼｯｸE" panose="020B0900000000000000" pitchFamily="50" charset="-128"/>
                <a:ea typeface="HGPｺﾞｼｯｸE" panose="020B0900000000000000" pitchFamily="50" charset="-128"/>
              </a:rPr>
              <a:t>時間</a:t>
            </a:r>
          </a:p>
        </p:txBody>
      </p:sp>
      <p:sp>
        <p:nvSpPr>
          <p:cNvPr id="62" name="テキスト ボックス 61"/>
          <p:cNvSpPr txBox="1"/>
          <p:nvPr/>
        </p:nvSpPr>
        <p:spPr>
          <a:xfrm>
            <a:off x="10856715" y="3249505"/>
            <a:ext cx="1091006" cy="338554"/>
          </a:xfrm>
          <a:prstGeom prst="rect">
            <a:avLst/>
          </a:prstGeom>
          <a:noFill/>
        </p:spPr>
        <p:txBody>
          <a:bodyPr wrap="square" rtlCol="0">
            <a:spAutoFit/>
          </a:bodyPr>
          <a:lstStyle/>
          <a:p>
            <a:r>
              <a:rPr lang="en-US" altLang="ja-JP" sz="1600" b="1" dirty="0">
                <a:latin typeface="HGPｺﾞｼｯｸE" panose="020B0900000000000000" pitchFamily="50" charset="-128"/>
                <a:ea typeface="HGPｺﾞｼｯｸE" panose="020B0900000000000000" pitchFamily="50" charset="-128"/>
              </a:rPr>
              <a:t>600</a:t>
            </a:r>
            <a:r>
              <a:rPr lang="ja-JP" altLang="en-US" sz="1600" b="1" dirty="0">
                <a:latin typeface="HGPｺﾞｼｯｸE" panose="020B0900000000000000" pitchFamily="50" charset="-128"/>
                <a:ea typeface="HGPｺﾞｼｯｸE" panose="020B0900000000000000" pitchFamily="50" charset="-128"/>
              </a:rPr>
              <a:t>時間</a:t>
            </a:r>
          </a:p>
        </p:txBody>
      </p:sp>
      <p:pic>
        <p:nvPicPr>
          <p:cNvPr id="7" name="図 6"/>
          <p:cNvPicPr>
            <a:picLocks noChangeAspect="1"/>
          </p:cNvPicPr>
          <p:nvPr/>
        </p:nvPicPr>
        <p:blipFill rotWithShape="1">
          <a:blip r:embed="rId7"/>
          <a:srcRect l="3933" t="2979" r="2513" b="5666"/>
          <a:stretch/>
        </p:blipFill>
        <p:spPr>
          <a:xfrm>
            <a:off x="37109" y="4272487"/>
            <a:ext cx="2881742" cy="1582891"/>
          </a:xfrm>
          <a:prstGeom prst="rect">
            <a:avLst/>
          </a:prstGeom>
        </p:spPr>
      </p:pic>
      <p:sp>
        <p:nvSpPr>
          <p:cNvPr id="31" name="テキスト ボックス 30">
            <a:extLst>
              <a:ext uri="{FF2B5EF4-FFF2-40B4-BE49-F238E27FC236}">
                <a16:creationId xmlns:a16="http://schemas.microsoft.com/office/drawing/2014/main" id="{3EF0E3FD-FB77-4F00-B1CE-36AD0B695324}"/>
              </a:ext>
            </a:extLst>
          </p:cNvPr>
          <p:cNvSpPr txBox="1"/>
          <p:nvPr/>
        </p:nvSpPr>
        <p:spPr>
          <a:xfrm>
            <a:off x="664021" y="136423"/>
            <a:ext cx="5118712"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設置コース（クリエイター学科）</a:t>
            </a:r>
          </a:p>
        </p:txBody>
      </p:sp>
      <p:pic>
        <p:nvPicPr>
          <p:cNvPr id="30" name="図 29">
            <a:extLst>
              <a:ext uri="{FF2B5EF4-FFF2-40B4-BE49-F238E27FC236}">
                <a16:creationId xmlns:a16="http://schemas.microsoft.com/office/drawing/2014/main" id="{FBC672E3-E3D9-40FD-B13B-77BEC6108F66}"/>
              </a:ext>
            </a:extLst>
          </p:cNvPr>
          <p:cNvPicPr>
            <a:picLocks noChangeAspect="1"/>
          </p:cNvPicPr>
          <p:nvPr/>
        </p:nvPicPr>
        <p:blipFill rotWithShape="1">
          <a:blip r:embed="rId8"/>
          <a:srcRect l="2947" r="4503" b="5643"/>
          <a:stretch/>
        </p:blipFill>
        <p:spPr>
          <a:xfrm>
            <a:off x="3064291" y="4288818"/>
            <a:ext cx="2760157" cy="1582891"/>
          </a:xfrm>
          <a:prstGeom prst="rect">
            <a:avLst/>
          </a:prstGeom>
        </p:spPr>
      </p:pic>
      <p:pic>
        <p:nvPicPr>
          <p:cNvPr id="32" name="図 31">
            <a:extLst>
              <a:ext uri="{FF2B5EF4-FFF2-40B4-BE49-F238E27FC236}">
                <a16:creationId xmlns:a16="http://schemas.microsoft.com/office/drawing/2014/main" id="{68FFAFFE-61BB-4856-A486-3A144173BF6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057383" y="4070758"/>
            <a:ext cx="2000013" cy="1071882"/>
          </a:xfrm>
          <a:prstGeom prst="rect">
            <a:avLst/>
          </a:prstGeom>
        </p:spPr>
      </p:pic>
      <p:pic>
        <p:nvPicPr>
          <p:cNvPr id="33" name="図 32">
            <a:extLst>
              <a:ext uri="{FF2B5EF4-FFF2-40B4-BE49-F238E27FC236}">
                <a16:creationId xmlns:a16="http://schemas.microsoft.com/office/drawing/2014/main" id="{E18A32BD-8A59-4CE5-9A6C-7A4BB3BDD7C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116776" y="5586257"/>
            <a:ext cx="1990090" cy="1066564"/>
          </a:xfrm>
          <a:prstGeom prst="rect">
            <a:avLst/>
          </a:prstGeom>
        </p:spPr>
      </p:pic>
      <p:pic>
        <p:nvPicPr>
          <p:cNvPr id="36" name="図 35">
            <a:extLst>
              <a:ext uri="{FF2B5EF4-FFF2-40B4-BE49-F238E27FC236}">
                <a16:creationId xmlns:a16="http://schemas.microsoft.com/office/drawing/2014/main" id="{742AE2AD-8C69-4760-AB00-9F22FEBD584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15094" y="4071071"/>
            <a:ext cx="1999429" cy="1071569"/>
          </a:xfrm>
          <a:prstGeom prst="rect">
            <a:avLst/>
          </a:prstGeom>
        </p:spPr>
      </p:pic>
      <p:pic>
        <p:nvPicPr>
          <p:cNvPr id="38" name="図 37">
            <a:extLst>
              <a:ext uri="{FF2B5EF4-FFF2-40B4-BE49-F238E27FC236}">
                <a16:creationId xmlns:a16="http://schemas.microsoft.com/office/drawing/2014/main" id="{F253C80F-6208-4F31-AB08-4037F9D3680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57959" y="5590315"/>
            <a:ext cx="1998863" cy="1071266"/>
          </a:xfrm>
          <a:prstGeom prst="rect">
            <a:avLst/>
          </a:prstGeom>
        </p:spPr>
      </p:pic>
      <p:sp>
        <p:nvSpPr>
          <p:cNvPr id="45" name="テキスト ボックス 44">
            <a:extLst>
              <a:ext uri="{FF2B5EF4-FFF2-40B4-BE49-F238E27FC236}">
                <a16:creationId xmlns:a16="http://schemas.microsoft.com/office/drawing/2014/main" id="{75277F1E-F756-4660-A9A6-98BA9BB5DA9E}"/>
              </a:ext>
            </a:extLst>
          </p:cNvPr>
          <p:cNvSpPr txBox="1"/>
          <p:nvPr/>
        </p:nvSpPr>
        <p:spPr>
          <a:xfrm>
            <a:off x="6274455" y="4374564"/>
            <a:ext cx="1650233" cy="400110"/>
          </a:xfrm>
          <a:prstGeom prst="rect">
            <a:avLst/>
          </a:prstGeom>
          <a:noFill/>
        </p:spPr>
        <p:txBody>
          <a:bodyPr wrap="square" rtlCol="0">
            <a:spAutoFit/>
          </a:bodyPr>
          <a:lstStyle/>
          <a:p>
            <a:r>
              <a:rPr lang="ja-JP" altLang="en-US" sz="2000" b="1" dirty="0">
                <a:latin typeface="HGPｺﾞｼｯｸE" panose="020B0900000000000000" pitchFamily="50" charset="-128"/>
                <a:ea typeface="HGPｺﾞｼｯｸE" panose="020B0900000000000000" pitchFamily="50" charset="-128"/>
              </a:rPr>
              <a:t>３</a:t>
            </a:r>
            <a:r>
              <a:rPr lang="en-US" altLang="ja-JP" sz="2000" b="1" dirty="0">
                <a:latin typeface="HGPｺﾞｼｯｸE" panose="020B0900000000000000" pitchFamily="50" charset="-128"/>
                <a:ea typeface="HGPｺﾞｼｯｸE" panose="020B0900000000000000" pitchFamily="50" charset="-128"/>
              </a:rPr>
              <a:t>D</a:t>
            </a:r>
            <a:r>
              <a:rPr lang="ja-JP" altLang="en-US" sz="2000" b="1" dirty="0">
                <a:latin typeface="HGPｺﾞｼｯｸE" panose="020B0900000000000000" pitchFamily="50" charset="-128"/>
                <a:ea typeface="HGPｺﾞｼｯｸE" panose="020B0900000000000000" pitchFamily="50" charset="-128"/>
              </a:rPr>
              <a:t>モデリング</a:t>
            </a:r>
          </a:p>
        </p:txBody>
      </p:sp>
      <p:sp>
        <p:nvSpPr>
          <p:cNvPr id="47" name="テキスト ボックス 46">
            <a:extLst>
              <a:ext uri="{FF2B5EF4-FFF2-40B4-BE49-F238E27FC236}">
                <a16:creationId xmlns:a16="http://schemas.microsoft.com/office/drawing/2014/main" id="{EEE6B523-5448-4316-BA07-EF084D44854A}"/>
              </a:ext>
            </a:extLst>
          </p:cNvPr>
          <p:cNvSpPr txBox="1"/>
          <p:nvPr/>
        </p:nvSpPr>
        <p:spPr>
          <a:xfrm>
            <a:off x="6274455" y="5702551"/>
            <a:ext cx="1650233" cy="400110"/>
          </a:xfrm>
          <a:prstGeom prst="rect">
            <a:avLst/>
          </a:prstGeom>
          <a:noFill/>
        </p:spPr>
        <p:txBody>
          <a:bodyPr wrap="square" rtlCol="0">
            <a:spAutoFit/>
          </a:bodyPr>
          <a:lstStyle/>
          <a:p>
            <a:r>
              <a:rPr lang="ja-JP" altLang="en-US" sz="2000" b="1" dirty="0">
                <a:latin typeface="HGPｺﾞｼｯｸE" panose="020B0900000000000000" pitchFamily="50" charset="-128"/>
                <a:ea typeface="HGPｺﾞｼｯｸE" panose="020B0900000000000000" pitchFamily="50" charset="-128"/>
              </a:rPr>
              <a:t>３</a:t>
            </a:r>
            <a:r>
              <a:rPr lang="en-US" altLang="ja-JP" sz="2000" b="1" dirty="0">
                <a:latin typeface="HGPｺﾞｼｯｸE" panose="020B0900000000000000" pitchFamily="50" charset="-128"/>
                <a:ea typeface="HGPｺﾞｼｯｸE" panose="020B0900000000000000" pitchFamily="50" charset="-128"/>
              </a:rPr>
              <a:t>D</a:t>
            </a:r>
            <a:r>
              <a:rPr lang="ja-JP" altLang="en-US" sz="2000" b="1" dirty="0">
                <a:latin typeface="HGPｺﾞｼｯｸE" panose="020B0900000000000000" pitchFamily="50" charset="-128"/>
                <a:ea typeface="HGPｺﾞｼｯｸE" panose="020B0900000000000000" pitchFamily="50" charset="-128"/>
              </a:rPr>
              <a:t>モーション</a:t>
            </a:r>
          </a:p>
        </p:txBody>
      </p:sp>
      <p:sp>
        <p:nvSpPr>
          <p:cNvPr id="49" name="正方形/長方形 48">
            <a:extLst>
              <a:ext uri="{FF2B5EF4-FFF2-40B4-BE49-F238E27FC236}">
                <a16:creationId xmlns:a16="http://schemas.microsoft.com/office/drawing/2014/main" id="{2C650A94-D5F5-4308-B28C-2F455DC62935}"/>
              </a:ext>
            </a:extLst>
          </p:cNvPr>
          <p:cNvSpPr/>
          <p:nvPr/>
        </p:nvSpPr>
        <p:spPr>
          <a:xfrm>
            <a:off x="8744225" y="5236979"/>
            <a:ext cx="626327" cy="228850"/>
          </a:xfrm>
          <a:prstGeom prst="rect">
            <a:avLst/>
          </a:prstGeom>
          <a:solidFill>
            <a:schemeClr val="tx1"/>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ja-JP" sz="1000" b="1" dirty="0">
                <a:latin typeface="HGPｺﾞｼｯｸE" panose="020B0900000000000000" pitchFamily="50" charset="-128"/>
                <a:ea typeface="HGPｺﾞｼｯｸE" panose="020B0900000000000000" pitchFamily="50" charset="-128"/>
              </a:rPr>
              <a:t>1</a:t>
            </a:r>
            <a:r>
              <a:rPr lang="ja-JP" altLang="en-US" sz="1000" b="1" dirty="0">
                <a:latin typeface="HGPｺﾞｼｯｸE" panose="020B0900000000000000" pitchFamily="50" charset="-128"/>
                <a:ea typeface="HGPｺﾞｼｯｸE" panose="020B0900000000000000" pitchFamily="50" charset="-128"/>
              </a:rPr>
              <a:t>年</a:t>
            </a:r>
          </a:p>
        </p:txBody>
      </p:sp>
      <p:sp>
        <p:nvSpPr>
          <p:cNvPr id="50" name="正方形/長方形 49">
            <a:extLst>
              <a:ext uri="{FF2B5EF4-FFF2-40B4-BE49-F238E27FC236}">
                <a16:creationId xmlns:a16="http://schemas.microsoft.com/office/drawing/2014/main" id="{A8B87CEB-6C7B-4422-A4BB-569E873BECAD}"/>
              </a:ext>
            </a:extLst>
          </p:cNvPr>
          <p:cNvSpPr/>
          <p:nvPr/>
        </p:nvSpPr>
        <p:spPr>
          <a:xfrm>
            <a:off x="10798657" y="5236979"/>
            <a:ext cx="626327" cy="228850"/>
          </a:xfrm>
          <a:prstGeom prst="rect">
            <a:avLst/>
          </a:prstGeom>
          <a:solidFill>
            <a:schemeClr val="tx1"/>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ja-JP" altLang="en-US" sz="1000" b="1" dirty="0">
                <a:latin typeface="HGPｺﾞｼｯｸE" panose="020B0900000000000000" pitchFamily="50" charset="-128"/>
                <a:ea typeface="HGPｺﾞｼｯｸE" panose="020B0900000000000000" pitchFamily="50" charset="-128"/>
              </a:rPr>
              <a:t>３年</a:t>
            </a:r>
          </a:p>
        </p:txBody>
      </p:sp>
      <p:sp>
        <p:nvSpPr>
          <p:cNvPr id="51" name="正方形/長方形 50">
            <a:extLst>
              <a:ext uri="{FF2B5EF4-FFF2-40B4-BE49-F238E27FC236}">
                <a16:creationId xmlns:a16="http://schemas.microsoft.com/office/drawing/2014/main" id="{C237CFD8-2415-4784-A666-6B99EB7185CC}"/>
              </a:ext>
            </a:extLst>
          </p:cNvPr>
          <p:cNvSpPr/>
          <p:nvPr/>
        </p:nvSpPr>
        <p:spPr>
          <a:xfrm>
            <a:off x="1030177" y="5964904"/>
            <a:ext cx="626327" cy="228850"/>
          </a:xfrm>
          <a:prstGeom prst="rect">
            <a:avLst/>
          </a:prstGeom>
          <a:solidFill>
            <a:schemeClr val="tx1"/>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ja-JP" sz="1000" b="1" dirty="0">
                <a:latin typeface="HGPｺﾞｼｯｸE" panose="020B0900000000000000" pitchFamily="50" charset="-128"/>
                <a:ea typeface="HGPｺﾞｼｯｸE" panose="020B0900000000000000" pitchFamily="50" charset="-128"/>
              </a:rPr>
              <a:t>1</a:t>
            </a:r>
            <a:r>
              <a:rPr lang="ja-JP" altLang="en-US" sz="1000" b="1" dirty="0">
                <a:latin typeface="HGPｺﾞｼｯｸE" panose="020B0900000000000000" pitchFamily="50" charset="-128"/>
                <a:ea typeface="HGPｺﾞｼｯｸE" panose="020B0900000000000000" pitchFamily="50" charset="-128"/>
              </a:rPr>
              <a:t>年</a:t>
            </a:r>
          </a:p>
        </p:txBody>
      </p:sp>
      <p:sp>
        <p:nvSpPr>
          <p:cNvPr id="52" name="正方形/長方形 51">
            <a:extLst>
              <a:ext uri="{FF2B5EF4-FFF2-40B4-BE49-F238E27FC236}">
                <a16:creationId xmlns:a16="http://schemas.microsoft.com/office/drawing/2014/main" id="{AB27C225-989D-4F48-9F11-F2EEEEF53361}"/>
              </a:ext>
            </a:extLst>
          </p:cNvPr>
          <p:cNvSpPr/>
          <p:nvPr/>
        </p:nvSpPr>
        <p:spPr>
          <a:xfrm>
            <a:off x="4047615" y="5964904"/>
            <a:ext cx="626327" cy="228850"/>
          </a:xfrm>
          <a:prstGeom prst="rect">
            <a:avLst/>
          </a:prstGeom>
          <a:solidFill>
            <a:schemeClr val="tx1"/>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ja-JP" altLang="en-US" sz="1000" b="1" dirty="0">
                <a:latin typeface="HGPｺﾞｼｯｸE" panose="020B0900000000000000" pitchFamily="50" charset="-128"/>
                <a:ea typeface="HGPｺﾞｼｯｸE" panose="020B0900000000000000" pitchFamily="50" charset="-128"/>
              </a:rPr>
              <a:t>３年</a:t>
            </a:r>
          </a:p>
        </p:txBody>
      </p:sp>
    </p:spTree>
    <p:extLst>
      <p:ext uri="{BB962C8B-B14F-4D97-AF65-F5344CB8AC3E}">
        <p14:creationId xmlns:p14="http://schemas.microsoft.com/office/powerpoint/2010/main" val="1757145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5" name="正方形/長方形 4"/>
          <p:cNvSpPr/>
          <p:nvPr/>
        </p:nvSpPr>
        <p:spPr>
          <a:xfrm>
            <a:off x="1524000" y="794517"/>
            <a:ext cx="9144000" cy="7877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ja-JP" altLang="en-US" sz="2800" b="1" dirty="0">
                <a:solidFill>
                  <a:prstClr val="black"/>
                </a:solidFill>
                <a:latin typeface="HGPｺﾞｼｯｸE" panose="020B0900000000000000" pitchFamily="50" charset="-128"/>
                <a:ea typeface="HGPｺﾞｼｯｸE" panose="020B0900000000000000" pitchFamily="50" charset="-128"/>
              </a:rPr>
              <a:t>スケジュール例　</a:t>
            </a:r>
            <a:r>
              <a:rPr lang="en-US" altLang="ja-JP" sz="2800" b="1" dirty="0">
                <a:solidFill>
                  <a:prstClr val="black"/>
                </a:solidFill>
                <a:latin typeface="HGPｺﾞｼｯｸE" panose="020B0900000000000000" pitchFamily="50" charset="-128"/>
                <a:ea typeface="HGPｺﾞｼｯｸE" panose="020B0900000000000000" pitchFamily="50" charset="-128"/>
              </a:rPr>
              <a:t>【</a:t>
            </a:r>
            <a:r>
              <a:rPr lang="ja-JP" altLang="en-US" sz="2800" b="1" dirty="0">
                <a:solidFill>
                  <a:prstClr val="black"/>
                </a:solidFill>
                <a:latin typeface="HGPｺﾞｼｯｸE" panose="020B0900000000000000" pitchFamily="50" charset="-128"/>
                <a:ea typeface="HGPｺﾞｼｯｸE" panose="020B0900000000000000" pitchFamily="50" charset="-128"/>
              </a:rPr>
              <a:t>ゲーム制作コース</a:t>
            </a:r>
            <a:r>
              <a:rPr lang="en-US" altLang="ja-JP" sz="2800" b="1" dirty="0">
                <a:solidFill>
                  <a:prstClr val="black"/>
                </a:solidFill>
                <a:latin typeface="HGPｺﾞｼｯｸE" panose="020B0900000000000000" pitchFamily="50" charset="-128"/>
                <a:ea typeface="HGPｺﾞｼｯｸE" panose="020B0900000000000000" pitchFamily="50" charset="-128"/>
              </a:rPr>
              <a:t>】</a:t>
            </a:r>
            <a:endParaRPr lang="ja-JP" altLang="en-US" sz="2800" b="1" dirty="0">
              <a:solidFill>
                <a:prstClr val="black"/>
              </a:solidFill>
              <a:latin typeface="HGPｺﾞｼｯｸE" panose="020B0900000000000000" pitchFamily="50" charset="-128"/>
              <a:ea typeface="HGPｺﾞｼｯｸE" panose="020B0900000000000000" pitchFamily="50" charset="-128"/>
            </a:endParaRPr>
          </a:p>
        </p:txBody>
      </p:sp>
      <p:pic>
        <p:nvPicPr>
          <p:cNvPr id="4" name="図 3">
            <a:extLst>
              <a:ext uri="{FF2B5EF4-FFF2-40B4-BE49-F238E27FC236}">
                <a16:creationId xmlns:a16="http://schemas.microsoft.com/office/drawing/2014/main" id="{48E3470E-E678-4FB2-A7EB-E11D758B7CAF}"/>
              </a:ext>
            </a:extLst>
          </p:cNvPr>
          <p:cNvPicPr>
            <a:picLocks noChangeAspect="1"/>
          </p:cNvPicPr>
          <p:nvPr/>
        </p:nvPicPr>
        <p:blipFill>
          <a:blip r:embed="rId5"/>
          <a:stretch>
            <a:fillRect/>
          </a:stretch>
        </p:blipFill>
        <p:spPr>
          <a:xfrm>
            <a:off x="169333" y="2078405"/>
            <a:ext cx="11835340" cy="4199338"/>
          </a:xfrm>
          <a:prstGeom prst="rect">
            <a:avLst/>
          </a:prstGeom>
        </p:spPr>
      </p:pic>
      <p:sp>
        <p:nvSpPr>
          <p:cNvPr id="11" name="テキスト ボックス 10">
            <a:extLst>
              <a:ext uri="{FF2B5EF4-FFF2-40B4-BE49-F238E27FC236}">
                <a16:creationId xmlns:a16="http://schemas.microsoft.com/office/drawing/2014/main" id="{43A7B353-F04F-4D19-9D68-2E6AB66E9209}"/>
              </a:ext>
            </a:extLst>
          </p:cNvPr>
          <p:cNvSpPr txBox="1"/>
          <p:nvPr/>
        </p:nvSpPr>
        <p:spPr>
          <a:xfrm>
            <a:off x="664021" y="136423"/>
            <a:ext cx="5118712"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設置コース（クリエイター学科）</a:t>
            </a:r>
          </a:p>
        </p:txBody>
      </p:sp>
    </p:spTree>
    <p:extLst>
      <p:ext uri="{BB962C8B-B14F-4D97-AF65-F5344CB8AC3E}">
        <p14:creationId xmlns:p14="http://schemas.microsoft.com/office/powerpoint/2010/main" val="2737548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sp>
        <p:nvSpPr>
          <p:cNvPr id="16" name="フローチャート: 代替処理 15">
            <a:extLst>
              <a:ext uri="{FF2B5EF4-FFF2-40B4-BE49-F238E27FC236}">
                <a16:creationId xmlns:a16="http://schemas.microsoft.com/office/drawing/2014/main" id="{AAA12519-A20D-4DC3-B091-F4B9C8E17DF1}"/>
              </a:ext>
            </a:extLst>
          </p:cNvPr>
          <p:cNvSpPr/>
          <p:nvPr/>
        </p:nvSpPr>
        <p:spPr>
          <a:xfrm>
            <a:off x="524933" y="747896"/>
            <a:ext cx="11074400" cy="1800000"/>
          </a:xfrm>
          <a:prstGeom prst="flowChartAlternateProcess">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HGPｺﾞｼｯｸE" panose="020B0900000000000000" pitchFamily="50" charset="-128"/>
              <a:ea typeface="HGPｺﾞｼｯｸE" panose="020B0900000000000000" pitchFamily="50" charset="-128"/>
            </a:endParaRPr>
          </a:p>
        </p:txBody>
      </p:sp>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14" name="テキスト ボックス 13"/>
          <p:cNvSpPr txBox="1"/>
          <p:nvPr/>
        </p:nvSpPr>
        <p:spPr>
          <a:xfrm>
            <a:off x="1030801" y="1264242"/>
            <a:ext cx="10053271" cy="1200329"/>
          </a:xfrm>
          <a:prstGeom prst="rect">
            <a:avLst/>
          </a:prstGeom>
          <a:noFill/>
        </p:spPr>
        <p:txBody>
          <a:bodyPr wrap="square" rtlCol="0">
            <a:spAutoFit/>
          </a:bodyPr>
          <a:lstStyle/>
          <a:p>
            <a:r>
              <a:rPr lang="ja-JP" altLang="en-US" sz="2400" dirty="0">
                <a:latin typeface="HGPｺﾞｼｯｸE" panose="020B0900000000000000" pitchFamily="50" charset="-128"/>
                <a:ea typeface="HGPｺﾞｼｯｸE" panose="020B0900000000000000" pitchFamily="50" charset="-128"/>
              </a:rPr>
              <a:t>①学内コンテストは毎年開催！</a:t>
            </a:r>
            <a:r>
              <a:rPr lang="en-US" altLang="ja-JP" sz="2400" dirty="0">
                <a:latin typeface="HGPｺﾞｼｯｸE" panose="020B0900000000000000" pitchFamily="50" charset="-128"/>
                <a:ea typeface="HGPｺﾞｼｯｸE" panose="020B0900000000000000" pitchFamily="50" charset="-128"/>
              </a:rPr>
              <a:t>30</a:t>
            </a:r>
            <a:r>
              <a:rPr lang="ja-JP" altLang="en-US" sz="2400" dirty="0">
                <a:latin typeface="HGPｺﾞｼｯｸE" panose="020B0900000000000000" pitchFamily="50" charset="-128"/>
                <a:ea typeface="HGPｺﾞｼｯｸE" panose="020B0900000000000000" pitchFamily="50" charset="-128"/>
              </a:rPr>
              <a:t>社以上の企業が参加！！</a:t>
            </a:r>
          </a:p>
          <a:p>
            <a:r>
              <a:rPr lang="ja-JP" altLang="en-US" sz="2400" dirty="0">
                <a:latin typeface="HGPｺﾞｼｯｸE" panose="020B0900000000000000" pitchFamily="50" charset="-128"/>
                <a:ea typeface="HGPｺﾞｼｯｸE" panose="020B0900000000000000" pitchFamily="50" charset="-128"/>
              </a:rPr>
              <a:t>②</a:t>
            </a:r>
            <a:r>
              <a:rPr lang="en-US" altLang="ja-JP" sz="2400" dirty="0">
                <a:latin typeface="HGPｺﾞｼｯｸE" panose="020B0900000000000000" pitchFamily="50" charset="-128"/>
                <a:ea typeface="HGPｺﾞｼｯｸE" panose="020B0900000000000000" pitchFamily="50" charset="-128"/>
              </a:rPr>
              <a:t>GFF</a:t>
            </a:r>
            <a:r>
              <a:rPr lang="ja-JP" altLang="en-US" sz="2400" dirty="0">
                <a:latin typeface="HGPｺﾞｼｯｸE" panose="020B0900000000000000" pitchFamily="50" charset="-128"/>
                <a:ea typeface="HGPｺﾞｼｯｸE" panose="020B0900000000000000" pitchFamily="50" charset="-128"/>
              </a:rPr>
              <a:t>学校会員として</a:t>
            </a:r>
            <a:r>
              <a:rPr lang="en-US" altLang="ja-JP" sz="2400" dirty="0">
                <a:latin typeface="HGPｺﾞｼｯｸE" panose="020B0900000000000000" pitchFamily="50" charset="-128"/>
                <a:ea typeface="HGPｺﾞｼｯｸE" panose="020B0900000000000000" pitchFamily="50" charset="-128"/>
              </a:rPr>
              <a:t>GFF</a:t>
            </a:r>
            <a:r>
              <a:rPr lang="ja-JP" altLang="en-US" sz="2400" dirty="0">
                <a:latin typeface="HGPｺﾞｼｯｸE" panose="020B0900000000000000" pitchFamily="50" charset="-128"/>
                <a:ea typeface="HGPｺﾞｼｯｸE" panose="020B0900000000000000" pitchFamily="50" charset="-128"/>
              </a:rPr>
              <a:t>アワードに参加</a:t>
            </a:r>
          </a:p>
          <a:p>
            <a:r>
              <a:rPr lang="ja-JP" altLang="en-US" sz="2400" dirty="0">
                <a:latin typeface="HGPｺﾞｼｯｸE" panose="020B0900000000000000" pitchFamily="50" charset="-128"/>
                <a:ea typeface="HGPｺﾞｼｯｸE" panose="020B0900000000000000" pitchFamily="50" charset="-128"/>
              </a:rPr>
              <a:t>③課外でもスキルアップを目指せるゲーム開発部活動もあるよ♪</a:t>
            </a:r>
          </a:p>
        </p:txBody>
      </p:sp>
      <p:sp>
        <p:nvSpPr>
          <p:cNvPr id="15" name="テキスト ボックス 14"/>
          <p:cNvSpPr txBox="1"/>
          <p:nvPr/>
        </p:nvSpPr>
        <p:spPr>
          <a:xfrm>
            <a:off x="920327" y="774114"/>
            <a:ext cx="1980029" cy="523220"/>
          </a:xfrm>
          <a:prstGeom prst="rect">
            <a:avLst/>
          </a:prstGeom>
          <a:noFill/>
        </p:spPr>
        <p:txBody>
          <a:bodyPr wrap="none" rtlCol="0">
            <a:spAutoFit/>
          </a:bodyPr>
          <a:lstStyle/>
          <a:p>
            <a:r>
              <a:rPr lang="ja-JP" altLang="en-US" sz="2800" dirty="0">
                <a:ln w="0"/>
                <a:solidFill>
                  <a:srgbClr val="F38603"/>
                </a:solidFill>
                <a:latin typeface="HGPｺﾞｼｯｸE" panose="020B0900000000000000" pitchFamily="50" charset="-128"/>
                <a:ea typeface="HGPｺﾞｼｯｸE" panose="020B0900000000000000" pitchFamily="50" charset="-128"/>
              </a:rPr>
              <a:t>作品展示会</a:t>
            </a:r>
          </a:p>
        </p:txBody>
      </p:sp>
      <p:sp>
        <p:nvSpPr>
          <p:cNvPr id="6" name="テキスト ボックス 5"/>
          <p:cNvSpPr txBox="1"/>
          <p:nvPr/>
        </p:nvSpPr>
        <p:spPr>
          <a:xfrm>
            <a:off x="4839127" y="2732702"/>
            <a:ext cx="2364750" cy="523220"/>
          </a:xfrm>
          <a:prstGeom prst="rect">
            <a:avLst/>
          </a:prstGeom>
          <a:noFill/>
        </p:spPr>
        <p:txBody>
          <a:bodyPr wrap="none" rtlCol="0">
            <a:spAutoFit/>
          </a:bodyPr>
          <a:lstStyle/>
          <a:p>
            <a:r>
              <a:rPr kumimoji="1" lang="ja-JP" altLang="en-US" sz="2800" b="1" spc="600" dirty="0">
                <a:latin typeface="BIZ UDPゴシック" panose="020B0400000000000000" pitchFamily="50" charset="-128"/>
                <a:ea typeface="BIZ UDPゴシック" panose="020B0400000000000000" pitchFamily="50" charset="-128"/>
              </a:rPr>
              <a:t>作品展示会</a:t>
            </a:r>
          </a:p>
        </p:txBody>
      </p:sp>
      <p:sp>
        <p:nvSpPr>
          <p:cNvPr id="17" name="テキスト ボックス 16">
            <a:extLst>
              <a:ext uri="{FF2B5EF4-FFF2-40B4-BE49-F238E27FC236}">
                <a16:creationId xmlns:a16="http://schemas.microsoft.com/office/drawing/2014/main" id="{2DE6DFB3-1BAD-48EF-AA11-FE8F13E52AEC}"/>
              </a:ext>
            </a:extLst>
          </p:cNvPr>
          <p:cNvSpPr txBox="1"/>
          <p:nvPr/>
        </p:nvSpPr>
        <p:spPr>
          <a:xfrm>
            <a:off x="664020" y="136423"/>
            <a:ext cx="531669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具体的教育の特徴（クリエイター学科）</a:t>
            </a:r>
          </a:p>
        </p:txBody>
      </p:sp>
      <p:sp>
        <p:nvSpPr>
          <p:cNvPr id="11" name="正方形/長方形 10">
            <a:extLst>
              <a:ext uri="{FF2B5EF4-FFF2-40B4-BE49-F238E27FC236}">
                <a16:creationId xmlns:a16="http://schemas.microsoft.com/office/drawing/2014/main" id="{F5F9E193-F1E5-49A0-A593-150361F35993}"/>
              </a:ext>
            </a:extLst>
          </p:cNvPr>
          <p:cNvSpPr/>
          <p:nvPr/>
        </p:nvSpPr>
        <p:spPr>
          <a:xfrm>
            <a:off x="336525" y="2928702"/>
            <a:ext cx="1980000" cy="405625"/>
          </a:xfrm>
          <a:prstGeom prst="rect">
            <a:avLst/>
          </a:prstGeom>
          <a:solidFill>
            <a:schemeClr val="accent1"/>
          </a:solidFill>
        </p:spPr>
        <p:style>
          <a:lnRef idx="0">
            <a:schemeClr val="accent3"/>
          </a:lnRef>
          <a:fillRef idx="3">
            <a:schemeClr val="accent3"/>
          </a:fillRef>
          <a:effectRef idx="3">
            <a:schemeClr val="accent3"/>
          </a:effectRef>
          <a:fontRef idx="minor">
            <a:schemeClr val="lt1"/>
          </a:fontRef>
        </p:style>
        <p:txBody>
          <a:bodyPr lIns="0" tIns="0" rIns="0" bIns="0" rtlCol="0" anchor="ctr"/>
          <a:lstStyle/>
          <a:p>
            <a:pPr algn="ctr"/>
            <a:r>
              <a:rPr lang="ja-JP" altLang="en-US" sz="1600" b="1" dirty="0">
                <a:latin typeface="HGPｺﾞｼｯｸE" panose="020B0900000000000000" pitchFamily="50" charset="-128"/>
                <a:ea typeface="HGPｺﾞｼｯｸE" panose="020B0900000000000000" pitchFamily="50" charset="-128"/>
              </a:rPr>
              <a:t>ゲーム制作コース</a:t>
            </a:r>
          </a:p>
        </p:txBody>
      </p:sp>
      <p:sp>
        <p:nvSpPr>
          <p:cNvPr id="12" name="正方形/長方形 11">
            <a:extLst>
              <a:ext uri="{FF2B5EF4-FFF2-40B4-BE49-F238E27FC236}">
                <a16:creationId xmlns:a16="http://schemas.microsoft.com/office/drawing/2014/main" id="{D72F9286-DAC6-4B0C-96CC-AFC27BCF1FEF}"/>
              </a:ext>
            </a:extLst>
          </p:cNvPr>
          <p:cNvSpPr/>
          <p:nvPr/>
        </p:nvSpPr>
        <p:spPr>
          <a:xfrm>
            <a:off x="9862735" y="2928701"/>
            <a:ext cx="1980000" cy="405625"/>
          </a:xfrm>
          <a:prstGeom prst="rect">
            <a:avLst/>
          </a:prstGeom>
          <a:solidFill>
            <a:schemeClr val="accent6"/>
          </a:solidFill>
        </p:spPr>
        <p:style>
          <a:lnRef idx="0">
            <a:schemeClr val="accent3"/>
          </a:lnRef>
          <a:fillRef idx="3">
            <a:schemeClr val="accent3"/>
          </a:fillRef>
          <a:effectRef idx="3">
            <a:schemeClr val="accent3"/>
          </a:effectRef>
          <a:fontRef idx="minor">
            <a:schemeClr val="lt1"/>
          </a:fontRef>
        </p:style>
        <p:txBody>
          <a:bodyPr lIns="0" tIns="0" rIns="0" bIns="0" rtlCol="0" anchor="ctr"/>
          <a:lstStyle/>
          <a:p>
            <a:pPr algn="ctr"/>
            <a:r>
              <a:rPr lang="ja-JP" altLang="en-US" sz="1600" b="1" dirty="0">
                <a:latin typeface="HGPｺﾞｼｯｸE" panose="020B0900000000000000" pitchFamily="50" charset="-128"/>
                <a:ea typeface="HGPｺﾞｼｯｸE" panose="020B0900000000000000" pitchFamily="50" charset="-128"/>
              </a:rPr>
              <a:t>ＣＧ制作コース</a:t>
            </a:r>
          </a:p>
        </p:txBody>
      </p:sp>
    </p:spTree>
    <p:extLst>
      <p:ext uri="{BB962C8B-B14F-4D97-AF65-F5344CB8AC3E}">
        <p14:creationId xmlns:p14="http://schemas.microsoft.com/office/powerpoint/2010/main" val="422470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sp>
        <p:nvSpPr>
          <p:cNvPr id="13" name="フローチャート: 代替処理 12">
            <a:extLst>
              <a:ext uri="{FF2B5EF4-FFF2-40B4-BE49-F238E27FC236}">
                <a16:creationId xmlns:a16="http://schemas.microsoft.com/office/drawing/2014/main" id="{CDDF81EA-9E64-44ED-815C-2D5525DCCB48}"/>
              </a:ext>
            </a:extLst>
          </p:cNvPr>
          <p:cNvSpPr/>
          <p:nvPr/>
        </p:nvSpPr>
        <p:spPr>
          <a:xfrm>
            <a:off x="524933" y="747896"/>
            <a:ext cx="11074400" cy="1800000"/>
          </a:xfrm>
          <a:prstGeom prst="flowChartAlternateProcess">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HGPｺﾞｼｯｸE" panose="020B0900000000000000" pitchFamily="50" charset="-128"/>
              <a:ea typeface="HGPｺﾞｼｯｸE" panose="020B0900000000000000" pitchFamily="50" charset="-128"/>
            </a:endParaRPr>
          </a:p>
        </p:txBody>
      </p:sp>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33" name="テキスト ボックス 32"/>
          <p:cNvSpPr txBox="1"/>
          <p:nvPr/>
        </p:nvSpPr>
        <p:spPr>
          <a:xfrm>
            <a:off x="862474" y="1276050"/>
            <a:ext cx="10474393" cy="1200329"/>
          </a:xfrm>
          <a:prstGeom prst="rect">
            <a:avLst/>
          </a:prstGeom>
          <a:noFill/>
        </p:spPr>
        <p:txBody>
          <a:bodyPr wrap="square" rtlCol="0">
            <a:spAutoFit/>
          </a:bodyPr>
          <a:lstStyle/>
          <a:p>
            <a:r>
              <a:rPr lang="ja-JP" altLang="en-US" sz="2400" dirty="0">
                <a:latin typeface="HGPｺﾞｼｯｸE" panose="020B0900000000000000" pitchFamily="50" charset="-128"/>
                <a:ea typeface="HGPｺﾞｼｯｸE" panose="020B0900000000000000" pitchFamily="50" charset="-128"/>
              </a:rPr>
              <a:t>①業界で活躍しているエンジニア・クリエイターから毎月トレンドが聞ける（共通）</a:t>
            </a:r>
          </a:p>
          <a:p>
            <a:r>
              <a:rPr lang="ja-JP" altLang="en-US" sz="2400" dirty="0">
                <a:latin typeface="HGPｺﾞｼｯｸE" panose="020B0900000000000000" pitchFamily="50" charset="-128"/>
                <a:ea typeface="HGPｺﾞｼｯｸE" panose="020B0900000000000000" pitchFamily="50" charset="-128"/>
              </a:rPr>
              <a:t>②</a:t>
            </a:r>
            <a:r>
              <a:rPr lang="en-US" altLang="ja-JP" sz="2400" dirty="0">
                <a:latin typeface="HGPｺﾞｼｯｸE" panose="020B0900000000000000" pitchFamily="50" charset="-128"/>
                <a:ea typeface="HGPｺﾞｼｯｸE" panose="020B0900000000000000" pitchFamily="50" charset="-128"/>
              </a:rPr>
              <a:t>IT</a:t>
            </a:r>
            <a:r>
              <a:rPr lang="ja-JP" altLang="en-US" sz="2400" dirty="0">
                <a:latin typeface="HGPｺﾞｼｯｸE" panose="020B0900000000000000" pitchFamily="50" charset="-128"/>
                <a:ea typeface="HGPｺﾞｼｯｸE" panose="020B0900000000000000" pitchFamily="50" charset="-128"/>
              </a:rPr>
              <a:t>企業との連携により、実務に直結した講義内容を展開（情報</a:t>
            </a:r>
            <a:r>
              <a:rPr lang="en-US" altLang="ja-JP" sz="2400" dirty="0">
                <a:latin typeface="HGPｺﾞｼｯｸE" panose="020B0900000000000000" pitchFamily="50" charset="-128"/>
                <a:ea typeface="HGPｺﾞｼｯｸE" panose="020B0900000000000000" pitchFamily="50" charset="-128"/>
              </a:rPr>
              <a:t>IT</a:t>
            </a:r>
            <a:r>
              <a:rPr lang="ja-JP" altLang="en-US" sz="2400" dirty="0">
                <a:latin typeface="HGPｺﾞｼｯｸE" panose="020B0900000000000000" pitchFamily="50" charset="-128"/>
                <a:ea typeface="HGPｺﾞｼｯｸE" panose="020B0900000000000000" pitchFamily="50" charset="-128"/>
              </a:rPr>
              <a:t>学科）</a:t>
            </a:r>
            <a:endParaRPr lang="en-US" altLang="ja-JP" sz="2400" dirty="0">
              <a:latin typeface="HGPｺﾞｼｯｸE" panose="020B0900000000000000" pitchFamily="50" charset="-128"/>
              <a:ea typeface="HGPｺﾞｼｯｸE" panose="020B0900000000000000" pitchFamily="50" charset="-128"/>
            </a:endParaRPr>
          </a:p>
          <a:p>
            <a:r>
              <a:rPr lang="ja-JP" altLang="en-US" sz="2400" dirty="0">
                <a:latin typeface="HGPｺﾞｼｯｸE" panose="020B0900000000000000" pitchFamily="50" charset="-128"/>
                <a:ea typeface="HGPｺﾞｼｯｸE" panose="020B0900000000000000" pitchFamily="50" charset="-128"/>
              </a:rPr>
              <a:t>③講演会終了後に自身が制作した作品の講評会（クリエイター学科）</a:t>
            </a:r>
          </a:p>
        </p:txBody>
      </p:sp>
      <p:sp>
        <p:nvSpPr>
          <p:cNvPr id="29" name="テキスト ボックス 28"/>
          <p:cNvSpPr txBox="1"/>
          <p:nvPr/>
        </p:nvSpPr>
        <p:spPr>
          <a:xfrm>
            <a:off x="781893" y="846238"/>
            <a:ext cx="6876207" cy="523220"/>
          </a:xfrm>
          <a:prstGeom prst="rect">
            <a:avLst/>
          </a:prstGeom>
          <a:noFill/>
        </p:spPr>
        <p:txBody>
          <a:bodyPr wrap="square" rtlCol="0">
            <a:spAutoFit/>
          </a:bodyPr>
          <a:lstStyle/>
          <a:p>
            <a:r>
              <a:rPr lang="ja-JP" altLang="en-US" sz="2800" b="1" dirty="0">
                <a:solidFill>
                  <a:srgbClr val="FF9900"/>
                </a:solidFill>
                <a:latin typeface="HGPｺﾞｼｯｸE" panose="020B0900000000000000" pitchFamily="50" charset="-128"/>
                <a:ea typeface="HGPｺﾞｼｯｸE" panose="020B0900000000000000" pitchFamily="50" charset="-128"/>
              </a:rPr>
              <a:t>特別講演会の実施、企業との連携講義</a:t>
            </a:r>
          </a:p>
        </p:txBody>
      </p:sp>
      <p:pic>
        <p:nvPicPr>
          <p:cNvPr id="4" name="図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22185" y="3088333"/>
            <a:ext cx="3909043" cy="2931782"/>
          </a:xfrm>
          <a:prstGeom prst="rect">
            <a:avLst/>
          </a:prstGeom>
        </p:spPr>
      </p:pic>
      <p:pic>
        <p:nvPicPr>
          <p:cNvPr id="3" name="図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0769" y="2906191"/>
            <a:ext cx="3874480" cy="2905860"/>
          </a:xfrm>
          <a:prstGeom prst="rect">
            <a:avLst/>
          </a:prstGeom>
        </p:spPr>
      </p:pic>
      <p:pic>
        <p:nvPicPr>
          <p:cNvPr id="34" name="図 33"/>
          <p:cNvPicPr>
            <a:picLocks noChangeAspect="1"/>
          </p:cNvPicPr>
          <p:nvPr/>
        </p:nvPicPr>
        <p:blipFill rotWithShape="1">
          <a:blip r:embed="rId7" cstate="print">
            <a:extLst>
              <a:ext uri="{28A0092B-C50C-407E-A947-70E740481C1C}">
                <a14:useLocalDpi xmlns:a14="http://schemas.microsoft.com/office/drawing/2010/main" val="0"/>
              </a:ext>
            </a:extLst>
          </a:blip>
          <a:srcRect l="17073" t="29689"/>
          <a:stretch/>
        </p:blipFill>
        <p:spPr>
          <a:xfrm>
            <a:off x="3835552" y="3527476"/>
            <a:ext cx="4520893" cy="2874807"/>
          </a:xfrm>
          <a:prstGeom prst="rect">
            <a:avLst/>
          </a:prstGeom>
        </p:spPr>
      </p:pic>
      <p:sp>
        <p:nvSpPr>
          <p:cNvPr id="14" name="テキスト ボックス 13">
            <a:extLst>
              <a:ext uri="{FF2B5EF4-FFF2-40B4-BE49-F238E27FC236}">
                <a16:creationId xmlns:a16="http://schemas.microsoft.com/office/drawing/2014/main" id="{91F2DD30-AC29-438F-9D6E-8B3607C9A60A}"/>
              </a:ext>
            </a:extLst>
          </p:cNvPr>
          <p:cNvSpPr txBox="1"/>
          <p:nvPr/>
        </p:nvSpPr>
        <p:spPr>
          <a:xfrm>
            <a:off x="664020" y="136423"/>
            <a:ext cx="531669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共通の取り組み・学内イベント</a:t>
            </a:r>
          </a:p>
        </p:txBody>
      </p:sp>
    </p:spTree>
    <p:extLst>
      <p:ext uri="{BB962C8B-B14F-4D97-AF65-F5344CB8AC3E}">
        <p14:creationId xmlns:p14="http://schemas.microsoft.com/office/powerpoint/2010/main" val="3170263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11" name="テキスト ボックス 10"/>
          <p:cNvSpPr txBox="1"/>
          <p:nvPr/>
        </p:nvSpPr>
        <p:spPr>
          <a:xfrm>
            <a:off x="1323925" y="127567"/>
            <a:ext cx="3307316" cy="461665"/>
          </a:xfrm>
          <a:prstGeom prst="rect">
            <a:avLst/>
          </a:prstGeom>
          <a:noFill/>
        </p:spPr>
        <p:txBody>
          <a:bodyPr wrap="none" rtlCol="0">
            <a:spAutoFit/>
          </a:bodyPr>
          <a:lstStyle/>
          <a:p>
            <a:pPr algn="ctr"/>
            <a:r>
              <a:rPr lang="en-US" altLang="ja-JP" sz="2400" dirty="0">
                <a:solidFill>
                  <a:schemeClr val="bg1"/>
                </a:solidFill>
                <a:latin typeface="HGPｺﾞｼｯｸE" panose="020B0900000000000000" pitchFamily="50" charset="-128"/>
                <a:ea typeface="HGPｺﾞｼｯｸE" panose="020B0900000000000000" pitchFamily="50" charset="-128"/>
              </a:rPr>
              <a:t>2024</a:t>
            </a:r>
            <a:r>
              <a:rPr lang="ja-JP" altLang="en-US" sz="2400" dirty="0">
                <a:solidFill>
                  <a:schemeClr val="bg1"/>
                </a:solidFill>
                <a:latin typeface="HGPｺﾞｼｯｸE" panose="020B0900000000000000" pitchFamily="50" charset="-128"/>
                <a:ea typeface="HGPｺﾞｼｯｸE" panose="020B0900000000000000" pitchFamily="50" charset="-128"/>
              </a:rPr>
              <a:t>年度　イベント実績</a:t>
            </a:r>
          </a:p>
        </p:txBody>
      </p:sp>
      <p:sp>
        <p:nvSpPr>
          <p:cNvPr id="16" name="正方形/長方形 15"/>
          <p:cNvSpPr/>
          <p:nvPr/>
        </p:nvSpPr>
        <p:spPr>
          <a:xfrm>
            <a:off x="4186193" y="1162040"/>
            <a:ext cx="932549" cy="5687043"/>
          </a:xfrm>
          <a:prstGeom prst="rect">
            <a:avLst/>
          </a:prstGeom>
          <a:solidFill>
            <a:srgbClr val="29AF8C">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テキスト ボックス 16"/>
          <p:cNvSpPr txBox="1"/>
          <p:nvPr/>
        </p:nvSpPr>
        <p:spPr>
          <a:xfrm>
            <a:off x="831770" y="847854"/>
            <a:ext cx="298480"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4</a:t>
            </a:r>
          </a:p>
        </p:txBody>
      </p:sp>
      <p:sp>
        <p:nvSpPr>
          <p:cNvPr id="18" name="テキスト ボックス 17"/>
          <p:cNvSpPr txBox="1"/>
          <p:nvPr/>
        </p:nvSpPr>
        <p:spPr>
          <a:xfrm>
            <a:off x="1801491" y="847854"/>
            <a:ext cx="298480"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5</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19" name="テキスト ボックス 18"/>
          <p:cNvSpPr txBox="1"/>
          <p:nvPr/>
        </p:nvSpPr>
        <p:spPr>
          <a:xfrm>
            <a:off x="2740732" y="854265"/>
            <a:ext cx="298480"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6</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20" name="テキスト ボックス 19"/>
          <p:cNvSpPr txBox="1"/>
          <p:nvPr/>
        </p:nvSpPr>
        <p:spPr>
          <a:xfrm>
            <a:off x="3695213" y="854265"/>
            <a:ext cx="298480"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7</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21" name="テキスト ボックス 20"/>
          <p:cNvSpPr txBox="1"/>
          <p:nvPr/>
        </p:nvSpPr>
        <p:spPr>
          <a:xfrm>
            <a:off x="4596354" y="854265"/>
            <a:ext cx="298480"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8</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22" name="テキスト ボックス 21"/>
          <p:cNvSpPr txBox="1"/>
          <p:nvPr/>
        </p:nvSpPr>
        <p:spPr>
          <a:xfrm>
            <a:off x="5566075" y="854265"/>
            <a:ext cx="298480"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9</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23" name="テキスト ボックス 22"/>
          <p:cNvSpPr txBox="1"/>
          <p:nvPr/>
        </p:nvSpPr>
        <p:spPr>
          <a:xfrm>
            <a:off x="6398636" y="854265"/>
            <a:ext cx="412292"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10</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24" name="テキスト ボックス 23"/>
          <p:cNvSpPr txBox="1"/>
          <p:nvPr/>
        </p:nvSpPr>
        <p:spPr>
          <a:xfrm>
            <a:off x="7359459" y="854265"/>
            <a:ext cx="412292"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11</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25" name="テキスト ボックス 24"/>
          <p:cNvSpPr txBox="1"/>
          <p:nvPr/>
        </p:nvSpPr>
        <p:spPr>
          <a:xfrm>
            <a:off x="8297422" y="854265"/>
            <a:ext cx="412292"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12</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26" name="テキスト ボックス 25"/>
          <p:cNvSpPr txBox="1"/>
          <p:nvPr/>
        </p:nvSpPr>
        <p:spPr>
          <a:xfrm>
            <a:off x="9273485" y="854265"/>
            <a:ext cx="298480"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1</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27" name="テキスト ボックス 26"/>
          <p:cNvSpPr txBox="1"/>
          <p:nvPr/>
        </p:nvSpPr>
        <p:spPr>
          <a:xfrm>
            <a:off x="10197486" y="854265"/>
            <a:ext cx="298480"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2</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sp>
        <p:nvSpPr>
          <p:cNvPr id="28" name="テキスト ボックス 27"/>
          <p:cNvSpPr txBox="1"/>
          <p:nvPr/>
        </p:nvSpPr>
        <p:spPr>
          <a:xfrm>
            <a:off x="11121488" y="854265"/>
            <a:ext cx="298480" cy="307777"/>
          </a:xfrm>
          <a:prstGeom prst="rect">
            <a:avLst/>
          </a:prstGeom>
          <a:noFill/>
          <a:ln>
            <a:noFill/>
          </a:ln>
        </p:spPr>
        <p:txBody>
          <a:bodyPr wrap="none" rtlCol="0">
            <a:spAutoFit/>
          </a:bodyPr>
          <a:lstStyle/>
          <a:p>
            <a:r>
              <a:rPr lang="en-US" altLang="ja-JP" sz="14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3</a:t>
            </a:r>
            <a:endParaRPr lang="ja-JP" altLang="en-US" sz="14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cxnSp>
        <p:nvCxnSpPr>
          <p:cNvPr id="29" name="直線コネクタ 28"/>
          <p:cNvCxnSpPr/>
          <p:nvPr/>
        </p:nvCxnSpPr>
        <p:spPr>
          <a:xfrm flipV="1">
            <a:off x="455997"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flipV="1">
            <a:off x="1388546"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2321095"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flipV="1">
            <a:off x="3253644"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flipV="1">
            <a:off x="4186193"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flipV="1">
            <a:off x="5118742"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flipV="1">
            <a:off x="6051291"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flipV="1">
            <a:off x="6983840"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flipV="1">
            <a:off x="7916389"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V="1">
            <a:off x="8848938"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9781487"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p:nvPr/>
        </p:nvCxnSpPr>
        <p:spPr>
          <a:xfrm flipV="1">
            <a:off x="10714037" y="881712"/>
            <a:ext cx="171704" cy="2803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図 4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04702" y="4902256"/>
            <a:ext cx="721521" cy="197697"/>
          </a:xfrm>
          <a:prstGeom prst="rect">
            <a:avLst/>
          </a:prstGeom>
        </p:spPr>
      </p:pic>
      <p:pic>
        <p:nvPicPr>
          <p:cNvPr id="43" name="図 4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9547" y="2750104"/>
            <a:ext cx="647173" cy="276923"/>
          </a:xfrm>
          <a:prstGeom prst="rect">
            <a:avLst/>
          </a:prstGeom>
        </p:spPr>
      </p:pic>
      <p:cxnSp>
        <p:nvCxnSpPr>
          <p:cNvPr id="44" name="直線コネクタ 43"/>
          <p:cNvCxnSpPr/>
          <p:nvPr/>
        </p:nvCxnSpPr>
        <p:spPr>
          <a:xfrm flipH="1">
            <a:off x="455997" y="1162040"/>
            <a:ext cx="949" cy="55652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a:off x="1388546"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a:off x="2321095"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a:off x="3253644"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a:off x="4186193"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p:nvPr/>
        </p:nvCxnSpPr>
        <p:spPr>
          <a:xfrm>
            <a:off x="5118742"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a:off x="6051291"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a:off x="6983840"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p:nvPr/>
        </p:nvCxnSpPr>
        <p:spPr>
          <a:xfrm>
            <a:off x="7916389"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直線コネクタ 52"/>
          <p:cNvCxnSpPr/>
          <p:nvPr/>
        </p:nvCxnSpPr>
        <p:spPr>
          <a:xfrm>
            <a:off x="8848938" y="1162304"/>
            <a:ext cx="0" cy="5564953"/>
          </a:xfrm>
          <a:prstGeom prst="line">
            <a:avLst/>
          </a:prstGeom>
          <a:ln w="3175">
            <a:solidFill>
              <a:schemeClr val="bg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4" name="直線コネクタ 53"/>
          <p:cNvCxnSpPr/>
          <p:nvPr/>
        </p:nvCxnSpPr>
        <p:spPr>
          <a:xfrm>
            <a:off x="9781487"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直線コネクタ 54"/>
          <p:cNvCxnSpPr/>
          <p:nvPr/>
        </p:nvCxnSpPr>
        <p:spPr>
          <a:xfrm>
            <a:off x="10714215"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直線コネクタ 55"/>
          <p:cNvCxnSpPr/>
          <p:nvPr/>
        </p:nvCxnSpPr>
        <p:spPr>
          <a:xfrm>
            <a:off x="455997" y="1162042"/>
            <a:ext cx="1119301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図 5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1551" y="3581294"/>
            <a:ext cx="863165" cy="487331"/>
          </a:xfrm>
          <a:prstGeom prst="rect">
            <a:avLst/>
          </a:prstGeom>
        </p:spPr>
      </p:pic>
      <p:sp>
        <p:nvSpPr>
          <p:cNvPr id="58" name="テキスト ボックス 57"/>
          <p:cNvSpPr txBox="1"/>
          <p:nvPr/>
        </p:nvSpPr>
        <p:spPr>
          <a:xfrm>
            <a:off x="2272586" y="4773324"/>
            <a:ext cx="1040671" cy="307777"/>
          </a:xfrm>
          <a:prstGeom prst="rect">
            <a:avLst/>
          </a:prstGeom>
          <a:noFill/>
          <a:ln>
            <a:solidFill>
              <a:srgbClr val="0000FF"/>
            </a:solidFill>
          </a:ln>
        </p:spPr>
        <p:txBody>
          <a:bodyPr wrap="none" rtlCol="0">
            <a:spAutoFit/>
          </a:bodyPr>
          <a:lstStyle/>
          <a:p>
            <a:pPr algn="ctr"/>
            <a:r>
              <a:rPr lang="ja-JP" altLang="en-US" sz="1400" b="1" dirty="0">
                <a:solidFill>
                  <a:srgbClr val="3D50AD"/>
                </a:solidFill>
                <a:latin typeface="HGPｺﾞｼｯｸE" panose="020B0900000000000000" pitchFamily="50" charset="-128"/>
                <a:ea typeface="HGPｺﾞｼｯｸE" panose="020B0900000000000000" pitchFamily="50" charset="-128"/>
                <a:cs typeface="Tahoma" panose="020B0604030504040204" pitchFamily="34" charset="0"/>
              </a:rPr>
              <a:t>ビガー研修</a:t>
            </a:r>
          </a:p>
        </p:txBody>
      </p:sp>
      <p:pic>
        <p:nvPicPr>
          <p:cNvPr id="59" name="図 5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02795" y="3232238"/>
            <a:ext cx="863165" cy="487331"/>
          </a:xfrm>
          <a:prstGeom prst="rect">
            <a:avLst/>
          </a:prstGeom>
        </p:spPr>
      </p:pic>
      <p:sp>
        <p:nvSpPr>
          <p:cNvPr id="60" name="テキスト ボックス 59"/>
          <p:cNvSpPr txBox="1"/>
          <p:nvPr/>
        </p:nvSpPr>
        <p:spPr>
          <a:xfrm>
            <a:off x="3266817" y="3760332"/>
            <a:ext cx="963725" cy="307777"/>
          </a:xfrm>
          <a:prstGeom prst="rect">
            <a:avLst/>
          </a:prstGeom>
          <a:noFill/>
        </p:spPr>
        <p:txBody>
          <a:bodyPr wrap="none" rtlCol="0">
            <a:spAutoFit/>
          </a:bodyPr>
          <a:lstStyle/>
          <a:p>
            <a:pPr algn="ctr"/>
            <a:r>
              <a:rPr lang="ja-JP" altLang="en-US" sz="14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rPr>
              <a:t>会社見学</a:t>
            </a:r>
            <a:r>
              <a:rPr lang="en-US" altLang="ja-JP" sz="14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rPr>
              <a:t> </a:t>
            </a:r>
            <a:endParaRPr lang="ja-JP" altLang="en-US" sz="14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endParaRPr>
          </a:p>
        </p:txBody>
      </p:sp>
      <p:sp>
        <p:nvSpPr>
          <p:cNvPr id="61" name="テキスト ボックス 60"/>
          <p:cNvSpPr txBox="1"/>
          <p:nvPr/>
        </p:nvSpPr>
        <p:spPr>
          <a:xfrm>
            <a:off x="3276011" y="2444530"/>
            <a:ext cx="902811" cy="523220"/>
          </a:xfrm>
          <a:prstGeom prst="rect">
            <a:avLst/>
          </a:prstGeom>
          <a:noFill/>
        </p:spPr>
        <p:txBody>
          <a:bodyPr wrap="none" rtlCol="0">
            <a:spAutoFit/>
          </a:bodyPr>
          <a:lstStyle/>
          <a:p>
            <a:pPr algn="ctr"/>
            <a:r>
              <a:rPr lang="ja-JP" altLang="en-US" sz="14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rPr>
              <a:t>小山誠様</a:t>
            </a:r>
            <a:endParaRPr lang="en-US" altLang="ja-JP" sz="14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endParaRPr>
          </a:p>
          <a:p>
            <a:pPr algn="ctr"/>
            <a:r>
              <a:rPr lang="ja-JP" altLang="en-US" sz="14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rPr>
              <a:t>講演会</a:t>
            </a:r>
          </a:p>
        </p:txBody>
      </p:sp>
      <p:sp>
        <p:nvSpPr>
          <p:cNvPr id="62" name="テキスト ボックス 61"/>
          <p:cNvSpPr txBox="1"/>
          <p:nvPr/>
        </p:nvSpPr>
        <p:spPr>
          <a:xfrm>
            <a:off x="3276012" y="4366926"/>
            <a:ext cx="902811" cy="523220"/>
          </a:xfrm>
          <a:prstGeom prst="rect">
            <a:avLst/>
          </a:prstGeom>
          <a:noFill/>
        </p:spPr>
        <p:txBody>
          <a:bodyPr wrap="none" rtlCol="0">
            <a:spAutoFit/>
          </a:bodyPr>
          <a:lstStyle/>
          <a:p>
            <a:pPr algn="ctr"/>
            <a:r>
              <a:rPr lang="ja-JP" altLang="en-US" sz="14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rPr>
              <a:t>川野先生</a:t>
            </a:r>
            <a:endParaRPr lang="en-US" altLang="ja-JP" sz="14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endParaRPr>
          </a:p>
          <a:p>
            <a:pPr algn="ctr"/>
            <a:r>
              <a:rPr lang="ja-JP" altLang="en-US" sz="14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rPr>
              <a:t>講演会</a:t>
            </a:r>
          </a:p>
        </p:txBody>
      </p:sp>
      <p:pic>
        <p:nvPicPr>
          <p:cNvPr id="63" name="図 6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470740" y="5093365"/>
            <a:ext cx="543749" cy="543749"/>
          </a:xfrm>
          <a:prstGeom prst="rect">
            <a:avLst/>
          </a:prstGeom>
        </p:spPr>
      </p:pic>
      <p:pic>
        <p:nvPicPr>
          <p:cNvPr id="64" name="図 6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77033" y="6230268"/>
            <a:ext cx="914688" cy="514512"/>
          </a:xfrm>
          <a:prstGeom prst="rect">
            <a:avLst/>
          </a:prstGeom>
        </p:spPr>
      </p:pic>
      <p:pic>
        <p:nvPicPr>
          <p:cNvPr id="65" name="図 6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399520" y="5964721"/>
            <a:ext cx="804832" cy="181781"/>
          </a:xfrm>
          <a:prstGeom prst="rect">
            <a:avLst/>
          </a:prstGeom>
        </p:spPr>
      </p:pic>
      <p:pic>
        <p:nvPicPr>
          <p:cNvPr id="66" name="図 6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264799" y="3134381"/>
            <a:ext cx="1023060" cy="683043"/>
          </a:xfrm>
          <a:prstGeom prst="rect">
            <a:avLst/>
          </a:prstGeom>
        </p:spPr>
      </p:pic>
      <p:pic>
        <p:nvPicPr>
          <p:cNvPr id="67" name="図 6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437839" y="2968181"/>
            <a:ext cx="848887" cy="382597"/>
          </a:xfrm>
          <a:prstGeom prst="rect">
            <a:avLst/>
          </a:prstGeom>
        </p:spPr>
      </p:pic>
      <p:sp>
        <p:nvSpPr>
          <p:cNvPr id="68" name="テキスト ボックス 67"/>
          <p:cNvSpPr txBox="1"/>
          <p:nvPr/>
        </p:nvSpPr>
        <p:spPr>
          <a:xfrm>
            <a:off x="4354605" y="3644268"/>
            <a:ext cx="607859" cy="261610"/>
          </a:xfrm>
          <a:prstGeom prst="rect">
            <a:avLst/>
          </a:prstGeom>
          <a:noFill/>
        </p:spPr>
        <p:txBody>
          <a:bodyPr wrap="none" rtlCol="0">
            <a:spAutoFit/>
          </a:bodyPr>
          <a:lstStyle/>
          <a:p>
            <a:pPr algn="ctr"/>
            <a:r>
              <a:rPr lang="ja-JP" altLang="en-US" sz="1100" b="1" dirty="0">
                <a:solidFill>
                  <a:schemeClr val="tx1">
                    <a:lumMod val="75000"/>
                    <a:lumOff val="25000"/>
                  </a:schemeClr>
                </a:solidFill>
                <a:latin typeface="メイリオ" panose="020B0604030504040204" pitchFamily="50" charset="-128"/>
                <a:ea typeface="メイリオ" panose="020B0604030504040204" pitchFamily="50" charset="-128"/>
                <a:cs typeface="Tahoma" panose="020B0604030504040204" pitchFamily="34" charset="0"/>
              </a:rPr>
              <a:t>夏休み</a:t>
            </a:r>
          </a:p>
        </p:txBody>
      </p:sp>
      <p:pic>
        <p:nvPicPr>
          <p:cNvPr id="69" name="図 68">
            <a:extLst>
              <a:ext uri="{FF2B5EF4-FFF2-40B4-BE49-F238E27FC236}">
                <a16:creationId xmlns:a16="http://schemas.microsoft.com/office/drawing/2014/main" id="{6272604B-CFD3-4516-AF87-0C0CF5C0C312}"/>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178211" y="4621788"/>
            <a:ext cx="832702" cy="478165"/>
          </a:xfrm>
          <a:prstGeom prst="rect">
            <a:avLst/>
          </a:prstGeom>
        </p:spPr>
      </p:pic>
      <p:pic>
        <p:nvPicPr>
          <p:cNvPr id="70" name="図 69">
            <a:extLst>
              <a:ext uri="{FF2B5EF4-FFF2-40B4-BE49-F238E27FC236}">
                <a16:creationId xmlns:a16="http://schemas.microsoft.com/office/drawing/2014/main" id="{F3FABB88-64F6-4AAD-B82B-E68EEA66630D}"/>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169851" y="2418470"/>
            <a:ext cx="841063" cy="441558"/>
          </a:xfrm>
          <a:prstGeom prst="rect">
            <a:avLst/>
          </a:prstGeom>
        </p:spPr>
      </p:pic>
      <p:pic>
        <p:nvPicPr>
          <p:cNvPr id="71" name="図 70">
            <a:extLst>
              <a:ext uri="{FF2B5EF4-FFF2-40B4-BE49-F238E27FC236}">
                <a16:creationId xmlns:a16="http://schemas.microsoft.com/office/drawing/2014/main" id="{8C06FD9A-4C63-40B0-8E47-EAA33A56577C}"/>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169851" y="1414739"/>
            <a:ext cx="841063" cy="441558"/>
          </a:xfrm>
          <a:prstGeom prst="rect">
            <a:avLst/>
          </a:prstGeom>
        </p:spPr>
      </p:pic>
      <p:grpSp>
        <p:nvGrpSpPr>
          <p:cNvPr id="72" name="グループ化 71">
            <a:extLst>
              <a:ext uri="{FF2B5EF4-FFF2-40B4-BE49-F238E27FC236}">
                <a16:creationId xmlns:a16="http://schemas.microsoft.com/office/drawing/2014/main" id="{EC7FD482-68ED-4E1D-8DDC-DDC8B7080D42}"/>
              </a:ext>
            </a:extLst>
          </p:cNvPr>
          <p:cNvGrpSpPr/>
          <p:nvPr/>
        </p:nvGrpSpPr>
        <p:grpSpPr>
          <a:xfrm>
            <a:off x="5183238" y="5693829"/>
            <a:ext cx="819842" cy="819842"/>
            <a:chOff x="5183238" y="5438861"/>
            <a:chExt cx="819842" cy="819842"/>
          </a:xfrm>
        </p:grpSpPr>
        <p:pic>
          <p:nvPicPr>
            <p:cNvPr id="73" name="図 72">
              <a:extLst>
                <a:ext uri="{FF2B5EF4-FFF2-40B4-BE49-F238E27FC236}">
                  <a16:creationId xmlns:a16="http://schemas.microsoft.com/office/drawing/2014/main" id="{AF8538FF-882C-4BE1-882E-CDE7A21A6B69}"/>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183238" y="5438861"/>
              <a:ext cx="819842" cy="819842"/>
            </a:xfrm>
            <a:prstGeom prst="rect">
              <a:avLst/>
            </a:prstGeom>
          </p:spPr>
        </p:pic>
        <p:sp>
          <p:nvSpPr>
            <p:cNvPr id="74" name="テキスト ボックス 73">
              <a:extLst>
                <a:ext uri="{FF2B5EF4-FFF2-40B4-BE49-F238E27FC236}">
                  <a16:creationId xmlns:a16="http://schemas.microsoft.com/office/drawing/2014/main" id="{0E86126B-BE5F-49BA-A2B6-6C7093201E9F}"/>
                </a:ext>
              </a:extLst>
            </p:cNvPr>
            <p:cNvSpPr txBox="1"/>
            <p:nvPr/>
          </p:nvSpPr>
          <p:spPr>
            <a:xfrm>
              <a:off x="5237896" y="5997093"/>
              <a:ext cx="748923" cy="261610"/>
            </a:xfrm>
            <a:prstGeom prst="rect">
              <a:avLst/>
            </a:prstGeom>
            <a:noFill/>
          </p:spPr>
          <p:txBody>
            <a:bodyPr wrap="none" rtlCol="0">
              <a:spAutoFit/>
            </a:bodyPr>
            <a:lstStyle/>
            <a:p>
              <a:pPr algn="ctr"/>
              <a:r>
                <a:rPr lang="ja-JP" altLang="en-US" sz="1100" b="1" dirty="0">
                  <a:solidFill>
                    <a:schemeClr val="bg1">
                      <a:lumMod val="75000"/>
                      <a:lumOff val="25000"/>
                    </a:schemeClr>
                  </a:solidFill>
                  <a:latin typeface="メイリオ" panose="020B0604030504040204" pitchFamily="50" charset="-128"/>
                  <a:ea typeface="メイリオ" panose="020B0604030504040204" pitchFamily="50" charset="-128"/>
                  <a:cs typeface="Tahoma" panose="020B0604030504040204" pitchFamily="34" charset="0"/>
                </a:rPr>
                <a:t>会社見学</a:t>
              </a:r>
            </a:p>
          </p:txBody>
        </p:sp>
      </p:grpSp>
      <p:pic>
        <p:nvPicPr>
          <p:cNvPr id="75" name="図 74">
            <a:extLst>
              <a:ext uri="{FF2B5EF4-FFF2-40B4-BE49-F238E27FC236}">
                <a16:creationId xmlns:a16="http://schemas.microsoft.com/office/drawing/2014/main" id="{BB9E04B1-5E3A-4ECD-A0ED-071B5577AC40}"/>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106193" y="5699927"/>
            <a:ext cx="826897" cy="369347"/>
          </a:xfrm>
          <a:prstGeom prst="rect">
            <a:avLst/>
          </a:prstGeom>
        </p:spPr>
      </p:pic>
      <p:pic>
        <p:nvPicPr>
          <p:cNvPr id="76" name="図 75">
            <a:extLst>
              <a:ext uri="{FF2B5EF4-FFF2-40B4-BE49-F238E27FC236}">
                <a16:creationId xmlns:a16="http://schemas.microsoft.com/office/drawing/2014/main" id="{3F594C24-E1B0-45BF-A5DA-1BD243F7FCE9}"/>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6108989" y="5218606"/>
            <a:ext cx="815381" cy="354514"/>
          </a:xfrm>
          <a:prstGeom prst="rect">
            <a:avLst/>
          </a:prstGeom>
        </p:spPr>
      </p:pic>
      <p:pic>
        <p:nvPicPr>
          <p:cNvPr id="77" name="図 76">
            <a:extLst>
              <a:ext uri="{FF2B5EF4-FFF2-40B4-BE49-F238E27FC236}">
                <a16:creationId xmlns:a16="http://schemas.microsoft.com/office/drawing/2014/main" id="{F9B1F110-5386-4BF2-BCAF-328C64D8D78B}"/>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181713" y="3276831"/>
            <a:ext cx="699245" cy="875079"/>
          </a:xfrm>
          <a:prstGeom prst="rect">
            <a:avLst/>
          </a:prstGeom>
        </p:spPr>
      </p:pic>
      <p:pic>
        <p:nvPicPr>
          <p:cNvPr id="78" name="図 77">
            <a:extLst>
              <a:ext uri="{FF2B5EF4-FFF2-40B4-BE49-F238E27FC236}">
                <a16:creationId xmlns:a16="http://schemas.microsoft.com/office/drawing/2014/main" id="{DD4F4B22-294D-4C56-BC7A-C7B1C1081879}"/>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107578" y="1390565"/>
            <a:ext cx="819955" cy="809071"/>
          </a:xfrm>
          <a:prstGeom prst="rect">
            <a:avLst/>
          </a:prstGeom>
        </p:spPr>
      </p:pic>
      <p:pic>
        <p:nvPicPr>
          <p:cNvPr id="79" name="図 78">
            <a:extLst>
              <a:ext uri="{FF2B5EF4-FFF2-40B4-BE49-F238E27FC236}">
                <a16:creationId xmlns:a16="http://schemas.microsoft.com/office/drawing/2014/main" id="{CEBB1A7C-9C3C-404F-A7E6-9151584516C8}"/>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104528" y="4364917"/>
            <a:ext cx="819842" cy="819842"/>
          </a:xfrm>
          <a:prstGeom prst="rect">
            <a:avLst/>
          </a:prstGeom>
        </p:spPr>
      </p:pic>
      <p:pic>
        <p:nvPicPr>
          <p:cNvPr id="80" name="図 79">
            <a:extLst>
              <a:ext uri="{FF2B5EF4-FFF2-40B4-BE49-F238E27FC236}">
                <a16:creationId xmlns:a16="http://schemas.microsoft.com/office/drawing/2014/main" id="{481D0F88-AFF5-4E65-A920-96EEA4E83B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10106" y="3390094"/>
            <a:ext cx="721521" cy="197697"/>
          </a:xfrm>
          <a:prstGeom prst="rect">
            <a:avLst/>
          </a:prstGeom>
        </p:spPr>
      </p:pic>
      <p:pic>
        <p:nvPicPr>
          <p:cNvPr id="81" name="図 80">
            <a:extLst>
              <a:ext uri="{FF2B5EF4-FFF2-40B4-BE49-F238E27FC236}">
                <a16:creationId xmlns:a16="http://schemas.microsoft.com/office/drawing/2014/main" id="{31D554A0-A74A-4A4C-ACD2-B901CFEB9606}"/>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024556" y="2403271"/>
            <a:ext cx="870651" cy="870651"/>
          </a:xfrm>
          <a:prstGeom prst="rect">
            <a:avLst/>
          </a:prstGeom>
        </p:spPr>
      </p:pic>
      <p:pic>
        <p:nvPicPr>
          <p:cNvPr id="82" name="図 81">
            <a:extLst>
              <a:ext uri="{FF2B5EF4-FFF2-40B4-BE49-F238E27FC236}">
                <a16:creationId xmlns:a16="http://schemas.microsoft.com/office/drawing/2014/main" id="{D28133C4-AE8C-4AE1-B2CD-80A40831F79C}"/>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042021" y="1856297"/>
            <a:ext cx="846534" cy="507274"/>
          </a:xfrm>
          <a:prstGeom prst="rect">
            <a:avLst/>
          </a:prstGeom>
        </p:spPr>
      </p:pic>
      <p:sp>
        <p:nvSpPr>
          <p:cNvPr id="83" name="正方形/長方形 82">
            <a:extLst>
              <a:ext uri="{FF2B5EF4-FFF2-40B4-BE49-F238E27FC236}">
                <a16:creationId xmlns:a16="http://schemas.microsoft.com/office/drawing/2014/main" id="{5974A7E6-9530-4B3A-A6DF-220A19BBBEAB}"/>
              </a:ext>
            </a:extLst>
          </p:cNvPr>
          <p:cNvSpPr/>
          <p:nvPr/>
        </p:nvSpPr>
        <p:spPr>
          <a:xfrm>
            <a:off x="7930389" y="1162040"/>
            <a:ext cx="1851097" cy="5687043"/>
          </a:xfrm>
          <a:prstGeom prst="rect">
            <a:avLst/>
          </a:prstGeom>
          <a:solidFill>
            <a:srgbClr val="29AF8C">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テキスト ボックス 83">
            <a:extLst>
              <a:ext uri="{FF2B5EF4-FFF2-40B4-BE49-F238E27FC236}">
                <a16:creationId xmlns:a16="http://schemas.microsoft.com/office/drawing/2014/main" id="{34B794A7-B738-4D22-805A-D0190D913072}"/>
              </a:ext>
            </a:extLst>
          </p:cNvPr>
          <p:cNvSpPr txBox="1"/>
          <p:nvPr/>
        </p:nvSpPr>
        <p:spPr>
          <a:xfrm>
            <a:off x="8552007" y="3644268"/>
            <a:ext cx="607859" cy="261610"/>
          </a:xfrm>
          <a:prstGeom prst="rect">
            <a:avLst/>
          </a:prstGeom>
          <a:noFill/>
        </p:spPr>
        <p:txBody>
          <a:bodyPr wrap="none" rtlCol="0">
            <a:spAutoFit/>
          </a:bodyPr>
          <a:lstStyle/>
          <a:p>
            <a:pPr algn="ctr"/>
            <a:r>
              <a:rPr lang="ja-JP" altLang="en-US" sz="1100" b="1" dirty="0">
                <a:solidFill>
                  <a:schemeClr val="tx1">
                    <a:lumMod val="75000"/>
                    <a:lumOff val="25000"/>
                  </a:schemeClr>
                </a:solidFill>
                <a:latin typeface="メイリオ" panose="020B0604030504040204" pitchFamily="50" charset="-128"/>
                <a:ea typeface="メイリオ" panose="020B0604030504040204" pitchFamily="50" charset="-128"/>
                <a:cs typeface="Tahoma" panose="020B0604030504040204" pitchFamily="34" charset="0"/>
              </a:rPr>
              <a:t>冬休み</a:t>
            </a:r>
          </a:p>
        </p:txBody>
      </p:sp>
      <p:sp>
        <p:nvSpPr>
          <p:cNvPr id="85" name="テキスト ボックス 84">
            <a:extLst>
              <a:ext uri="{FF2B5EF4-FFF2-40B4-BE49-F238E27FC236}">
                <a16:creationId xmlns:a16="http://schemas.microsoft.com/office/drawing/2014/main" id="{47E2E721-706E-49D1-927F-FD86064CFE6C}"/>
              </a:ext>
            </a:extLst>
          </p:cNvPr>
          <p:cNvSpPr txBox="1"/>
          <p:nvPr/>
        </p:nvSpPr>
        <p:spPr>
          <a:xfrm>
            <a:off x="9824964" y="1378363"/>
            <a:ext cx="889987" cy="430887"/>
          </a:xfrm>
          <a:prstGeom prst="rect">
            <a:avLst/>
          </a:prstGeom>
          <a:noFill/>
        </p:spPr>
        <p:txBody>
          <a:bodyPr wrap="none" rtlCol="0">
            <a:spAutoFit/>
          </a:bodyPr>
          <a:lstStyle/>
          <a:p>
            <a:pPr algn="ctr"/>
            <a:r>
              <a:rPr lang="ja-JP" altLang="en-US" sz="11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rPr>
              <a:t>作品展示会</a:t>
            </a:r>
            <a:br>
              <a:rPr lang="en-US" altLang="ja-JP" sz="11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rPr>
            </a:br>
            <a:r>
              <a:rPr lang="ja-JP" altLang="en-US" sz="1100" b="1" dirty="0">
                <a:solidFill>
                  <a:srgbClr val="F38603"/>
                </a:solidFill>
                <a:latin typeface="HGPｺﾞｼｯｸE" panose="020B0900000000000000" pitchFamily="50" charset="-128"/>
                <a:ea typeface="HGPｺﾞｼｯｸE" panose="020B0900000000000000" pitchFamily="50" charset="-128"/>
                <a:cs typeface="Tahoma" panose="020B0604030504040204" pitchFamily="34" charset="0"/>
              </a:rPr>
              <a:t>（企業）</a:t>
            </a:r>
          </a:p>
        </p:txBody>
      </p:sp>
      <p:pic>
        <p:nvPicPr>
          <p:cNvPr id="86" name="図 85">
            <a:extLst>
              <a:ext uri="{FF2B5EF4-FFF2-40B4-BE49-F238E27FC236}">
                <a16:creationId xmlns:a16="http://schemas.microsoft.com/office/drawing/2014/main" id="{C1E8752F-1090-4BEC-9B58-4DD896606502}"/>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9838415" y="2190893"/>
            <a:ext cx="846534" cy="507274"/>
          </a:xfrm>
          <a:prstGeom prst="rect">
            <a:avLst/>
          </a:prstGeom>
        </p:spPr>
      </p:pic>
      <p:pic>
        <p:nvPicPr>
          <p:cNvPr id="87" name="図 86">
            <a:extLst>
              <a:ext uri="{FF2B5EF4-FFF2-40B4-BE49-F238E27FC236}">
                <a16:creationId xmlns:a16="http://schemas.microsoft.com/office/drawing/2014/main" id="{7FBE7DA5-1B9B-4B82-BCA0-61C8AA77F4A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9838414" y="3109905"/>
            <a:ext cx="834331" cy="1068726"/>
          </a:xfrm>
          <a:prstGeom prst="rect">
            <a:avLst/>
          </a:prstGeom>
        </p:spPr>
      </p:pic>
      <p:pic>
        <p:nvPicPr>
          <p:cNvPr id="88" name="図 87">
            <a:extLst>
              <a:ext uri="{FF2B5EF4-FFF2-40B4-BE49-F238E27FC236}">
                <a16:creationId xmlns:a16="http://schemas.microsoft.com/office/drawing/2014/main" id="{56AB7F80-2974-4D2C-8926-4A61316F5C0C}"/>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9838414" y="6103615"/>
            <a:ext cx="834330" cy="246554"/>
          </a:xfrm>
          <a:prstGeom prst="rect">
            <a:avLst/>
          </a:prstGeom>
        </p:spPr>
      </p:pic>
      <p:pic>
        <p:nvPicPr>
          <p:cNvPr id="89" name="図 88">
            <a:extLst>
              <a:ext uri="{FF2B5EF4-FFF2-40B4-BE49-F238E27FC236}">
                <a16:creationId xmlns:a16="http://schemas.microsoft.com/office/drawing/2014/main" id="{644ECD27-7703-486F-A555-4BF3E4300257}"/>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9824964" y="4511692"/>
            <a:ext cx="859985" cy="1018403"/>
          </a:xfrm>
          <a:prstGeom prst="rect">
            <a:avLst/>
          </a:prstGeom>
        </p:spPr>
      </p:pic>
      <p:pic>
        <p:nvPicPr>
          <p:cNvPr id="90" name="図 89">
            <a:extLst>
              <a:ext uri="{FF2B5EF4-FFF2-40B4-BE49-F238E27FC236}">
                <a16:creationId xmlns:a16="http://schemas.microsoft.com/office/drawing/2014/main" id="{723D1CC4-E334-4C62-AE21-3BE29C17D80B}"/>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10819400" y="2998462"/>
            <a:ext cx="796465" cy="796465"/>
          </a:xfrm>
          <a:prstGeom prst="rect">
            <a:avLst/>
          </a:prstGeom>
        </p:spPr>
      </p:pic>
      <p:pic>
        <p:nvPicPr>
          <p:cNvPr id="91" name="図 90">
            <a:extLst>
              <a:ext uri="{FF2B5EF4-FFF2-40B4-BE49-F238E27FC236}">
                <a16:creationId xmlns:a16="http://schemas.microsoft.com/office/drawing/2014/main" id="{65DFEE6D-0332-4E3C-B39F-F4C33A6F33E2}"/>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10895351" y="1869409"/>
            <a:ext cx="669547" cy="669547"/>
          </a:xfrm>
          <a:prstGeom prst="rect">
            <a:avLst/>
          </a:prstGeom>
        </p:spPr>
      </p:pic>
      <p:pic>
        <p:nvPicPr>
          <p:cNvPr id="92" name="図 91">
            <a:extLst>
              <a:ext uri="{FF2B5EF4-FFF2-40B4-BE49-F238E27FC236}">
                <a16:creationId xmlns:a16="http://schemas.microsoft.com/office/drawing/2014/main" id="{42A8894C-1B17-4ABB-927F-7A23CEEF5BC8}"/>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10865727" y="1252830"/>
            <a:ext cx="703809" cy="640490"/>
          </a:xfrm>
          <a:prstGeom prst="rect">
            <a:avLst/>
          </a:prstGeom>
        </p:spPr>
      </p:pic>
      <p:pic>
        <p:nvPicPr>
          <p:cNvPr id="93" name="図 92">
            <a:extLst>
              <a:ext uri="{FF2B5EF4-FFF2-40B4-BE49-F238E27FC236}">
                <a16:creationId xmlns:a16="http://schemas.microsoft.com/office/drawing/2014/main" id="{A1D86CC8-240C-4B47-84AA-2794E5728D8E}"/>
              </a:ext>
            </a:extLst>
          </p:cNvPr>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10846097" y="5869736"/>
            <a:ext cx="748062" cy="743075"/>
          </a:xfrm>
          <a:prstGeom prst="rect">
            <a:avLst/>
          </a:prstGeom>
        </p:spPr>
      </p:pic>
      <p:pic>
        <p:nvPicPr>
          <p:cNvPr id="94" name="図 93">
            <a:extLst>
              <a:ext uri="{FF2B5EF4-FFF2-40B4-BE49-F238E27FC236}">
                <a16:creationId xmlns:a16="http://schemas.microsoft.com/office/drawing/2014/main" id="{04C50749-49A3-496B-B2F5-FF53A38A43BB}"/>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10826981" y="5214667"/>
            <a:ext cx="766817" cy="587850"/>
          </a:xfrm>
          <a:prstGeom prst="rect">
            <a:avLst/>
          </a:prstGeom>
        </p:spPr>
      </p:pic>
      <p:pic>
        <p:nvPicPr>
          <p:cNvPr id="95" name="図 94">
            <a:extLst>
              <a:ext uri="{FF2B5EF4-FFF2-40B4-BE49-F238E27FC236}">
                <a16:creationId xmlns:a16="http://schemas.microsoft.com/office/drawing/2014/main" id="{971A2ADB-4B3F-400E-ACEC-5712BDDAA9DD}"/>
              </a:ext>
            </a:extLst>
          </p:cNvPr>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10765532" y="2528391"/>
            <a:ext cx="889114" cy="381781"/>
          </a:xfrm>
          <a:prstGeom prst="rect">
            <a:avLst/>
          </a:prstGeom>
        </p:spPr>
      </p:pic>
      <p:pic>
        <p:nvPicPr>
          <p:cNvPr id="96" name="図 95">
            <a:extLst>
              <a:ext uri="{FF2B5EF4-FFF2-40B4-BE49-F238E27FC236}">
                <a16:creationId xmlns:a16="http://schemas.microsoft.com/office/drawing/2014/main" id="{3C84D462-7540-4797-B4BF-D9B51D715D14}"/>
              </a:ext>
            </a:extLst>
          </p:cNvPr>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10781543" y="4019726"/>
            <a:ext cx="873103" cy="158905"/>
          </a:xfrm>
          <a:prstGeom prst="rect">
            <a:avLst/>
          </a:prstGeom>
        </p:spPr>
      </p:pic>
      <p:pic>
        <p:nvPicPr>
          <p:cNvPr id="97" name="図 96">
            <a:extLst>
              <a:ext uri="{FF2B5EF4-FFF2-40B4-BE49-F238E27FC236}">
                <a16:creationId xmlns:a16="http://schemas.microsoft.com/office/drawing/2014/main" id="{65736CA5-7C14-4295-A0CD-CCB35BD4D9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33196" y="3390094"/>
            <a:ext cx="721521" cy="197697"/>
          </a:xfrm>
          <a:prstGeom prst="rect">
            <a:avLst/>
          </a:prstGeom>
        </p:spPr>
      </p:pic>
      <p:pic>
        <p:nvPicPr>
          <p:cNvPr id="99" name="図 98">
            <a:extLst>
              <a:ext uri="{FF2B5EF4-FFF2-40B4-BE49-F238E27FC236}">
                <a16:creationId xmlns:a16="http://schemas.microsoft.com/office/drawing/2014/main" id="{0DC68C42-9CA0-4F35-8D9E-7178768E3D80}"/>
              </a:ext>
            </a:extLst>
          </p:cNvPr>
          <p:cNvPicPr>
            <a:picLocks noChangeAspect="1"/>
          </p:cNvPicPr>
          <p:nvPr/>
        </p:nvPicPr>
        <p:blipFill>
          <a:blip r:embed="rId33" cstate="print">
            <a:extLst>
              <a:ext uri="{28A0092B-C50C-407E-A947-70E740481C1C}">
                <a14:useLocalDpi xmlns:a14="http://schemas.microsoft.com/office/drawing/2010/main" val="0"/>
              </a:ext>
            </a:extLst>
          </a:blip>
          <a:stretch>
            <a:fillRect/>
          </a:stretch>
        </p:blipFill>
        <p:spPr>
          <a:xfrm>
            <a:off x="7051168" y="5751731"/>
            <a:ext cx="821745" cy="821745"/>
          </a:xfrm>
          <a:prstGeom prst="rect">
            <a:avLst/>
          </a:prstGeom>
        </p:spPr>
      </p:pic>
      <p:pic>
        <p:nvPicPr>
          <p:cNvPr id="100" name="図 99">
            <a:extLst>
              <a:ext uri="{FF2B5EF4-FFF2-40B4-BE49-F238E27FC236}">
                <a16:creationId xmlns:a16="http://schemas.microsoft.com/office/drawing/2014/main" id="{B81C2B0E-A909-41EC-A7D3-032D31405A43}"/>
              </a:ext>
            </a:extLst>
          </p:cNvPr>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7040009" y="4850355"/>
            <a:ext cx="847691" cy="561458"/>
          </a:xfrm>
          <a:prstGeom prst="rect">
            <a:avLst/>
          </a:prstGeom>
        </p:spPr>
      </p:pic>
      <p:pic>
        <p:nvPicPr>
          <p:cNvPr id="102" name="図 101">
            <a:extLst>
              <a:ext uri="{FF2B5EF4-FFF2-40B4-BE49-F238E27FC236}">
                <a16:creationId xmlns:a16="http://schemas.microsoft.com/office/drawing/2014/main" id="{82C069EC-4452-449C-AA4B-1B398E7F03B3}"/>
              </a:ext>
            </a:extLst>
          </p:cNvPr>
          <p:cNvPicPr>
            <a:picLocks noChangeAspect="1"/>
          </p:cNvPicPr>
          <p:nvPr/>
        </p:nvPicPr>
        <p:blipFill>
          <a:blip r:embed="rId35" cstate="print">
            <a:extLst>
              <a:ext uri="{28A0092B-C50C-407E-A947-70E740481C1C}">
                <a14:useLocalDpi xmlns:a14="http://schemas.microsoft.com/office/drawing/2010/main" val="0"/>
              </a:ext>
            </a:extLst>
          </a:blip>
          <a:stretch>
            <a:fillRect/>
          </a:stretch>
        </p:blipFill>
        <p:spPr>
          <a:xfrm>
            <a:off x="10765532" y="4329912"/>
            <a:ext cx="873104" cy="216571"/>
          </a:xfrm>
          <a:prstGeom prst="rect">
            <a:avLst/>
          </a:prstGeom>
        </p:spPr>
      </p:pic>
      <p:sp>
        <p:nvSpPr>
          <p:cNvPr id="103" name="テキスト ボックス 102"/>
          <p:cNvSpPr txBox="1"/>
          <p:nvPr/>
        </p:nvSpPr>
        <p:spPr>
          <a:xfrm>
            <a:off x="6039251" y="2538956"/>
            <a:ext cx="987771" cy="307777"/>
          </a:xfrm>
          <a:prstGeom prst="rect">
            <a:avLst/>
          </a:prstGeom>
          <a:noFill/>
          <a:ln>
            <a:solidFill>
              <a:srgbClr val="0000FF"/>
            </a:solidFill>
          </a:ln>
        </p:spPr>
        <p:txBody>
          <a:bodyPr wrap="none" rtlCol="0">
            <a:spAutoFit/>
          </a:bodyPr>
          <a:lstStyle/>
          <a:p>
            <a:pPr algn="ctr"/>
            <a:r>
              <a:rPr lang="ja-JP" altLang="en-US" sz="1400" b="1" dirty="0">
                <a:solidFill>
                  <a:srgbClr val="3D50AD"/>
                </a:solidFill>
                <a:latin typeface="HGPｺﾞｼｯｸE" panose="020B0900000000000000" pitchFamily="50" charset="-128"/>
                <a:ea typeface="HGPｺﾞｼｯｸE" panose="020B0900000000000000" pitchFamily="50" charset="-128"/>
                <a:cs typeface="Tahoma" panose="020B0604030504040204" pitchFamily="34" charset="0"/>
              </a:rPr>
              <a:t>スポフェス</a:t>
            </a:r>
          </a:p>
        </p:txBody>
      </p:sp>
      <p:sp>
        <p:nvSpPr>
          <p:cNvPr id="108" name="テキスト ボックス 107"/>
          <p:cNvSpPr txBox="1"/>
          <p:nvPr/>
        </p:nvSpPr>
        <p:spPr>
          <a:xfrm>
            <a:off x="11564898" y="918396"/>
            <a:ext cx="561372" cy="230832"/>
          </a:xfrm>
          <a:prstGeom prst="rect">
            <a:avLst/>
          </a:prstGeom>
          <a:noFill/>
        </p:spPr>
        <p:txBody>
          <a:bodyPr wrap="none" rtlCol="0">
            <a:spAutoFit/>
          </a:bodyPr>
          <a:lstStyle/>
          <a:p>
            <a:r>
              <a:rPr lang="en-US" altLang="ja-JP" sz="9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month</a:t>
            </a:r>
            <a:endParaRPr lang="ja-JP" altLang="en-US" sz="900" b="1" dirty="0">
              <a:solidFill>
                <a:schemeClr val="tx1">
                  <a:lumMod val="75000"/>
                  <a:lumOff val="25000"/>
                </a:schemeClr>
              </a:solidFill>
              <a:latin typeface="Tahoma" panose="020B0604030504040204" pitchFamily="34" charset="0"/>
              <a:ea typeface="HGPｺﾞｼｯｸE" panose="020B0900000000000000" pitchFamily="50" charset="-128"/>
              <a:cs typeface="Tahoma" panose="020B0604030504040204" pitchFamily="34" charset="0"/>
            </a:endParaRPr>
          </a:p>
        </p:txBody>
      </p:sp>
      <p:pic>
        <p:nvPicPr>
          <p:cNvPr id="98" name="図 97">
            <a:extLst>
              <a:ext uri="{FF2B5EF4-FFF2-40B4-BE49-F238E27FC236}">
                <a16:creationId xmlns:a16="http://schemas.microsoft.com/office/drawing/2014/main" id="{DD4F4B22-294D-4C56-BC7A-C7B1C1081879}"/>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18028" y="4602742"/>
            <a:ext cx="819955" cy="809071"/>
          </a:xfrm>
          <a:prstGeom prst="rect">
            <a:avLst/>
          </a:prstGeom>
        </p:spPr>
      </p:pic>
      <p:pic>
        <p:nvPicPr>
          <p:cNvPr id="3" name="図 2"/>
          <p:cNvPicPr>
            <a:picLocks noChangeAspect="1"/>
          </p:cNvPicPr>
          <p:nvPr/>
        </p:nvPicPr>
        <p:blipFill>
          <a:blip r:embed="rId36" cstate="print">
            <a:extLst>
              <a:ext uri="{28A0092B-C50C-407E-A947-70E740481C1C}">
                <a14:useLocalDpi xmlns:a14="http://schemas.microsoft.com/office/drawing/2010/main" val="0"/>
              </a:ext>
            </a:extLst>
          </a:blip>
          <a:stretch>
            <a:fillRect/>
          </a:stretch>
        </p:blipFill>
        <p:spPr>
          <a:xfrm>
            <a:off x="7043463" y="4137541"/>
            <a:ext cx="837154" cy="273978"/>
          </a:xfrm>
          <a:prstGeom prst="rect">
            <a:avLst/>
          </a:prstGeom>
        </p:spPr>
      </p:pic>
      <p:pic>
        <p:nvPicPr>
          <p:cNvPr id="4" name="図 3"/>
          <p:cNvPicPr>
            <a:picLocks noChangeAspect="1"/>
          </p:cNvPicPr>
          <p:nvPr/>
        </p:nvPicPr>
        <p:blipFill>
          <a:blip r:embed="rId37" cstate="print">
            <a:extLst>
              <a:ext uri="{28A0092B-C50C-407E-A947-70E740481C1C}">
                <a14:useLocalDpi xmlns:a14="http://schemas.microsoft.com/office/drawing/2010/main" val="0"/>
              </a:ext>
            </a:extLst>
          </a:blip>
          <a:stretch>
            <a:fillRect/>
          </a:stretch>
        </p:blipFill>
        <p:spPr>
          <a:xfrm>
            <a:off x="6082322" y="6381682"/>
            <a:ext cx="880932" cy="287795"/>
          </a:xfrm>
          <a:prstGeom prst="rect">
            <a:avLst/>
          </a:prstGeom>
        </p:spPr>
      </p:pic>
      <p:pic>
        <p:nvPicPr>
          <p:cNvPr id="5" name="図 4"/>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501775" y="6069274"/>
            <a:ext cx="884115" cy="283542"/>
          </a:xfrm>
          <a:prstGeom prst="rect">
            <a:avLst/>
          </a:prstGeom>
        </p:spPr>
      </p:pic>
      <p:cxnSp>
        <p:nvCxnSpPr>
          <p:cNvPr id="109" name="直線コネクタ 108"/>
          <p:cNvCxnSpPr/>
          <p:nvPr/>
        </p:nvCxnSpPr>
        <p:spPr>
          <a:xfrm>
            <a:off x="8848938" y="1162304"/>
            <a:ext cx="0" cy="55649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2" name="図 1"/>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a:off x="10799889" y="4675943"/>
            <a:ext cx="1087724" cy="373905"/>
          </a:xfrm>
          <a:prstGeom prst="rect">
            <a:avLst/>
          </a:prstGeom>
        </p:spPr>
      </p:pic>
    </p:spTree>
    <p:extLst>
      <p:ext uri="{BB962C8B-B14F-4D97-AF65-F5344CB8AC3E}">
        <p14:creationId xmlns:p14="http://schemas.microsoft.com/office/powerpoint/2010/main" val="3590241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5" name="正方形/長方形 4"/>
          <p:cNvSpPr/>
          <p:nvPr/>
        </p:nvSpPr>
        <p:spPr>
          <a:xfrm>
            <a:off x="3499243" y="794517"/>
            <a:ext cx="4475112" cy="78773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ja-JP" sz="2800" b="1" dirty="0">
                <a:solidFill>
                  <a:prstClr val="black"/>
                </a:solidFill>
                <a:latin typeface="HGPｺﾞｼｯｸE" panose="020B0900000000000000" pitchFamily="50" charset="-128"/>
                <a:ea typeface="HGPｺﾞｼｯｸE" panose="020B0900000000000000" pitchFamily="50" charset="-128"/>
              </a:rPr>
              <a:t>〜 </a:t>
            </a:r>
            <a:r>
              <a:rPr lang="ja-JP" altLang="en-US" sz="2800" b="1" dirty="0">
                <a:solidFill>
                  <a:prstClr val="black"/>
                </a:solidFill>
                <a:latin typeface="HGPｺﾞｼｯｸE" panose="020B0900000000000000" pitchFamily="50" charset="-128"/>
                <a:ea typeface="HGPｺﾞｼｯｸE" panose="020B0900000000000000" pitchFamily="50" charset="-128"/>
              </a:rPr>
              <a:t>クリエイター部 </a:t>
            </a:r>
            <a:r>
              <a:rPr lang="en-US" altLang="ja-JP" sz="2800" b="1" dirty="0">
                <a:solidFill>
                  <a:prstClr val="black"/>
                </a:solidFill>
                <a:latin typeface="HGPｺﾞｼｯｸE" panose="020B0900000000000000" pitchFamily="50" charset="-128"/>
                <a:ea typeface="HGPｺﾞｼｯｸE" panose="020B0900000000000000" pitchFamily="50" charset="-128"/>
              </a:rPr>
              <a:t>〜</a:t>
            </a:r>
          </a:p>
        </p:txBody>
      </p:sp>
      <p:pic>
        <p:nvPicPr>
          <p:cNvPr id="15" name="図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07660" y="2151669"/>
            <a:ext cx="2834526" cy="1594421"/>
          </a:xfrm>
          <a:prstGeom prst="rect">
            <a:avLst/>
          </a:prstGeom>
        </p:spPr>
      </p:pic>
      <p:pic>
        <p:nvPicPr>
          <p:cNvPr id="16" name="図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23323" y="2151669"/>
            <a:ext cx="2834525" cy="1594421"/>
          </a:xfrm>
          <a:prstGeom prst="rect">
            <a:avLst/>
          </a:prstGeom>
        </p:spPr>
      </p:pic>
      <p:pic>
        <p:nvPicPr>
          <p:cNvPr id="17" name="図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23322" y="4094283"/>
            <a:ext cx="2834523" cy="2125892"/>
          </a:xfrm>
          <a:prstGeom prst="rect">
            <a:avLst/>
          </a:prstGeom>
        </p:spPr>
      </p:pic>
      <p:pic>
        <p:nvPicPr>
          <p:cNvPr id="18" name="図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5400000">
            <a:off x="9320100" y="4140679"/>
            <a:ext cx="2609645" cy="1957234"/>
          </a:xfrm>
          <a:prstGeom prst="rect">
            <a:avLst/>
          </a:prstGeom>
        </p:spPr>
      </p:pic>
      <p:sp>
        <p:nvSpPr>
          <p:cNvPr id="19" name="正方形/長方形 18"/>
          <p:cNvSpPr/>
          <p:nvPr/>
        </p:nvSpPr>
        <p:spPr>
          <a:xfrm>
            <a:off x="7828475" y="1471146"/>
            <a:ext cx="2614818" cy="646331"/>
          </a:xfrm>
          <a:prstGeom prst="rect">
            <a:avLst/>
          </a:prstGeom>
          <a:noFill/>
        </p:spPr>
        <p:txBody>
          <a:bodyPr wrap="none" lIns="91440" tIns="45720" rIns="91440" bIns="45720">
            <a:spAutoFit/>
          </a:bodyPr>
          <a:lstStyle/>
          <a:p>
            <a:pPr algn="ctr"/>
            <a:r>
              <a:rPr lang="en-US" altLang="ja-JP" sz="3600" b="1" dirty="0">
                <a:ln w="22225">
                  <a:solidFill>
                    <a:schemeClr val="accent2"/>
                  </a:solidFill>
                  <a:prstDash val="solid"/>
                </a:ln>
                <a:solidFill>
                  <a:schemeClr val="accent2">
                    <a:lumMod val="40000"/>
                    <a:lumOff val="60000"/>
                  </a:schemeClr>
                </a:solidFill>
                <a:latin typeface="HGPｺﾞｼｯｸE" panose="020B0900000000000000" pitchFamily="50" charset="-128"/>
                <a:ea typeface="HGPｺﾞｼｯｸE" panose="020B0900000000000000" pitchFamily="50" charset="-128"/>
              </a:rPr>
              <a:t>e</a:t>
            </a:r>
            <a:r>
              <a:rPr lang="ja-JP" altLang="en-US" sz="3600" b="1" dirty="0">
                <a:ln w="22225">
                  <a:solidFill>
                    <a:schemeClr val="accent2"/>
                  </a:solidFill>
                  <a:prstDash val="solid"/>
                </a:ln>
                <a:solidFill>
                  <a:schemeClr val="accent2">
                    <a:lumMod val="40000"/>
                    <a:lumOff val="60000"/>
                  </a:schemeClr>
                </a:solidFill>
                <a:latin typeface="HGPｺﾞｼｯｸE" panose="020B0900000000000000" pitchFamily="50" charset="-128"/>
                <a:ea typeface="HGPｺﾞｼｯｸE" panose="020B0900000000000000" pitchFamily="50" charset="-128"/>
              </a:rPr>
              <a:t>スポーツ部</a:t>
            </a:r>
          </a:p>
        </p:txBody>
      </p:sp>
      <p:sp>
        <p:nvSpPr>
          <p:cNvPr id="20" name="正方形/長方形 19"/>
          <p:cNvSpPr/>
          <p:nvPr/>
        </p:nvSpPr>
        <p:spPr>
          <a:xfrm>
            <a:off x="1206014" y="1476025"/>
            <a:ext cx="2920992" cy="646331"/>
          </a:xfrm>
          <a:prstGeom prst="rect">
            <a:avLst/>
          </a:prstGeom>
          <a:noFill/>
        </p:spPr>
        <p:txBody>
          <a:bodyPr wrap="none" lIns="91440" tIns="45720" rIns="91440" bIns="45720">
            <a:spAutoFit/>
          </a:bodyPr>
          <a:lstStyle/>
          <a:p>
            <a:pPr algn="ctr"/>
            <a:r>
              <a:rPr lang="ja-JP" altLang="en-US" sz="3600" b="1" dirty="0">
                <a:ln w="22225">
                  <a:solidFill>
                    <a:schemeClr val="accent2"/>
                  </a:solidFill>
                  <a:prstDash val="solid"/>
                </a:ln>
                <a:solidFill>
                  <a:schemeClr val="accent2">
                    <a:lumMod val="40000"/>
                    <a:lumOff val="60000"/>
                  </a:schemeClr>
                </a:solidFill>
                <a:latin typeface="HGPｺﾞｼｯｸE" panose="020B0900000000000000" pitchFamily="50" charset="-128"/>
                <a:ea typeface="HGPｺﾞｼｯｸE" panose="020B0900000000000000" pitchFamily="50" charset="-128"/>
              </a:rPr>
              <a:t>ゲーム開発部</a:t>
            </a:r>
          </a:p>
        </p:txBody>
      </p:sp>
      <p:pic>
        <p:nvPicPr>
          <p:cNvPr id="2" name="図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99884" y="2151669"/>
            <a:ext cx="2561097" cy="1920823"/>
          </a:xfrm>
          <a:prstGeom prst="rect">
            <a:avLst/>
          </a:prstGeom>
        </p:spPr>
      </p:pic>
      <p:pic>
        <p:nvPicPr>
          <p:cNvPr id="3" name="図 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382569" y="4125338"/>
            <a:ext cx="3256449" cy="2442337"/>
          </a:xfrm>
          <a:prstGeom prst="rect">
            <a:avLst/>
          </a:prstGeom>
        </p:spPr>
      </p:pic>
      <p:pic>
        <p:nvPicPr>
          <p:cNvPr id="4" name="図 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010794" y="2175202"/>
            <a:ext cx="2519689" cy="1889767"/>
          </a:xfrm>
          <a:prstGeom prst="rect">
            <a:avLst/>
          </a:prstGeom>
        </p:spPr>
      </p:pic>
      <p:pic>
        <p:nvPicPr>
          <p:cNvPr id="21" name="図 2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866981" y="853583"/>
            <a:ext cx="677567" cy="1152270"/>
          </a:xfrm>
          <a:prstGeom prst="rect">
            <a:avLst/>
          </a:prstGeom>
        </p:spPr>
      </p:pic>
      <p:sp>
        <p:nvSpPr>
          <p:cNvPr id="6" name="テキスト ボックス 5">
            <a:extLst>
              <a:ext uri="{FF2B5EF4-FFF2-40B4-BE49-F238E27FC236}">
                <a16:creationId xmlns:a16="http://schemas.microsoft.com/office/drawing/2014/main" id="{0542FEFF-968F-A5D7-ABEF-68407A3F29C2}"/>
              </a:ext>
            </a:extLst>
          </p:cNvPr>
          <p:cNvSpPr txBox="1"/>
          <p:nvPr/>
        </p:nvSpPr>
        <p:spPr>
          <a:xfrm>
            <a:off x="119925" y="82194"/>
            <a:ext cx="531669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部活動</a:t>
            </a:r>
          </a:p>
        </p:txBody>
      </p:sp>
    </p:spTree>
    <p:extLst>
      <p:ext uri="{BB962C8B-B14F-4D97-AF65-F5344CB8AC3E}">
        <p14:creationId xmlns:p14="http://schemas.microsoft.com/office/powerpoint/2010/main" val="4050495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1DD6E-B1FE-DE2A-5598-31E9E55FF08A}"/>
            </a:ext>
          </a:extLst>
        </p:cNvPr>
        <p:cNvGrpSpPr/>
        <p:nvPr/>
      </p:nvGrpSpPr>
      <p:grpSpPr>
        <a:xfrm>
          <a:off x="0" y="0"/>
          <a:ext cx="0" cy="0"/>
          <a:chOff x="0" y="0"/>
          <a:chExt cx="0" cy="0"/>
        </a:xfrm>
      </p:grpSpPr>
      <p:pic>
        <p:nvPicPr>
          <p:cNvPr id="10" name="図 9">
            <a:extLst>
              <a:ext uri="{FF2B5EF4-FFF2-40B4-BE49-F238E27FC236}">
                <a16:creationId xmlns:a16="http://schemas.microsoft.com/office/drawing/2014/main" id="{C4529CB2-246D-8E52-F329-C139197E40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23" name="テキスト ボックス 22">
            <a:extLst>
              <a:ext uri="{FF2B5EF4-FFF2-40B4-BE49-F238E27FC236}">
                <a16:creationId xmlns:a16="http://schemas.microsoft.com/office/drawing/2014/main" id="{86B5C4A0-3087-1A3A-1B8E-F07443652E2D}"/>
              </a:ext>
            </a:extLst>
          </p:cNvPr>
          <p:cNvSpPr txBox="1"/>
          <p:nvPr/>
        </p:nvSpPr>
        <p:spPr>
          <a:xfrm>
            <a:off x="664020" y="136423"/>
            <a:ext cx="531669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これだけは覚えてほしい①</a:t>
            </a:r>
          </a:p>
        </p:txBody>
      </p:sp>
      <p:sp>
        <p:nvSpPr>
          <p:cNvPr id="6" name="テキスト ボックス 5">
            <a:extLst>
              <a:ext uri="{FF2B5EF4-FFF2-40B4-BE49-F238E27FC236}">
                <a16:creationId xmlns:a16="http://schemas.microsoft.com/office/drawing/2014/main" id="{A4714A20-E525-6DB8-2D85-6325A5F2B517}"/>
              </a:ext>
            </a:extLst>
          </p:cNvPr>
          <p:cNvSpPr txBox="1"/>
          <p:nvPr/>
        </p:nvSpPr>
        <p:spPr>
          <a:xfrm>
            <a:off x="1848683" y="259539"/>
            <a:ext cx="8494633" cy="830997"/>
          </a:xfrm>
          <a:prstGeom prst="rect">
            <a:avLst/>
          </a:prstGeom>
          <a:noFill/>
        </p:spPr>
        <p:txBody>
          <a:bodyPr wrap="none" rtlCol="0">
            <a:spAutoFit/>
          </a:bodyPr>
          <a:lstStyle/>
          <a:p>
            <a:pPr algn="ctr"/>
            <a:r>
              <a:rPr kumimoji="1" lang="ja-JP" altLang="en-US" sz="3600" b="1" dirty="0">
                <a:solidFill>
                  <a:srgbClr val="FF0000"/>
                </a:solidFill>
              </a:rPr>
              <a:t>全国</a:t>
            </a:r>
            <a:r>
              <a:rPr kumimoji="1" lang="ja-JP" altLang="en-US" sz="3600" dirty="0"/>
              <a:t>でも屈指の</a:t>
            </a:r>
            <a:r>
              <a:rPr kumimoji="1" lang="ja-JP" altLang="en-US" sz="4800" b="1" dirty="0">
                <a:solidFill>
                  <a:srgbClr val="FF0000"/>
                </a:solidFill>
              </a:rPr>
              <a:t>業界就職実績</a:t>
            </a:r>
            <a:r>
              <a:rPr kumimoji="1" lang="ja-JP" altLang="en-US" sz="3600" dirty="0"/>
              <a:t>です！</a:t>
            </a:r>
          </a:p>
        </p:txBody>
      </p:sp>
      <p:sp>
        <p:nvSpPr>
          <p:cNvPr id="3" name="テキスト ボックス 2">
            <a:extLst>
              <a:ext uri="{FF2B5EF4-FFF2-40B4-BE49-F238E27FC236}">
                <a16:creationId xmlns:a16="http://schemas.microsoft.com/office/drawing/2014/main" id="{0CD82142-7E3D-4031-A468-49DB7A11809A}"/>
              </a:ext>
            </a:extLst>
          </p:cNvPr>
          <p:cNvSpPr txBox="1"/>
          <p:nvPr/>
        </p:nvSpPr>
        <p:spPr>
          <a:xfrm>
            <a:off x="10471624" y="5146798"/>
            <a:ext cx="952138" cy="523220"/>
          </a:xfrm>
          <a:prstGeom prst="rect">
            <a:avLst/>
          </a:prstGeom>
          <a:ln w="38100">
            <a:solidFill>
              <a:srgbClr val="00B0F0"/>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kumimoji="1" lang="ja-JP" altLang="en-US" sz="2800" b="1" dirty="0"/>
              <a:t>本校</a:t>
            </a:r>
          </a:p>
        </p:txBody>
      </p:sp>
      <p:graphicFrame>
        <p:nvGraphicFramePr>
          <p:cNvPr id="21" name="グラフ 20">
            <a:extLst>
              <a:ext uri="{FF2B5EF4-FFF2-40B4-BE49-F238E27FC236}">
                <a16:creationId xmlns:a16="http://schemas.microsoft.com/office/drawing/2014/main" id="{120BB453-E57E-4E66-9A87-1550EAD6A0AE}"/>
              </a:ext>
            </a:extLst>
          </p:cNvPr>
          <p:cNvGraphicFramePr/>
          <p:nvPr>
            <p:extLst>
              <p:ext uri="{D42A27DB-BD31-4B8C-83A1-F6EECF244321}">
                <p14:modId xmlns:p14="http://schemas.microsoft.com/office/powerpoint/2010/main" val="1976055449"/>
              </p:ext>
            </p:extLst>
          </p:nvPr>
        </p:nvGraphicFramePr>
        <p:xfrm>
          <a:off x="5852303" y="1310062"/>
          <a:ext cx="5571459" cy="4368573"/>
        </p:xfrm>
        <a:graphic>
          <a:graphicData uri="http://schemas.openxmlformats.org/drawingml/2006/chart">
            <c:chart xmlns:c="http://schemas.openxmlformats.org/drawingml/2006/chart" xmlns:r="http://schemas.openxmlformats.org/officeDocument/2006/relationships" r:id="rId4"/>
          </a:graphicData>
        </a:graphic>
      </p:graphicFrame>
      <p:sp>
        <p:nvSpPr>
          <p:cNvPr id="22" name="テキスト ボックス 21">
            <a:extLst>
              <a:ext uri="{FF2B5EF4-FFF2-40B4-BE49-F238E27FC236}">
                <a16:creationId xmlns:a16="http://schemas.microsoft.com/office/drawing/2014/main" id="{DB4AF7D1-F0F5-415C-8CB0-AB12F43F74F7}"/>
              </a:ext>
            </a:extLst>
          </p:cNvPr>
          <p:cNvSpPr txBox="1"/>
          <p:nvPr/>
        </p:nvSpPr>
        <p:spPr>
          <a:xfrm>
            <a:off x="7993038" y="3100804"/>
            <a:ext cx="2954655" cy="1200329"/>
          </a:xfrm>
          <a:prstGeom prst="rect">
            <a:avLst/>
          </a:prstGeom>
          <a:noFill/>
        </p:spPr>
        <p:txBody>
          <a:bodyPr wrap="none" rtlCol="0">
            <a:spAutoFit/>
          </a:bodyPr>
          <a:lstStyle/>
          <a:p>
            <a:r>
              <a:rPr kumimoji="1" lang="ja-JP" altLang="en-US" sz="3600" b="1" dirty="0">
                <a:solidFill>
                  <a:schemeClr val="bg1"/>
                </a:solidFill>
              </a:rPr>
              <a:t>クリエイター</a:t>
            </a:r>
            <a:endParaRPr kumimoji="1" lang="en-US" altLang="ja-JP" sz="3600" b="1" dirty="0">
              <a:solidFill>
                <a:schemeClr val="bg1"/>
              </a:solidFill>
            </a:endParaRPr>
          </a:p>
          <a:p>
            <a:r>
              <a:rPr kumimoji="1" lang="en-US" altLang="ja-JP" sz="3600" b="1" dirty="0">
                <a:solidFill>
                  <a:schemeClr val="bg1"/>
                </a:solidFill>
              </a:rPr>
              <a:t>(70%)</a:t>
            </a:r>
            <a:endParaRPr kumimoji="1" lang="ja-JP" altLang="en-US" sz="3600" b="1" dirty="0">
              <a:solidFill>
                <a:schemeClr val="bg1"/>
              </a:solidFill>
            </a:endParaRPr>
          </a:p>
        </p:txBody>
      </p:sp>
      <p:sp>
        <p:nvSpPr>
          <p:cNvPr id="24" name="テキスト ボックス 23">
            <a:extLst>
              <a:ext uri="{FF2B5EF4-FFF2-40B4-BE49-F238E27FC236}">
                <a16:creationId xmlns:a16="http://schemas.microsoft.com/office/drawing/2014/main" id="{106B0220-659A-4870-9E99-8A3BE5ACA569}"/>
              </a:ext>
            </a:extLst>
          </p:cNvPr>
          <p:cNvSpPr txBox="1"/>
          <p:nvPr/>
        </p:nvSpPr>
        <p:spPr>
          <a:xfrm>
            <a:off x="6705704" y="2428472"/>
            <a:ext cx="1800493" cy="646331"/>
          </a:xfrm>
          <a:prstGeom prst="rect">
            <a:avLst/>
          </a:prstGeom>
          <a:noFill/>
        </p:spPr>
        <p:txBody>
          <a:bodyPr wrap="none" rtlCol="0">
            <a:spAutoFit/>
          </a:bodyPr>
          <a:lstStyle/>
          <a:p>
            <a:r>
              <a:rPr kumimoji="1" lang="ja-JP" altLang="en-US" b="1" dirty="0">
                <a:solidFill>
                  <a:schemeClr val="bg1"/>
                </a:solidFill>
              </a:rPr>
              <a:t>非クリエイター</a:t>
            </a:r>
            <a:br>
              <a:rPr kumimoji="1" lang="en-US" altLang="ja-JP" b="1" dirty="0">
                <a:solidFill>
                  <a:schemeClr val="bg1"/>
                </a:solidFill>
              </a:rPr>
            </a:br>
            <a:r>
              <a:rPr kumimoji="1" lang="en-US" altLang="ja-JP" b="1" dirty="0">
                <a:solidFill>
                  <a:schemeClr val="bg1"/>
                </a:solidFill>
              </a:rPr>
              <a:t>(30%)</a:t>
            </a:r>
            <a:endParaRPr kumimoji="1" lang="ja-JP" altLang="en-US" b="1" dirty="0">
              <a:solidFill>
                <a:schemeClr val="bg1"/>
              </a:solidFill>
            </a:endParaRPr>
          </a:p>
        </p:txBody>
      </p:sp>
      <p:graphicFrame>
        <p:nvGraphicFramePr>
          <p:cNvPr id="26" name="グラフ 25">
            <a:extLst>
              <a:ext uri="{FF2B5EF4-FFF2-40B4-BE49-F238E27FC236}">
                <a16:creationId xmlns:a16="http://schemas.microsoft.com/office/drawing/2014/main" id="{BEF6D62E-DF2D-4319-8836-FFAA6B234490}"/>
              </a:ext>
            </a:extLst>
          </p:cNvPr>
          <p:cNvGraphicFramePr/>
          <p:nvPr>
            <p:extLst>
              <p:ext uri="{D42A27DB-BD31-4B8C-83A1-F6EECF244321}">
                <p14:modId xmlns:p14="http://schemas.microsoft.com/office/powerpoint/2010/main" val="1975397360"/>
              </p:ext>
            </p:extLst>
          </p:nvPr>
        </p:nvGraphicFramePr>
        <p:xfrm>
          <a:off x="450169" y="1787434"/>
          <a:ext cx="4878914" cy="3413827"/>
        </p:xfrm>
        <a:graphic>
          <a:graphicData uri="http://schemas.openxmlformats.org/drawingml/2006/chart">
            <c:chart xmlns:c="http://schemas.openxmlformats.org/drawingml/2006/chart" xmlns:r="http://schemas.openxmlformats.org/officeDocument/2006/relationships" r:id="rId5"/>
          </a:graphicData>
        </a:graphic>
      </p:graphicFrame>
      <p:sp>
        <p:nvSpPr>
          <p:cNvPr id="27" name="テキスト ボックス 26">
            <a:extLst>
              <a:ext uri="{FF2B5EF4-FFF2-40B4-BE49-F238E27FC236}">
                <a16:creationId xmlns:a16="http://schemas.microsoft.com/office/drawing/2014/main" id="{9938B957-6AF6-40CD-93B4-1DE75B4BE6A6}"/>
              </a:ext>
            </a:extLst>
          </p:cNvPr>
          <p:cNvSpPr txBox="1"/>
          <p:nvPr/>
        </p:nvSpPr>
        <p:spPr>
          <a:xfrm>
            <a:off x="1683734" y="3285471"/>
            <a:ext cx="2783223" cy="830997"/>
          </a:xfrm>
          <a:prstGeom prst="rect">
            <a:avLst/>
          </a:prstGeom>
          <a:noFill/>
        </p:spPr>
        <p:txBody>
          <a:bodyPr wrap="square" rtlCol="0">
            <a:spAutoFit/>
          </a:bodyPr>
          <a:lstStyle/>
          <a:p>
            <a:r>
              <a:rPr kumimoji="1" lang="ja-JP" altLang="en-US" sz="2400" b="1" dirty="0">
                <a:solidFill>
                  <a:schemeClr val="bg1"/>
                </a:solidFill>
              </a:rPr>
              <a:t>非クリエイター</a:t>
            </a:r>
            <a:r>
              <a:rPr kumimoji="1" lang="en-US" altLang="ja-JP" sz="2400" b="1" dirty="0">
                <a:solidFill>
                  <a:schemeClr val="bg1"/>
                </a:solidFill>
              </a:rPr>
              <a:t>(88%)</a:t>
            </a:r>
            <a:endParaRPr kumimoji="1" lang="ja-JP" altLang="en-US" sz="2400" b="1" dirty="0">
              <a:solidFill>
                <a:schemeClr val="bg1"/>
              </a:solidFill>
            </a:endParaRPr>
          </a:p>
        </p:txBody>
      </p:sp>
      <p:sp>
        <p:nvSpPr>
          <p:cNvPr id="28" name="テキスト ボックス 27">
            <a:extLst>
              <a:ext uri="{FF2B5EF4-FFF2-40B4-BE49-F238E27FC236}">
                <a16:creationId xmlns:a16="http://schemas.microsoft.com/office/drawing/2014/main" id="{BD74B769-937A-474C-AB09-212DEB9BF2CA}"/>
              </a:ext>
            </a:extLst>
          </p:cNvPr>
          <p:cNvSpPr txBox="1"/>
          <p:nvPr/>
        </p:nvSpPr>
        <p:spPr>
          <a:xfrm>
            <a:off x="2807806" y="2522867"/>
            <a:ext cx="1083439" cy="523220"/>
          </a:xfrm>
          <a:prstGeom prst="rect">
            <a:avLst/>
          </a:prstGeom>
          <a:noFill/>
        </p:spPr>
        <p:txBody>
          <a:bodyPr wrap="square" rtlCol="0">
            <a:spAutoFit/>
          </a:bodyPr>
          <a:lstStyle/>
          <a:p>
            <a:r>
              <a:rPr kumimoji="1" lang="ja-JP" altLang="en-US" sz="1400" b="1" dirty="0">
                <a:solidFill>
                  <a:schemeClr val="bg1"/>
                </a:solidFill>
              </a:rPr>
              <a:t>クリエイター</a:t>
            </a:r>
            <a:r>
              <a:rPr kumimoji="1" lang="en-US" altLang="ja-JP" sz="1400" b="1" dirty="0">
                <a:solidFill>
                  <a:schemeClr val="bg1"/>
                </a:solidFill>
              </a:rPr>
              <a:t>(12%)</a:t>
            </a:r>
            <a:endParaRPr kumimoji="1" lang="ja-JP" altLang="en-US" sz="1400" b="1" dirty="0">
              <a:solidFill>
                <a:schemeClr val="bg1"/>
              </a:solidFill>
            </a:endParaRPr>
          </a:p>
        </p:txBody>
      </p:sp>
      <p:sp>
        <p:nvSpPr>
          <p:cNvPr id="29" name="テキスト ボックス 28">
            <a:extLst>
              <a:ext uri="{FF2B5EF4-FFF2-40B4-BE49-F238E27FC236}">
                <a16:creationId xmlns:a16="http://schemas.microsoft.com/office/drawing/2014/main" id="{1590B909-28B0-4C93-8475-C7523C761C59}"/>
              </a:ext>
            </a:extLst>
          </p:cNvPr>
          <p:cNvSpPr txBox="1"/>
          <p:nvPr/>
        </p:nvSpPr>
        <p:spPr>
          <a:xfrm>
            <a:off x="247523" y="5759655"/>
            <a:ext cx="11696952" cy="830997"/>
          </a:xfrm>
          <a:prstGeom prst="rect">
            <a:avLst/>
          </a:prstGeom>
          <a:noFill/>
        </p:spPr>
        <p:txBody>
          <a:bodyPr wrap="square" rtlCol="0">
            <a:spAutoFit/>
          </a:bodyPr>
          <a:lstStyle/>
          <a:p>
            <a:r>
              <a:rPr lang="en-US" altLang="ja-JP" dirty="0"/>
              <a:t>※</a:t>
            </a:r>
            <a:r>
              <a:rPr kumimoji="1" lang="en-US" altLang="ja-JP" dirty="0"/>
              <a:t>25</a:t>
            </a:r>
            <a:r>
              <a:rPr kumimoji="1" lang="ja-JP" altLang="en-US" dirty="0"/>
              <a:t>卒：</a:t>
            </a:r>
            <a:r>
              <a:rPr lang="en-US" altLang="ja-JP" sz="4800" b="1" u="sng" dirty="0">
                <a:solidFill>
                  <a:srgbClr val="FF0000"/>
                </a:solidFill>
              </a:rPr>
              <a:t>17</a:t>
            </a:r>
            <a:r>
              <a:rPr lang="ja-JP" altLang="en-US" sz="4800" b="1" u="sng" dirty="0">
                <a:solidFill>
                  <a:srgbClr val="FF0000"/>
                </a:solidFill>
              </a:rPr>
              <a:t>名</a:t>
            </a:r>
            <a:r>
              <a:rPr lang="ja-JP" altLang="en-US" sz="3600" b="1" dirty="0">
                <a:solidFill>
                  <a:srgbClr val="FF0000"/>
                </a:solidFill>
              </a:rPr>
              <a:t>が実際にクリエイターとして働いています！</a:t>
            </a:r>
            <a:endParaRPr lang="en-US" altLang="ja-JP" b="1" dirty="0">
              <a:solidFill>
                <a:srgbClr val="FF0000"/>
              </a:solidFill>
            </a:endParaRPr>
          </a:p>
        </p:txBody>
      </p:sp>
    </p:spTree>
    <p:extLst>
      <p:ext uri="{BB962C8B-B14F-4D97-AF65-F5344CB8AC3E}">
        <p14:creationId xmlns:p14="http://schemas.microsoft.com/office/powerpoint/2010/main" val="1629434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5BAB2-8893-A815-6FC9-0872613E7746}"/>
            </a:ext>
          </a:extLst>
        </p:cNvPr>
        <p:cNvGrpSpPr/>
        <p:nvPr/>
      </p:nvGrpSpPr>
      <p:grpSpPr>
        <a:xfrm>
          <a:off x="0" y="0"/>
          <a:ext cx="0" cy="0"/>
          <a:chOff x="0" y="0"/>
          <a:chExt cx="0" cy="0"/>
        </a:xfrm>
      </p:grpSpPr>
      <p:pic>
        <p:nvPicPr>
          <p:cNvPr id="4" name="図 3" descr="ロゴ&#10;&#10;AI によって生成されたコンテンツは間違っている可能性があります。">
            <a:extLst>
              <a:ext uri="{FF2B5EF4-FFF2-40B4-BE49-F238E27FC236}">
                <a16:creationId xmlns:a16="http://schemas.microsoft.com/office/drawing/2014/main" id="{F55479E5-FF16-F9A5-C452-2F0BB6349F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0740" y="1183430"/>
            <a:ext cx="5712221" cy="1045967"/>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DFE89D5C-D53C-5663-D0FC-6C24B0D460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0740" y="2690203"/>
            <a:ext cx="4023501" cy="1341167"/>
          </a:xfrm>
          <a:prstGeom prst="rect">
            <a:avLst/>
          </a:prstGeom>
        </p:spPr>
      </p:pic>
      <p:sp>
        <p:nvSpPr>
          <p:cNvPr id="12" name="テキスト ボックス 11">
            <a:extLst>
              <a:ext uri="{FF2B5EF4-FFF2-40B4-BE49-F238E27FC236}">
                <a16:creationId xmlns:a16="http://schemas.microsoft.com/office/drawing/2014/main" id="{E3AD6770-53AC-DCF1-0FAE-1DAFB2901E22}"/>
              </a:ext>
            </a:extLst>
          </p:cNvPr>
          <p:cNvSpPr txBox="1"/>
          <p:nvPr/>
        </p:nvSpPr>
        <p:spPr>
          <a:xfrm>
            <a:off x="449797" y="1327684"/>
            <a:ext cx="2040943" cy="830997"/>
          </a:xfrm>
          <a:prstGeom prst="rect">
            <a:avLst/>
          </a:prstGeom>
          <a:noFill/>
        </p:spPr>
        <p:txBody>
          <a:bodyPr wrap="none" rtlCol="0">
            <a:spAutoFit/>
          </a:bodyPr>
          <a:lstStyle/>
          <a:p>
            <a:r>
              <a:rPr kumimoji="1" lang="en-US" altLang="ja-JP" sz="4800" b="1" dirty="0"/>
              <a:t>26</a:t>
            </a:r>
            <a:r>
              <a:rPr kumimoji="1" lang="ja-JP" altLang="en-US" sz="4800" b="1" dirty="0"/>
              <a:t>卒：</a:t>
            </a:r>
            <a:endParaRPr kumimoji="1" lang="ja-JP" altLang="en-US" sz="1200" b="1" dirty="0"/>
          </a:p>
        </p:txBody>
      </p:sp>
      <p:sp>
        <p:nvSpPr>
          <p:cNvPr id="13" name="テキスト ボックス 12">
            <a:extLst>
              <a:ext uri="{FF2B5EF4-FFF2-40B4-BE49-F238E27FC236}">
                <a16:creationId xmlns:a16="http://schemas.microsoft.com/office/drawing/2014/main" id="{B9A6FC18-93B4-B36E-7CBB-2E1A146156D2}"/>
              </a:ext>
            </a:extLst>
          </p:cNvPr>
          <p:cNvSpPr txBox="1"/>
          <p:nvPr/>
        </p:nvSpPr>
        <p:spPr>
          <a:xfrm>
            <a:off x="449797" y="3013501"/>
            <a:ext cx="3275256" cy="830997"/>
          </a:xfrm>
          <a:prstGeom prst="rect">
            <a:avLst/>
          </a:prstGeom>
          <a:noFill/>
        </p:spPr>
        <p:txBody>
          <a:bodyPr wrap="square" rtlCol="0">
            <a:spAutoFit/>
          </a:bodyPr>
          <a:lstStyle/>
          <a:p>
            <a:r>
              <a:rPr kumimoji="1" lang="en-US" altLang="ja-JP" sz="4800" b="1" dirty="0"/>
              <a:t>25</a:t>
            </a:r>
            <a:r>
              <a:rPr kumimoji="1" lang="ja-JP" altLang="en-US" sz="4800" b="1" dirty="0"/>
              <a:t>卒：</a:t>
            </a:r>
            <a:endParaRPr kumimoji="1" lang="ja-JP" altLang="en-US" sz="1200" b="1" dirty="0"/>
          </a:p>
        </p:txBody>
      </p:sp>
      <p:sp>
        <p:nvSpPr>
          <p:cNvPr id="14" name="テキスト ボックス 13">
            <a:extLst>
              <a:ext uri="{FF2B5EF4-FFF2-40B4-BE49-F238E27FC236}">
                <a16:creationId xmlns:a16="http://schemas.microsoft.com/office/drawing/2014/main" id="{B970C194-C954-8AA5-A13F-C492A8C69974}"/>
              </a:ext>
            </a:extLst>
          </p:cNvPr>
          <p:cNvSpPr txBox="1"/>
          <p:nvPr/>
        </p:nvSpPr>
        <p:spPr>
          <a:xfrm>
            <a:off x="8470153" y="1450794"/>
            <a:ext cx="3272050" cy="584775"/>
          </a:xfrm>
          <a:prstGeom prst="rect">
            <a:avLst/>
          </a:prstGeom>
          <a:noFill/>
        </p:spPr>
        <p:txBody>
          <a:bodyPr wrap="none" rtlCol="0">
            <a:spAutoFit/>
          </a:bodyPr>
          <a:lstStyle/>
          <a:p>
            <a:r>
              <a:rPr kumimoji="1" lang="ja-JP" altLang="en-US" sz="3200" b="1" dirty="0">
                <a:solidFill>
                  <a:srgbClr val="FF0000"/>
                </a:solidFill>
              </a:rPr>
              <a:t>新卒年収：</a:t>
            </a:r>
            <a:r>
              <a:rPr kumimoji="1" lang="en-US" altLang="ja-JP" sz="3200" b="1" dirty="0">
                <a:solidFill>
                  <a:srgbClr val="FF0000"/>
                </a:solidFill>
              </a:rPr>
              <a:t>500</a:t>
            </a:r>
            <a:r>
              <a:rPr kumimoji="1" lang="ja-JP" altLang="en-US" sz="3200" b="1" dirty="0">
                <a:solidFill>
                  <a:srgbClr val="FF0000"/>
                </a:solidFill>
              </a:rPr>
              <a:t>万</a:t>
            </a:r>
          </a:p>
        </p:txBody>
      </p:sp>
      <p:sp>
        <p:nvSpPr>
          <p:cNvPr id="17" name="テキスト ボックス 16">
            <a:extLst>
              <a:ext uri="{FF2B5EF4-FFF2-40B4-BE49-F238E27FC236}">
                <a16:creationId xmlns:a16="http://schemas.microsoft.com/office/drawing/2014/main" id="{5D4B704E-C95C-754C-8D0D-C14F0EB088FE}"/>
              </a:ext>
            </a:extLst>
          </p:cNvPr>
          <p:cNvSpPr txBox="1"/>
          <p:nvPr/>
        </p:nvSpPr>
        <p:spPr>
          <a:xfrm>
            <a:off x="8470153" y="3068398"/>
            <a:ext cx="3272050" cy="584775"/>
          </a:xfrm>
          <a:prstGeom prst="rect">
            <a:avLst/>
          </a:prstGeom>
          <a:noFill/>
        </p:spPr>
        <p:txBody>
          <a:bodyPr wrap="none" rtlCol="0">
            <a:spAutoFit/>
          </a:bodyPr>
          <a:lstStyle/>
          <a:p>
            <a:r>
              <a:rPr kumimoji="1" lang="ja-JP" altLang="en-US" sz="3200" b="1" dirty="0">
                <a:solidFill>
                  <a:srgbClr val="FF0000"/>
                </a:solidFill>
              </a:rPr>
              <a:t>新卒年収：</a:t>
            </a:r>
            <a:r>
              <a:rPr kumimoji="1" lang="en-US" altLang="ja-JP" sz="3200" b="1" dirty="0">
                <a:solidFill>
                  <a:srgbClr val="FF0000"/>
                </a:solidFill>
              </a:rPr>
              <a:t>480</a:t>
            </a:r>
            <a:r>
              <a:rPr kumimoji="1" lang="ja-JP" altLang="en-US" sz="3200" b="1" dirty="0">
                <a:solidFill>
                  <a:srgbClr val="FF0000"/>
                </a:solidFill>
              </a:rPr>
              <a:t>万</a:t>
            </a:r>
          </a:p>
        </p:txBody>
      </p:sp>
      <p:sp>
        <p:nvSpPr>
          <p:cNvPr id="18" name="テキスト ボックス 17">
            <a:extLst>
              <a:ext uri="{FF2B5EF4-FFF2-40B4-BE49-F238E27FC236}">
                <a16:creationId xmlns:a16="http://schemas.microsoft.com/office/drawing/2014/main" id="{968BB35D-13B1-89BA-BA1B-72DFF3F99C16}"/>
              </a:ext>
            </a:extLst>
          </p:cNvPr>
          <p:cNvSpPr txBox="1"/>
          <p:nvPr/>
        </p:nvSpPr>
        <p:spPr>
          <a:xfrm>
            <a:off x="1149880" y="4475188"/>
            <a:ext cx="8956298" cy="646331"/>
          </a:xfrm>
          <a:prstGeom prst="rect">
            <a:avLst/>
          </a:prstGeom>
          <a:noFill/>
        </p:spPr>
        <p:txBody>
          <a:bodyPr wrap="none" rtlCol="0">
            <a:spAutoFit/>
          </a:bodyPr>
          <a:lstStyle/>
          <a:p>
            <a:r>
              <a:rPr kumimoji="1" lang="ja-JP" altLang="en-US" sz="3600" b="1" dirty="0"/>
              <a:t>大卒だと、</a:t>
            </a:r>
            <a:r>
              <a:rPr kumimoji="1" lang="ja-JP" altLang="en-US" sz="3600" b="1" dirty="0">
                <a:solidFill>
                  <a:srgbClr val="FF0000"/>
                </a:solidFill>
              </a:rPr>
              <a:t>九大クラス</a:t>
            </a:r>
            <a:r>
              <a:rPr kumimoji="1" lang="ja-JP" altLang="en-US" sz="3600" b="1" dirty="0"/>
              <a:t>でないと難しい会社</a:t>
            </a:r>
          </a:p>
        </p:txBody>
      </p:sp>
      <p:sp>
        <p:nvSpPr>
          <p:cNvPr id="19" name="テキスト ボックス 18">
            <a:extLst>
              <a:ext uri="{FF2B5EF4-FFF2-40B4-BE49-F238E27FC236}">
                <a16:creationId xmlns:a16="http://schemas.microsoft.com/office/drawing/2014/main" id="{355E42B5-901F-712D-4440-B81FD6FAC299}"/>
              </a:ext>
            </a:extLst>
          </p:cNvPr>
          <p:cNvSpPr txBox="1"/>
          <p:nvPr/>
        </p:nvSpPr>
        <p:spPr>
          <a:xfrm>
            <a:off x="1149880" y="5430649"/>
            <a:ext cx="8956298" cy="646331"/>
          </a:xfrm>
          <a:prstGeom prst="rect">
            <a:avLst/>
          </a:prstGeom>
          <a:noFill/>
        </p:spPr>
        <p:txBody>
          <a:bodyPr wrap="none" rtlCol="0">
            <a:spAutoFit/>
          </a:bodyPr>
          <a:lstStyle/>
          <a:p>
            <a:r>
              <a:rPr kumimoji="1" lang="ja-JP" altLang="en-US" sz="3600" b="1" dirty="0">
                <a:solidFill>
                  <a:srgbClr val="FF0000"/>
                </a:solidFill>
              </a:rPr>
              <a:t>業界特化した教育</a:t>
            </a:r>
            <a:r>
              <a:rPr kumimoji="1" lang="ja-JP" altLang="en-US" sz="3600" b="1" dirty="0"/>
              <a:t>だからこそ実現可能！！</a:t>
            </a:r>
          </a:p>
        </p:txBody>
      </p:sp>
      <p:pic>
        <p:nvPicPr>
          <p:cNvPr id="16" name="図 15">
            <a:extLst>
              <a:ext uri="{FF2B5EF4-FFF2-40B4-BE49-F238E27FC236}">
                <a16:creationId xmlns:a16="http://schemas.microsoft.com/office/drawing/2014/main" id="{2E811B7B-292A-41E7-9CC1-824796B77587}"/>
              </a:ext>
            </a:extLst>
          </p:cNvPr>
          <p:cNvPicPr>
            <a:picLocks noChangeAspect="1"/>
          </p:cNvPicPr>
          <p:nvPr/>
        </p:nvPicPr>
        <p:blipFill rotWithShape="1">
          <a:blip r:embed="rId5">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20" name="図 19">
            <a:extLst>
              <a:ext uri="{FF2B5EF4-FFF2-40B4-BE49-F238E27FC236}">
                <a16:creationId xmlns:a16="http://schemas.microsoft.com/office/drawing/2014/main" id="{FAA090C0-3093-4807-83DD-101CE9C278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21" name="テキスト ボックス 20">
            <a:extLst>
              <a:ext uri="{FF2B5EF4-FFF2-40B4-BE49-F238E27FC236}">
                <a16:creationId xmlns:a16="http://schemas.microsoft.com/office/drawing/2014/main" id="{9992B3AA-704A-4D17-A4A7-77D0A360B451}"/>
              </a:ext>
            </a:extLst>
          </p:cNvPr>
          <p:cNvSpPr txBox="1"/>
          <p:nvPr/>
        </p:nvSpPr>
        <p:spPr>
          <a:xfrm>
            <a:off x="664020" y="136423"/>
            <a:ext cx="531669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これだけは覚えてほしい①</a:t>
            </a:r>
          </a:p>
        </p:txBody>
      </p:sp>
    </p:spTree>
    <p:extLst>
      <p:ext uri="{BB962C8B-B14F-4D97-AF65-F5344CB8AC3E}">
        <p14:creationId xmlns:p14="http://schemas.microsoft.com/office/powerpoint/2010/main" val="4080655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0" y="1124"/>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8" name="Text Box 11"/>
          <p:cNvSpPr txBox="1">
            <a:spLocks noChangeArrowheads="1"/>
          </p:cNvSpPr>
          <p:nvPr/>
        </p:nvSpPr>
        <p:spPr bwMode="auto">
          <a:xfrm>
            <a:off x="6924882" y="5967367"/>
            <a:ext cx="3443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kumimoji="1" sz="2000">
                <a:solidFill>
                  <a:schemeClr val="tx1"/>
                </a:solidFill>
                <a:latin typeface="Gill Sans MT" panose="020B0502020104020203" pitchFamily="34" charset="0"/>
                <a:ea typeface="游ゴシック" panose="020B0400000000000000" pitchFamily="50" charset="-128"/>
              </a:defRPr>
            </a:lvl1pPr>
            <a:lvl2pPr marL="742950" indent="-285750">
              <a:lnSpc>
                <a:spcPct val="120000"/>
              </a:lnSpc>
              <a:spcBef>
                <a:spcPts val="500"/>
              </a:spcBef>
              <a:buClr>
                <a:schemeClr val="accent1"/>
              </a:buClr>
              <a:buSzPct val="100000"/>
              <a:buFont typeface="Arial" panose="020B0604020202020204" pitchFamily="34" charset="0"/>
              <a:buChar char="•"/>
              <a:defRPr kumimoji="1" sz="1600">
                <a:solidFill>
                  <a:schemeClr val="tx1"/>
                </a:solidFill>
                <a:latin typeface="Gill Sans MT" panose="020B0502020104020203" pitchFamily="34" charset="0"/>
                <a:ea typeface="游ゴシック" panose="020B0400000000000000" pitchFamily="50" charset="-128"/>
              </a:defRPr>
            </a:lvl2pPr>
            <a:lvl3pPr marL="1143000" indent="-228600">
              <a:lnSpc>
                <a:spcPct val="120000"/>
              </a:lnSpc>
              <a:spcBef>
                <a:spcPts val="500"/>
              </a:spcBef>
              <a:buClr>
                <a:schemeClr val="accent1"/>
              </a:buClr>
              <a:buSzPct val="100000"/>
              <a:buFont typeface="Arial" panose="020B0604020202020204" pitchFamily="34" charset="0"/>
              <a:buChar char="•"/>
              <a:defRPr kumimoji="1" sz="1600">
                <a:solidFill>
                  <a:schemeClr val="tx1"/>
                </a:solidFill>
                <a:latin typeface="Gill Sans MT" panose="020B0502020104020203" pitchFamily="34" charset="0"/>
                <a:ea typeface="游ゴシック" panose="020B0400000000000000" pitchFamily="50" charset="-128"/>
              </a:defRPr>
            </a:lvl3pPr>
            <a:lvl4pPr marL="1600200" indent="-228600">
              <a:lnSpc>
                <a:spcPct val="120000"/>
              </a:lnSpc>
              <a:spcBef>
                <a:spcPts val="500"/>
              </a:spcBef>
              <a:buClr>
                <a:schemeClr val="accent1"/>
              </a:buClr>
              <a:buSzPct val="100000"/>
              <a:buFont typeface="Arial" panose="020B0604020202020204" pitchFamily="34" charset="0"/>
              <a:buChar char="•"/>
              <a:defRPr kumimoji="1" sz="1400">
                <a:solidFill>
                  <a:schemeClr val="tx1"/>
                </a:solidFill>
                <a:latin typeface="Gill Sans MT" panose="020B0502020104020203" pitchFamily="34" charset="0"/>
                <a:ea typeface="游ゴシック" panose="020B0400000000000000" pitchFamily="50" charset="-128"/>
              </a:defRPr>
            </a:lvl4pPr>
            <a:lvl5pPr marL="2057400" indent="-228600">
              <a:lnSpc>
                <a:spcPct val="120000"/>
              </a:lnSpc>
              <a:spcBef>
                <a:spcPts val="500"/>
              </a:spcBef>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5pPr>
            <a:lvl6pPr marL="25146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6pPr>
            <a:lvl7pPr marL="29718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7pPr>
            <a:lvl8pPr marL="34290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8pPr>
            <a:lvl9pPr marL="38862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9pPr>
          </a:lstStyle>
          <a:p>
            <a:pPr algn="r" eaLnBrk="1" hangingPunct="1">
              <a:lnSpc>
                <a:spcPct val="100000"/>
              </a:lnSpc>
              <a:spcBef>
                <a:spcPct val="50000"/>
              </a:spcBef>
              <a:buClrTx/>
              <a:buSzTx/>
              <a:buFontTx/>
              <a:buNone/>
            </a:pPr>
            <a:r>
              <a:rPr lang="ja-JP" altLang="en-US" sz="2400" b="1">
                <a:solidFill>
                  <a:schemeClr val="bg1"/>
                </a:solidFill>
                <a:latin typeface="HGPｺﾞｼｯｸE" panose="020B0900000000000000" pitchFamily="50" charset="-128"/>
                <a:ea typeface="HGPｺﾞｼｯｸE" panose="020B0900000000000000" pitchFamily="50" charset="-128"/>
              </a:rPr>
              <a:t>３．筆記試験対策の教育</a:t>
            </a:r>
          </a:p>
        </p:txBody>
      </p:sp>
      <p:sp>
        <p:nvSpPr>
          <p:cNvPr id="15" name="正方形/長方形 14"/>
          <p:cNvSpPr/>
          <p:nvPr/>
        </p:nvSpPr>
        <p:spPr>
          <a:xfrm>
            <a:off x="1217524" y="997927"/>
            <a:ext cx="1111202" cy="646331"/>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3600" b="1" dirty="0">
                <a:latin typeface="HGPｺﾞｼｯｸE" panose="020B0900000000000000" pitchFamily="50" charset="-128"/>
                <a:ea typeface="HGPｺﾞｼｯｸE" panose="020B0900000000000000" pitchFamily="50" charset="-128"/>
              </a:rPr>
              <a:t>学費</a:t>
            </a:r>
            <a:endParaRPr lang="ja-JP" altLang="en-US" sz="3300" b="1" dirty="0">
              <a:latin typeface="HGPｺﾞｼｯｸE" panose="020B0900000000000000" pitchFamily="50" charset="-128"/>
              <a:ea typeface="HGPｺﾞｼｯｸE" panose="020B0900000000000000" pitchFamily="50" charset="-128"/>
            </a:endParaRPr>
          </a:p>
        </p:txBody>
      </p:sp>
      <p:sp>
        <p:nvSpPr>
          <p:cNvPr id="16" name="テキスト ボックス 15"/>
          <p:cNvSpPr txBox="1"/>
          <p:nvPr/>
        </p:nvSpPr>
        <p:spPr>
          <a:xfrm>
            <a:off x="1452926" y="2019825"/>
            <a:ext cx="2484073" cy="512201"/>
          </a:xfrm>
          <a:prstGeom prst="rect">
            <a:avLst/>
          </a:prstGeom>
          <a:solidFill>
            <a:schemeClr val="accent5"/>
          </a:solidFill>
        </p:spPr>
        <p:txBody>
          <a:bodyPr wrap="square" lIns="0" tIns="0" rIns="0" bIns="0" rtlCol="0" anchor="ctr" anchorCtr="0">
            <a:noAutofit/>
          </a:bodyPr>
          <a:lstStyle/>
          <a:p>
            <a:pPr algn="ctr"/>
            <a:r>
              <a:rPr lang="ja-JP" altLang="en-US" sz="2400" b="1" dirty="0">
                <a:solidFill>
                  <a:schemeClr val="bg1"/>
                </a:solidFill>
                <a:latin typeface="HGPｺﾞｼｯｸE" panose="020B0900000000000000" pitchFamily="50" charset="-128"/>
                <a:ea typeface="HGPｺﾞｼｯｸE" panose="020B0900000000000000" pitchFamily="50" charset="-128"/>
              </a:rPr>
              <a:t>入学金：</a:t>
            </a:r>
            <a:r>
              <a:rPr lang="en-US" altLang="ja-JP" sz="2400" b="1" dirty="0">
                <a:solidFill>
                  <a:schemeClr val="bg1"/>
                </a:solidFill>
                <a:latin typeface="HGPｺﾞｼｯｸE" panose="020B0900000000000000" pitchFamily="50" charset="-128"/>
                <a:ea typeface="HGPｺﾞｼｯｸE" panose="020B0900000000000000" pitchFamily="50" charset="-128"/>
              </a:rPr>
              <a:t>20</a:t>
            </a:r>
            <a:r>
              <a:rPr lang="ja-JP" altLang="en-US" sz="2400" b="1" dirty="0">
                <a:solidFill>
                  <a:schemeClr val="bg1"/>
                </a:solidFill>
                <a:latin typeface="HGPｺﾞｼｯｸE" panose="020B0900000000000000" pitchFamily="50" charset="-128"/>
                <a:ea typeface="HGPｺﾞｼｯｸE" panose="020B0900000000000000" pitchFamily="50" charset="-128"/>
              </a:rPr>
              <a:t>万円</a:t>
            </a:r>
          </a:p>
        </p:txBody>
      </p:sp>
      <p:sp>
        <p:nvSpPr>
          <p:cNvPr id="17" name="テキスト ボックス 16"/>
          <p:cNvSpPr txBox="1"/>
          <p:nvPr/>
        </p:nvSpPr>
        <p:spPr>
          <a:xfrm>
            <a:off x="8738176" y="3295763"/>
            <a:ext cx="1356462" cy="553998"/>
          </a:xfrm>
          <a:prstGeom prst="rect">
            <a:avLst/>
          </a:prstGeom>
          <a:noFill/>
        </p:spPr>
        <p:txBody>
          <a:bodyPr wrap="none" rtlCol="0">
            <a:spAutoFit/>
          </a:bodyPr>
          <a:lstStyle/>
          <a:p>
            <a:pPr algn="r"/>
            <a:r>
              <a:rPr lang="en-US" altLang="ja-JP" sz="3000" b="1" dirty="0">
                <a:solidFill>
                  <a:schemeClr val="accent2"/>
                </a:solidFill>
                <a:latin typeface="HGPｺﾞｼｯｸE" panose="020B0900000000000000" pitchFamily="50" charset="-128"/>
                <a:ea typeface="HGPｺﾞｼｯｸE" panose="020B0900000000000000" pitchFamily="50" charset="-128"/>
              </a:rPr>
              <a:t>124</a:t>
            </a:r>
            <a:r>
              <a:rPr lang="ja-JP" altLang="en-US" sz="2100" b="1" dirty="0">
                <a:solidFill>
                  <a:schemeClr val="accent2"/>
                </a:solidFill>
                <a:latin typeface="HGPｺﾞｼｯｸE" panose="020B0900000000000000" pitchFamily="50" charset="-128"/>
                <a:ea typeface="HGPｺﾞｼｯｸE" panose="020B0900000000000000" pitchFamily="50" charset="-128"/>
              </a:rPr>
              <a:t>万円</a:t>
            </a:r>
          </a:p>
        </p:txBody>
      </p:sp>
      <p:sp>
        <p:nvSpPr>
          <p:cNvPr id="18" name="テキスト ボックス 17"/>
          <p:cNvSpPr txBox="1"/>
          <p:nvPr/>
        </p:nvSpPr>
        <p:spPr>
          <a:xfrm>
            <a:off x="8738176" y="3925531"/>
            <a:ext cx="1356462" cy="553998"/>
          </a:xfrm>
          <a:prstGeom prst="rect">
            <a:avLst/>
          </a:prstGeom>
          <a:noFill/>
        </p:spPr>
        <p:txBody>
          <a:bodyPr wrap="none" rtlCol="0">
            <a:spAutoFit/>
          </a:bodyPr>
          <a:lstStyle/>
          <a:p>
            <a:pPr algn="r"/>
            <a:r>
              <a:rPr lang="en-US" altLang="ja-JP" sz="3000" b="1" dirty="0">
                <a:solidFill>
                  <a:schemeClr val="accent2"/>
                </a:solidFill>
                <a:latin typeface="HGPｺﾞｼｯｸE" panose="020B0900000000000000" pitchFamily="50" charset="-128"/>
                <a:ea typeface="HGPｺﾞｼｯｸE" panose="020B0900000000000000" pitchFamily="50" charset="-128"/>
              </a:rPr>
              <a:t>124</a:t>
            </a:r>
            <a:r>
              <a:rPr lang="ja-JP" altLang="en-US" sz="2100" b="1" dirty="0">
                <a:solidFill>
                  <a:schemeClr val="accent2"/>
                </a:solidFill>
                <a:latin typeface="HGPｺﾞｼｯｸE" panose="020B0900000000000000" pitchFamily="50" charset="-128"/>
                <a:ea typeface="HGPｺﾞｼｯｸE" panose="020B0900000000000000" pitchFamily="50" charset="-128"/>
              </a:rPr>
              <a:t>万円</a:t>
            </a:r>
          </a:p>
        </p:txBody>
      </p:sp>
      <p:sp>
        <p:nvSpPr>
          <p:cNvPr id="19" name="二等辺三角形 18"/>
          <p:cNvSpPr/>
          <p:nvPr/>
        </p:nvSpPr>
        <p:spPr>
          <a:xfrm rot="5400000">
            <a:off x="8462990" y="2899690"/>
            <a:ext cx="275075" cy="183578"/>
          </a:xfrm>
          <a:prstGeom prst="triangl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solidFill>
                <a:schemeClr val="tx1">
                  <a:lumMod val="65000"/>
                  <a:lumOff val="35000"/>
                </a:schemeClr>
              </a:solidFill>
              <a:latin typeface="HGPｺﾞｼｯｸE" panose="020B0900000000000000" pitchFamily="50" charset="-128"/>
              <a:ea typeface="HGPｺﾞｼｯｸE" panose="020B0900000000000000" pitchFamily="50" charset="-128"/>
            </a:endParaRPr>
          </a:p>
        </p:txBody>
      </p:sp>
      <p:sp>
        <p:nvSpPr>
          <p:cNvPr id="20" name="二等辺三角形 19"/>
          <p:cNvSpPr/>
          <p:nvPr/>
        </p:nvSpPr>
        <p:spPr>
          <a:xfrm rot="5400000">
            <a:off x="8462990" y="3440086"/>
            <a:ext cx="275075" cy="183578"/>
          </a:xfrm>
          <a:prstGeom prst="triangl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solidFill>
                <a:schemeClr val="tx1">
                  <a:lumMod val="65000"/>
                  <a:lumOff val="35000"/>
                </a:schemeClr>
              </a:solidFill>
              <a:latin typeface="HGPｺﾞｼｯｸE" panose="020B0900000000000000" pitchFamily="50" charset="-128"/>
              <a:ea typeface="HGPｺﾞｼｯｸE" panose="020B0900000000000000" pitchFamily="50" charset="-128"/>
            </a:endParaRPr>
          </a:p>
        </p:txBody>
      </p:sp>
      <p:sp>
        <p:nvSpPr>
          <p:cNvPr id="21" name="二等辺三角形 20"/>
          <p:cNvSpPr/>
          <p:nvPr/>
        </p:nvSpPr>
        <p:spPr>
          <a:xfrm rot="5400000">
            <a:off x="8462989" y="4075150"/>
            <a:ext cx="275075" cy="183579"/>
          </a:xfrm>
          <a:prstGeom prst="triangl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solidFill>
                <a:schemeClr val="tx1">
                  <a:lumMod val="65000"/>
                  <a:lumOff val="35000"/>
                </a:schemeClr>
              </a:solidFill>
              <a:latin typeface="HGPｺﾞｼｯｸE" panose="020B0900000000000000" pitchFamily="50" charset="-128"/>
              <a:ea typeface="HGPｺﾞｼｯｸE" panose="020B0900000000000000" pitchFamily="50" charset="-128"/>
            </a:endParaRPr>
          </a:p>
        </p:txBody>
      </p:sp>
      <p:sp>
        <p:nvSpPr>
          <p:cNvPr id="22" name="正方形/長方形 21"/>
          <p:cNvSpPr/>
          <p:nvPr/>
        </p:nvSpPr>
        <p:spPr>
          <a:xfrm>
            <a:off x="1452926" y="2696467"/>
            <a:ext cx="6867203" cy="4986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dirty="0">
                <a:latin typeface="HGPｺﾞｼｯｸE" panose="020B0900000000000000" pitchFamily="50" charset="-128"/>
                <a:ea typeface="HGPｺﾞｼｯｸE" panose="020B0900000000000000" pitchFamily="50" charset="-128"/>
              </a:rPr>
              <a:t>授業料・教材費・設備費・維持費・実習費・演習費</a:t>
            </a:r>
          </a:p>
        </p:txBody>
      </p:sp>
      <p:sp>
        <p:nvSpPr>
          <p:cNvPr id="23" name="正方形/長方形 22"/>
          <p:cNvSpPr/>
          <p:nvPr/>
        </p:nvSpPr>
        <p:spPr>
          <a:xfrm>
            <a:off x="1452926" y="3282867"/>
            <a:ext cx="6867203" cy="5174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dirty="0">
                <a:latin typeface="HGPｺﾞｼｯｸE" panose="020B0900000000000000" pitchFamily="50" charset="-128"/>
                <a:ea typeface="HGPｺﾞｼｯｸE" panose="020B0900000000000000" pitchFamily="50" charset="-128"/>
              </a:rPr>
              <a:t>授業料・教材費・設備費・維持費・実習費・演習費</a:t>
            </a:r>
          </a:p>
        </p:txBody>
      </p:sp>
      <p:sp>
        <p:nvSpPr>
          <p:cNvPr id="24" name="正方形/長方形 23"/>
          <p:cNvSpPr/>
          <p:nvPr/>
        </p:nvSpPr>
        <p:spPr>
          <a:xfrm>
            <a:off x="1452926" y="3908205"/>
            <a:ext cx="6867203" cy="5174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dirty="0">
                <a:latin typeface="HGPｺﾞｼｯｸE" panose="020B0900000000000000" pitchFamily="50" charset="-128"/>
                <a:ea typeface="HGPｺﾞｼｯｸE" panose="020B0900000000000000" pitchFamily="50" charset="-128"/>
              </a:rPr>
              <a:t>授業料・教材費・設備費・維持費・実習費・演習費</a:t>
            </a:r>
          </a:p>
        </p:txBody>
      </p:sp>
      <p:sp>
        <p:nvSpPr>
          <p:cNvPr id="25" name="テキスト ボックス 24"/>
          <p:cNvSpPr txBox="1"/>
          <p:nvPr/>
        </p:nvSpPr>
        <p:spPr>
          <a:xfrm>
            <a:off x="474574" y="2802689"/>
            <a:ext cx="894797" cy="415498"/>
          </a:xfrm>
          <a:prstGeom prst="rect">
            <a:avLst/>
          </a:prstGeom>
          <a:noFill/>
        </p:spPr>
        <p:txBody>
          <a:bodyPr wrap="none" rtlCol="0">
            <a:spAutoFit/>
          </a:bodyPr>
          <a:lstStyle/>
          <a:p>
            <a:r>
              <a:rPr lang="en-US" altLang="ja-JP" sz="2100" dirty="0">
                <a:latin typeface="HGPｺﾞｼｯｸE" panose="020B0900000000000000" pitchFamily="50" charset="-128"/>
                <a:ea typeface="HGPｺﾞｼｯｸE" panose="020B0900000000000000" pitchFamily="50" charset="-128"/>
              </a:rPr>
              <a:t>1</a:t>
            </a:r>
            <a:r>
              <a:rPr lang="ja-JP" altLang="en-US" sz="2100" dirty="0">
                <a:latin typeface="HGPｺﾞｼｯｸE" panose="020B0900000000000000" pitchFamily="50" charset="-128"/>
                <a:ea typeface="HGPｺﾞｼｯｸE" panose="020B0900000000000000" pitchFamily="50" charset="-128"/>
              </a:rPr>
              <a:t>年目</a:t>
            </a:r>
          </a:p>
        </p:txBody>
      </p:sp>
      <p:sp>
        <p:nvSpPr>
          <p:cNvPr id="26" name="テキスト ボックス 25"/>
          <p:cNvSpPr txBox="1"/>
          <p:nvPr/>
        </p:nvSpPr>
        <p:spPr>
          <a:xfrm>
            <a:off x="476254" y="3389551"/>
            <a:ext cx="894797" cy="415498"/>
          </a:xfrm>
          <a:prstGeom prst="rect">
            <a:avLst/>
          </a:prstGeom>
          <a:noFill/>
        </p:spPr>
        <p:txBody>
          <a:bodyPr wrap="none" rtlCol="0">
            <a:spAutoFit/>
          </a:bodyPr>
          <a:lstStyle/>
          <a:p>
            <a:r>
              <a:rPr lang="en-US" altLang="ja-JP" sz="2100" dirty="0">
                <a:latin typeface="HGPｺﾞｼｯｸE" panose="020B0900000000000000" pitchFamily="50" charset="-128"/>
                <a:ea typeface="HGPｺﾞｼｯｸE" panose="020B0900000000000000" pitchFamily="50" charset="-128"/>
              </a:rPr>
              <a:t>2</a:t>
            </a:r>
            <a:r>
              <a:rPr lang="ja-JP" altLang="en-US" sz="2100" dirty="0">
                <a:latin typeface="HGPｺﾞｼｯｸE" panose="020B0900000000000000" pitchFamily="50" charset="-128"/>
                <a:ea typeface="HGPｺﾞｼｯｸE" panose="020B0900000000000000" pitchFamily="50" charset="-128"/>
              </a:rPr>
              <a:t>年目</a:t>
            </a:r>
          </a:p>
        </p:txBody>
      </p:sp>
      <p:sp>
        <p:nvSpPr>
          <p:cNvPr id="27" name="テキスト ボックス 26"/>
          <p:cNvSpPr txBox="1"/>
          <p:nvPr/>
        </p:nvSpPr>
        <p:spPr>
          <a:xfrm>
            <a:off x="474574" y="3994781"/>
            <a:ext cx="894797" cy="415498"/>
          </a:xfrm>
          <a:prstGeom prst="rect">
            <a:avLst/>
          </a:prstGeom>
          <a:noFill/>
        </p:spPr>
        <p:txBody>
          <a:bodyPr wrap="none" rtlCol="0">
            <a:spAutoFit/>
          </a:bodyPr>
          <a:lstStyle/>
          <a:p>
            <a:r>
              <a:rPr lang="en-US" altLang="ja-JP" sz="2100" dirty="0">
                <a:latin typeface="HGPｺﾞｼｯｸE" panose="020B0900000000000000" pitchFamily="50" charset="-128"/>
                <a:ea typeface="HGPｺﾞｼｯｸE" panose="020B0900000000000000" pitchFamily="50" charset="-128"/>
              </a:rPr>
              <a:t>3</a:t>
            </a:r>
            <a:r>
              <a:rPr lang="ja-JP" altLang="en-US" sz="2100" dirty="0">
                <a:latin typeface="HGPｺﾞｼｯｸE" panose="020B0900000000000000" pitchFamily="50" charset="-128"/>
                <a:ea typeface="HGPｺﾞｼｯｸE" panose="020B0900000000000000" pitchFamily="50" charset="-128"/>
              </a:rPr>
              <a:t>年目</a:t>
            </a:r>
          </a:p>
        </p:txBody>
      </p:sp>
      <p:sp>
        <p:nvSpPr>
          <p:cNvPr id="28" name="テキスト ボックス 27"/>
          <p:cNvSpPr txBox="1"/>
          <p:nvPr/>
        </p:nvSpPr>
        <p:spPr>
          <a:xfrm>
            <a:off x="8738176" y="2733439"/>
            <a:ext cx="1356462" cy="553998"/>
          </a:xfrm>
          <a:prstGeom prst="rect">
            <a:avLst/>
          </a:prstGeom>
          <a:noFill/>
        </p:spPr>
        <p:txBody>
          <a:bodyPr wrap="none" rtlCol="0">
            <a:spAutoFit/>
          </a:bodyPr>
          <a:lstStyle/>
          <a:p>
            <a:pPr algn="r"/>
            <a:r>
              <a:rPr lang="en-US" altLang="ja-JP" sz="3000" b="1" dirty="0">
                <a:solidFill>
                  <a:schemeClr val="accent2"/>
                </a:solidFill>
                <a:latin typeface="HGPｺﾞｼｯｸE" panose="020B0900000000000000" pitchFamily="50" charset="-128"/>
                <a:ea typeface="HGPｺﾞｼｯｸE" panose="020B0900000000000000" pitchFamily="50" charset="-128"/>
              </a:rPr>
              <a:t>124</a:t>
            </a:r>
            <a:r>
              <a:rPr lang="ja-JP" altLang="en-US" sz="2100" b="1" dirty="0">
                <a:solidFill>
                  <a:schemeClr val="accent2"/>
                </a:solidFill>
                <a:latin typeface="HGPｺﾞｼｯｸE" panose="020B0900000000000000" pitchFamily="50" charset="-128"/>
                <a:ea typeface="HGPｺﾞｼｯｸE" panose="020B0900000000000000" pitchFamily="50" charset="-128"/>
              </a:rPr>
              <a:t>万円</a:t>
            </a:r>
          </a:p>
        </p:txBody>
      </p:sp>
      <p:sp>
        <p:nvSpPr>
          <p:cNvPr id="29" name="テキスト ボックス 28"/>
          <p:cNvSpPr txBox="1"/>
          <p:nvPr/>
        </p:nvSpPr>
        <p:spPr>
          <a:xfrm>
            <a:off x="1123917" y="5294719"/>
            <a:ext cx="10895168" cy="1323439"/>
          </a:xfrm>
          <a:prstGeom prst="rect">
            <a:avLst/>
          </a:prstGeom>
          <a:noFill/>
        </p:spPr>
        <p:txBody>
          <a:bodyPr wrap="square" rtlCol="0">
            <a:spAutoFit/>
          </a:bodyPr>
          <a:lstStyle/>
          <a:p>
            <a:r>
              <a:rPr lang="en-US" altLang="ja-JP" sz="2000" dirty="0">
                <a:latin typeface="HGPｺﾞｼｯｸE" panose="020B0900000000000000" pitchFamily="50" charset="-128"/>
                <a:ea typeface="HGPｺﾞｼｯｸE" panose="020B0900000000000000" pitchFamily="50" charset="-128"/>
              </a:rPr>
              <a:t>※</a:t>
            </a:r>
            <a:r>
              <a:rPr lang="ja-JP" altLang="en-US" sz="2000" dirty="0">
                <a:latin typeface="HGPｺﾞｼｯｸE" panose="020B0900000000000000" pitchFamily="50" charset="-128"/>
                <a:ea typeface="HGPｺﾞｼｯｸE" panose="020B0900000000000000" pitchFamily="50" charset="-128"/>
              </a:rPr>
              <a:t>その他の費用についてその都度実費負担</a:t>
            </a:r>
          </a:p>
          <a:p>
            <a:r>
              <a:rPr lang="ja-JP" altLang="en-US" sz="2000" dirty="0">
                <a:latin typeface="HGPｺﾞｼｯｸE" panose="020B0900000000000000" pitchFamily="50" charset="-128"/>
                <a:ea typeface="HGPｺﾞｼｯｸE" panose="020B0900000000000000" pitchFamily="50" charset="-128"/>
              </a:rPr>
              <a:t>　　　・資格試験の受験料（</a:t>
            </a:r>
            <a:r>
              <a:rPr lang="en-US" altLang="ja-JP" sz="2000" dirty="0">
                <a:latin typeface="HGPｺﾞｼｯｸE" panose="020B0900000000000000" pitchFamily="50" charset="-128"/>
                <a:ea typeface="HGPｺﾞｼｯｸE" panose="020B0900000000000000" pitchFamily="50" charset="-128"/>
              </a:rPr>
              <a:t>2,000</a:t>
            </a:r>
            <a:r>
              <a:rPr lang="ja-JP" altLang="en-US" sz="2000" dirty="0">
                <a:latin typeface="HGPｺﾞｼｯｸE" panose="020B0900000000000000" pitchFamily="50" charset="-128"/>
                <a:ea typeface="HGPｺﾞｼｯｸE" panose="020B0900000000000000" pitchFamily="50" charset="-128"/>
              </a:rPr>
              <a:t>円～</a:t>
            </a:r>
            <a:r>
              <a:rPr lang="en-US" altLang="ja-JP" sz="2000" dirty="0">
                <a:latin typeface="HGPｺﾞｼｯｸE" panose="020B0900000000000000" pitchFamily="50" charset="-128"/>
                <a:ea typeface="HGPｺﾞｼｯｸE" panose="020B0900000000000000" pitchFamily="50" charset="-128"/>
              </a:rPr>
              <a:t>30,000</a:t>
            </a:r>
            <a:r>
              <a:rPr lang="ja-JP" altLang="en-US" sz="2000" dirty="0">
                <a:latin typeface="HGPｺﾞｼｯｸE" panose="020B0900000000000000" pitchFamily="50" charset="-128"/>
                <a:ea typeface="HGPｺﾞｼｯｸE" panose="020B0900000000000000" pitchFamily="50" charset="-128"/>
              </a:rPr>
              <a:t>円程度）</a:t>
            </a:r>
            <a:r>
              <a:rPr lang="en-US" altLang="ja-JP" sz="2000" dirty="0">
                <a:latin typeface="HGPｺﾞｼｯｸE" panose="020B0900000000000000" pitchFamily="50" charset="-128"/>
                <a:ea typeface="HGPｺﾞｼｯｸE" panose="020B0900000000000000" pitchFamily="50" charset="-128"/>
              </a:rPr>
              <a:t>	</a:t>
            </a:r>
            <a:r>
              <a:rPr lang="ja-JP" altLang="en-US" sz="2000" dirty="0">
                <a:latin typeface="HGPｺﾞｼｯｸE" panose="020B0900000000000000" pitchFamily="50" charset="-128"/>
                <a:ea typeface="HGPｺﾞｼｯｸE" panose="020B0900000000000000" pitchFamily="50" charset="-128"/>
              </a:rPr>
              <a:t>・学外研修費用（</a:t>
            </a:r>
            <a:r>
              <a:rPr lang="en-US" altLang="ja-JP" sz="2000" dirty="0">
                <a:latin typeface="HGPｺﾞｼｯｸE" panose="020B0900000000000000" pitchFamily="50" charset="-128"/>
                <a:ea typeface="HGPｺﾞｼｯｸE" panose="020B0900000000000000" pitchFamily="50" charset="-128"/>
              </a:rPr>
              <a:t>20,000</a:t>
            </a:r>
            <a:r>
              <a:rPr lang="ja-JP" altLang="en-US" sz="2000" dirty="0">
                <a:latin typeface="HGPｺﾞｼｯｸE" panose="020B0900000000000000" pitchFamily="50" charset="-128"/>
                <a:ea typeface="HGPｺﾞｼｯｸE" panose="020B0900000000000000" pitchFamily="50" charset="-128"/>
              </a:rPr>
              <a:t>円程度）</a:t>
            </a:r>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　　　・スポーツフェスティバル費用（</a:t>
            </a:r>
            <a:r>
              <a:rPr lang="en-US" altLang="ja-JP" sz="2000" dirty="0">
                <a:latin typeface="HGPｺﾞｼｯｸE" panose="020B0900000000000000" pitchFamily="50" charset="-128"/>
                <a:ea typeface="HGPｺﾞｼｯｸE" panose="020B0900000000000000" pitchFamily="50" charset="-128"/>
              </a:rPr>
              <a:t>2,000</a:t>
            </a:r>
            <a:r>
              <a:rPr lang="ja-JP" altLang="en-US" sz="2000" dirty="0">
                <a:latin typeface="HGPｺﾞｼｯｸE" panose="020B0900000000000000" pitchFamily="50" charset="-128"/>
                <a:ea typeface="HGPｺﾞｼｯｸE" panose="020B0900000000000000" pitchFamily="50" charset="-128"/>
              </a:rPr>
              <a:t>円程度）</a:t>
            </a:r>
            <a:r>
              <a:rPr lang="en-US" altLang="ja-JP" sz="2000" dirty="0">
                <a:latin typeface="HGPｺﾞｼｯｸE" panose="020B0900000000000000" pitchFamily="50" charset="-128"/>
                <a:ea typeface="HGPｺﾞｼｯｸE" panose="020B0900000000000000" pitchFamily="50" charset="-128"/>
              </a:rPr>
              <a:t>		</a:t>
            </a:r>
            <a:r>
              <a:rPr lang="ja-JP" altLang="en-US" sz="2000" dirty="0">
                <a:latin typeface="HGPｺﾞｼｯｸE" panose="020B0900000000000000" pitchFamily="50" charset="-128"/>
                <a:ea typeface="HGPｺﾞｼｯｸE" panose="020B0900000000000000" pitchFamily="50" charset="-128"/>
              </a:rPr>
              <a:t>・卒業諸費用（</a:t>
            </a:r>
            <a:r>
              <a:rPr lang="en-US" altLang="ja-JP" sz="2000" dirty="0">
                <a:latin typeface="HGPｺﾞｼｯｸE" panose="020B0900000000000000" pitchFamily="50" charset="-128"/>
                <a:ea typeface="HGPｺﾞｼｯｸE" panose="020B0900000000000000" pitchFamily="50" charset="-128"/>
              </a:rPr>
              <a:t>20,000</a:t>
            </a:r>
            <a:r>
              <a:rPr lang="ja-JP" altLang="en-US" sz="2000" dirty="0">
                <a:latin typeface="HGPｺﾞｼｯｸE" panose="020B0900000000000000" pitchFamily="50" charset="-128"/>
                <a:ea typeface="HGPｺﾞｼｯｸE" panose="020B0900000000000000" pitchFamily="50" charset="-128"/>
              </a:rPr>
              <a:t>円程度）</a:t>
            </a:r>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　　　・</a:t>
            </a:r>
            <a:r>
              <a:rPr lang="en-US" altLang="ja-JP" sz="2000" dirty="0">
                <a:latin typeface="HGPｺﾞｼｯｸE" panose="020B0900000000000000" pitchFamily="50" charset="-128"/>
                <a:ea typeface="HGPｺﾞｼｯｸE" panose="020B0900000000000000" pitchFamily="50" charset="-128"/>
              </a:rPr>
              <a:t>CEDEC+KYUSHU</a:t>
            </a:r>
            <a:r>
              <a:rPr lang="ja-JP" altLang="en-US" sz="2000" dirty="0">
                <a:latin typeface="HGPｺﾞｼｯｸE" panose="020B0900000000000000" pitchFamily="50" charset="-128"/>
                <a:ea typeface="HGPｺﾞｼｯｸE" panose="020B0900000000000000" pitchFamily="50" charset="-128"/>
              </a:rPr>
              <a:t>（</a:t>
            </a:r>
            <a:r>
              <a:rPr lang="en-US" altLang="ja-JP" sz="2000" dirty="0">
                <a:latin typeface="HGPｺﾞｼｯｸE" panose="020B0900000000000000" pitchFamily="50" charset="-128"/>
                <a:ea typeface="HGPｺﾞｼｯｸE" panose="020B0900000000000000" pitchFamily="50" charset="-128"/>
              </a:rPr>
              <a:t>2,000</a:t>
            </a:r>
            <a:r>
              <a:rPr lang="ja-JP" altLang="en-US" sz="2000" dirty="0">
                <a:latin typeface="HGPｺﾞｼｯｸE" panose="020B0900000000000000" pitchFamily="50" charset="-128"/>
                <a:ea typeface="HGPｺﾞｼｯｸE" panose="020B0900000000000000" pitchFamily="50" charset="-128"/>
              </a:rPr>
              <a:t>円程度）</a:t>
            </a:r>
            <a:r>
              <a:rPr lang="en-US" altLang="ja-JP" sz="2000" dirty="0">
                <a:latin typeface="HGPｺﾞｼｯｸE" panose="020B0900000000000000" pitchFamily="50" charset="-128"/>
                <a:ea typeface="HGPｺﾞｼｯｸE" panose="020B0900000000000000" pitchFamily="50" charset="-128"/>
              </a:rPr>
              <a:t>					</a:t>
            </a:r>
            <a:r>
              <a:rPr lang="ja-JP" altLang="en-US" sz="2000" dirty="0">
                <a:latin typeface="HGPｺﾞｼｯｸE" panose="020B0900000000000000" pitchFamily="50" charset="-128"/>
                <a:ea typeface="HGPｺﾞｼｯｸE" panose="020B0900000000000000" pitchFamily="50" charset="-128"/>
              </a:rPr>
              <a:t>・その他イベント毎</a:t>
            </a:r>
            <a:endParaRPr lang="en-US" altLang="ja-JP" sz="2000" dirty="0">
              <a:latin typeface="HGPｺﾞｼｯｸE" panose="020B0900000000000000" pitchFamily="50" charset="-128"/>
              <a:ea typeface="HGPｺﾞｼｯｸE" panose="020B0900000000000000" pitchFamily="50" charset="-128"/>
            </a:endParaRPr>
          </a:p>
        </p:txBody>
      </p:sp>
      <p:sp>
        <p:nvSpPr>
          <p:cNvPr id="31" name="テキスト ボックス 30"/>
          <p:cNvSpPr txBox="1"/>
          <p:nvPr/>
        </p:nvSpPr>
        <p:spPr>
          <a:xfrm>
            <a:off x="1123917" y="4795291"/>
            <a:ext cx="10146534" cy="400110"/>
          </a:xfrm>
          <a:prstGeom prst="rect">
            <a:avLst/>
          </a:prstGeom>
          <a:noFill/>
        </p:spPr>
        <p:txBody>
          <a:bodyPr wrap="square" rtlCol="0">
            <a:spAutoFit/>
          </a:bodyPr>
          <a:lstStyle/>
          <a:p>
            <a:r>
              <a:rPr lang="en-US" altLang="ja-JP" sz="2000" dirty="0">
                <a:latin typeface="HGPｺﾞｼｯｸE" panose="020B0900000000000000" pitchFamily="50" charset="-128"/>
                <a:ea typeface="HGPｺﾞｼｯｸE" panose="020B0900000000000000" pitchFamily="50" charset="-128"/>
              </a:rPr>
              <a:t>※</a:t>
            </a:r>
            <a:r>
              <a:rPr lang="ja-JP" altLang="en-US" sz="2000" dirty="0">
                <a:latin typeface="HGPｺﾞｼｯｸE" panose="020B0900000000000000" pitchFamily="50" charset="-128"/>
                <a:ea typeface="HGPｺﾞｼｯｸE" panose="020B0900000000000000" pitchFamily="50" charset="-128"/>
              </a:rPr>
              <a:t>特別奨学生制度により学費が一部免除になる場合があります。</a:t>
            </a:r>
            <a:endParaRPr lang="en-US" altLang="ja-JP" sz="2000" dirty="0">
              <a:latin typeface="HGPｺﾞｼｯｸE" panose="020B0900000000000000" pitchFamily="50" charset="-128"/>
              <a:ea typeface="HGPｺﾞｼｯｸE" panose="020B0900000000000000" pitchFamily="50" charset="-128"/>
            </a:endParaRPr>
          </a:p>
        </p:txBody>
      </p:sp>
      <p:sp>
        <p:nvSpPr>
          <p:cNvPr id="30" name="テキスト ボックス 29"/>
          <p:cNvSpPr txBox="1"/>
          <p:nvPr/>
        </p:nvSpPr>
        <p:spPr>
          <a:xfrm>
            <a:off x="6686466" y="967153"/>
            <a:ext cx="5096268" cy="553998"/>
          </a:xfrm>
          <a:prstGeom prst="rect">
            <a:avLst/>
          </a:prstGeom>
          <a:noFill/>
        </p:spPr>
        <p:txBody>
          <a:bodyPr wrap="none" rtlCol="0">
            <a:spAutoFit/>
          </a:bodyPr>
          <a:lstStyle/>
          <a:p>
            <a:pPr algn="r"/>
            <a:r>
              <a:rPr lang="ja-JP" altLang="en-US" sz="3000" b="1" dirty="0">
                <a:solidFill>
                  <a:srgbClr val="0000FF"/>
                </a:solidFill>
                <a:latin typeface="HGPｺﾞｼｯｸE" panose="020B0900000000000000" pitchFamily="50" charset="-128"/>
                <a:ea typeface="HGPｺﾞｼｯｸE" panose="020B0900000000000000" pitchFamily="50" charset="-128"/>
              </a:rPr>
              <a:t>入学金納入期限：募集要項８</a:t>
            </a:r>
            <a:r>
              <a:rPr lang="en-US" altLang="ja-JP" sz="3000" b="1" dirty="0">
                <a:solidFill>
                  <a:srgbClr val="0000FF"/>
                </a:solidFill>
                <a:latin typeface="HGPｺﾞｼｯｸE" panose="020B0900000000000000" pitchFamily="50" charset="-128"/>
                <a:ea typeface="HGPｺﾞｼｯｸE" panose="020B0900000000000000" pitchFamily="50" charset="-128"/>
              </a:rPr>
              <a:t>P</a:t>
            </a:r>
            <a:endParaRPr lang="ja-JP" altLang="en-US" sz="2100" b="1" dirty="0">
              <a:solidFill>
                <a:srgbClr val="0000FF"/>
              </a:solidFill>
              <a:latin typeface="HGPｺﾞｼｯｸE" panose="020B0900000000000000" pitchFamily="50" charset="-128"/>
              <a:ea typeface="HGPｺﾞｼｯｸE" panose="020B0900000000000000" pitchFamily="50" charset="-128"/>
            </a:endParaRPr>
          </a:p>
        </p:txBody>
      </p:sp>
      <p:sp>
        <p:nvSpPr>
          <p:cNvPr id="32" name="テキスト ボックス 31"/>
          <p:cNvSpPr txBox="1"/>
          <p:nvPr/>
        </p:nvSpPr>
        <p:spPr>
          <a:xfrm>
            <a:off x="10317775" y="2725986"/>
            <a:ext cx="1356462" cy="553998"/>
          </a:xfrm>
          <a:prstGeom prst="rect">
            <a:avLst/>
          </a:prstGeom>
          <a:noFill/>
        </p:spPr>
        <p:txBody>
          <a:bodyPr wrap="none" rtlCol="0">
            <a:spAutoFit/>
          </a:bodyPr>
          <a:lstStyle/>
          <a:p>
            <a:pPr algn="r"/>
            <a:r>
              <a:rPr lang="en-US" altLang="ja-JP" sz="3000" b="1" dirty="0">
                <a:solidFill>
                  <a:schemeClr val="accent2"/>
                </a:solidFill>
                <a:latin typeface="HGPｺﾞｼｯｸE" panose="020B0900000000000000" pitchFamily="50" charset="-128"/>
                <a:ea typeface="HGPｺﾞｼｯｸE" panose="020B0900000000000000" pitchFamily="50" charset="-128"/>
              </a:rPr>
              <a:t>130</a:t>
            </a:r>
            <a:r>
              <a:rPr lang="ja-JP" altLang="en-US" sz="2100" b="1" dirty="0">
                <a:solidFill>
                  <a:schemeClr val="accent2"/>
                </a:solidFill>
                <a:latin typeface="HGPｺﾞｼｯｸE" panose="020B0900000000000000" pitchFamily="50" charset="-128"/>
                <a:ea typeface="HGPｺﾞｼｯｸE" panose="020B0900000000000000" pitchFamily="50" charset="-128"/>
              </a:rPr>
              <a:t>万円</a:t>
            </a:r>
          </a:p>
        </p:txBody>
      </p:sp>
      <p:sp>
        <p:nvSpPr>
          <p:cNvPr id="33" name="テキスト ボックス 32"/>
          <p:cNvSpPr txBox="1"/>
          <p:nvPr/>
        </p:nvSpPr>
        <p:spPr>
          <a:xfrm>
            <a:off x="10323549" y="3299991"/>
            <a:ext cx="1356462" cy="553998"/>
          </a:xfrm>
          <a:prstGeom prst="rect">
            <a:avLst/>
          </a:prstGeom>
          <a:noFill/>
        </p:spPr>
        <p:txBody>
          <a:bodyPr wrap="none" rtlCol="0">
            <a:spAutoFit/>
          </a:bodyPr>
          <a:lstStyle/>
          <a:p>
            <a:pPr algn="r"/>
            <a:r>
              <a:rPr lang="en-US" altLang="ja-JP" sz="3000" b="1" dirty="0">
                <a:solidFill>
                  <a:schemeClr val="accent2"/>
                </a:solidFill>
                <a:latin typeface="HGPｺﾞｼｯｸE" panose="020B0900000000000000" pitchFamily="50" charset="-128"/>
                <a:ea typeface="HGPｺﾞｼｯｸE" panose="020B0900000000000000" pitchFamily="50" charset="-128"/>
              </a:rPr>
              <a:t>130</a:t>
            </a:r>
            <a:r>
              <a:rPr lang="ja-JP" altLang="en-US" sz="2100" b="1" dirty="0">
                <a:solidFill>
                  <a:schemeClr val="accent2"/>
                </a:solidFill>
                <a:latin typeface="HGPｺﾞｼｯｸE" panose="020B0900000000000000" pitchFamily="50" charset="-128"/>
                <a:ea typeface="HGPｺﾞｼｯｸE" panose="020B0900000000000000" pitchFamily="50" charset="-128"/>
              </a:rPr>
              <a:t>万円</a:t>
            </a:r>
          </a:p>
        </p:txBody>
      </p:sp>
      <p:sp>
        <p:nvSpPr>
          <p:cNvPr id="34" name="テキスト ボックス 33"/>
          <p:cNvSpPr txBox="1"/>
          <p:nvPr/>
        </p:nvSpPr>
        <p:spPr>
          <a:xfrm>
            <a:off x="10323549" y="3908205"/>
            <a:ext cx="1356462" cy="553998"/>
          </a:xfrm>
          <a:prstGeom prst="rect">
            <a:avLst/>
          </a:prstGeom>
          <a:noFill/>
        </p:spPr>
        <p:txBody>
          <a:bodyPr wrap="none" rtlCol="0">
            <a:spAutoFit/>
          </a:bodyPr>
          <a:lstStyle/>
          <a:p>
            <a:pPr algn="r"/>
            <a:r>
              <a:rPr lang="en-US" altLang="ja-JP" sz="3000" b="1" dirty="0">
                <a:solidFill>
                  <a:schemeClr val="accent2"/>
                </a:solidFill>
                <a:latin typeface="HGPｺﾞｼｯｸE" panose="020B0900000000000000" pitchFamily="50" charset="-128"/>
                <a:ea typeface="HGPｺﾞｼｯｸE" panose="020B0900000000000000" pitchFamily="50" charset="-128"/>
              </a:rPr>
              <a:t>130</a:t>
            </a:r>
            <a:r>
              <a:rPr lang="ja-JP" altLang="en-US" sz="2100" b="1" dirty="0">
                <a:solidFill>
                  <a:schemeClr val="accent2"/>
                </a:solidFill>
                <a:latin typeface="HGPｺﾞｼｯｸE" panose="020B0900000000000000" pitchFamily="50" charset="-128"/>
                <a:ea typeface="HGPｺﾞｼｯｸE" panose="020B0900000000000000" pitchFamily="50" charset="-128"/>
              </a:rPr>
              <a:t>万円</a:t>
            </a:r>
          </a:p>
        </p:txBody>
      </p:sp>
      <p:sp>
        <p:nvSpPr>
          <p:cNvPr id="35" name="テキスト ボックス 34"/>
          <p:cNvSpPr txBox="1"/>
          <p:nvPr/>
        </p:nvSpPr>
        <p:spPr>
          <a:xfrm>
            <a:off x="9043928" y="2097765"/>
            <a:ext cx="2648482" cy="553998"/>
          </a:xfrm>
          <a:prstGeom prst="rect">
            <a:avLst/>
          </a:prstGeom>
          <a:noFill/>
        </p:spPr>
        <p:txBody>
          <a:bodyPr wrap="none" rtlCol="0">
            <a:spAutoFit/>
          </a:bodyPr>
          <a:lstStyle/>
          <a:p>
            <a:pPr algn="r"/>
            <a:r>
              <a:rPr lang="en-US" altLang="ja-JP" sz="3000" b="1" dirty="0">
                <a:solidFill>
                  <a:schemeClr val="accent2"/>
                </a:solidFill>
                <a:latin typeface="HGPｺﾞｼｯｸE" panose="020B0900000000000000" pitchFamily="50" charset="-128"/>
                <a:ea typeface="HGPｺﾞｼｯｸE" panose="020B0900000000000000" pitchFamily="50" charset="-128"/>
              </a:rPr>
              <a:t>I</a:t>
            </a:r>
            <a:r>
              <a:rPr lang="ja-JP" altLang="en-US" sz="3000" b="1" dirty="0">
                <a:solidFill>
                  <a:schemeClr val="accent2"/>
                </a:solidFill>
                <a:latin typeface="HGPｺﾞｼｯｸE" panose="020B0900000000000000" pitchFamily="50" charset="-128"/>
                <a:ea typeface="HGPｺﾞｼｯｸE" panose="020B0900000000000000" pitchFamily="50" charset="-128"/>
              </a:rPr>
              <a:t> </a:t>
            </a:r>
            <a:r>
              <a:rPr lang="en-US" altLang="ja-JP" sz="3000" b="1" dirty="0">
                <a:solidFill>
                  <a:schemeClr val="accent2"/>
                </a:solidFill>
                <a:latin typeface="HGPｺﾞｼｯｸE" panose="020B0900000000000000" pitchFamily="50" charset="-128"/>
                <a:ea typeface="HGPｺﾞｼｯｸE" panose="020B0900000000000000" pitchFamily="50" charset="-128"/>
              </a:rPr>
              <a:t>T </a:t>
            </a:r>
            <a:r>
              <a:rPr lang="ja-JP" altLang="en-US" sz="3000" b="1" dirty="0">
                <a:solidFill>
                  <a:schemeClr val="accent2"/>
                </a:solidFill>
                <a:latin typeface="HGPｺﾞｼｯｸE" panose="020B0900000000000000" pitchFamily="50" charset="-128"/>
                <a:ea typeface="HGPｺﾞｼｯｸE" panose="020B0900000000000000" pitchFamily="50" charset="-128"/>
              </a:rPr>
              <a:t>  ／ ゲーム</a:t>
            </a:r>
            <a:endParaRPr lang="ja-JP" altLang="en-US" sz="2100" b="1" dirty="0">
              <a:solidFill>
                <a:schemeClr val="accent2"/>
              </a:solidFill>
              <a:latin typeface="HGPｺﾞｼｯｸE" panose="020B0900000000000000" pitchFamily="50" charset="-128"/>
              <a:ea typeface="HGPｺﾞｼｯｸE" panose="020B0900000000000000" pitchFamily="50" charset="-128"/>
            </a:endParaRPr>
          </a:p>
        </p:txBody>
      </p:sp>
      <p:sp>
        <p:nvSpPr>
          <p:cNvPr id="36" name="テキスト ボックス 35">
            <a:extLst>
              <a:ext uri="{FF2B5EF4-FFF2-40B4-BE49-F238E27FC236}">
                <a16:creationId xmlns:a16="http://schemas.microsoft.com/office/drawing/2014/main" id="{44C1F673-8542-4605-9A62-0445212A7059}"/>
              </a:ext>
            </a:extLst>
          </p:cNvPr>
          <p:cNvSpPr txBox="1"/>
          <p:nvPr/>
        </p:nvSpPr>
        <p:spPr>
          <a:xfrm>
            <a:off x="664020" y="136423"/>
            <a:ext cx="531669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入試制度・学費・特別奨学生制度</a:t>
            </a:r>
          </a:p>
        </p:txBody>
      </p:sp>
    </p:spTree>
    <p:extLst>
      <p:ext uri="{BB962C8B-B14F-4D97-AF65-F5344CB8AC3E}">
        <p14:creationId xmlns:p14="http://schemas.microsoft.com/office/powerpoint/2010/main" val="1348217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0" y="1124"/>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8" name="Text Box 11"/>
          <p:cNvSpPr txBox="1">
            <a:spLocks noChangeArrowheads="1"/>
          </p:cNvSpPr>
          <p:nvPr/>
        </p:nvSpPr>
        <p:spPr bwMode="auto">
          <a:xfrm>
            <a:off x="6924882" y="5967367"/>
            <a:ext cx="3443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kumimoji="1" sz="2000">
                <a:solidFill>
                  <a:schemeClr val="tx1"/>
                </a:solidFill>
                <a:latin typeface="Gill Sans MT" panose="020B0502020104020203" pitchFamily="34" charset="0"/>
                <a:ea typeface="游ゴシック" panose="020B0400000000000000" pitchFamily="50" charset="-128"/>
              </a:defRPr>
            </a:lvl1pPr>
            <a:lvl2pPr marL="742950" indent="-285750">
              <a:lnSpc>
                <a:spcPct val="120000"/>
              </a:lnSpc>
              <a:spcBef>
                <a:spcPts val="500"/>
              </a:spcBef>
              <a:buClr>
                <a:schemeClr val="accent1"/>
              </a:buClr>
              <a:buSzPct val="100000"/>
              <a:buFont typeface="Arial" panose="020B0604020202020204" pitchFamily="34" charset="0"/>
              <a:buChar char="•"/>
              <a:defRPr kumimoji="1" sz="1600">
                <a:solidFill>
                  <a:schemeClr val="tx1"/>
                </a:solidFill>
                <a:latin typeface="Gill Sans MT" panose="020B0502020104020203" pitchFamily="34" charset="0"/>
                <a:ea typeface="游ゴシック" panose="020B0400000000000000" pitchFamily="50" charset="-128"/>
              </a:defRPr>
            </a:lvl2pPr>
            <a:lvl3pPr marL="1143000" indent="-228600">
              <a:lnSpc>
                <a:spcPct val="120000"/>
              </a:lnSpc>
              <a:spcBef>
                <a:spcPts val="500"/>
              </a:spcBef>
              <a:buClr>
                <a:schemeClr val="accent1"/>
              </a:buClr>
              <a:buSzPct val="100000"/>
              <a:buFont typeface="Arial" panose="020B0604020202020204" pitchFamily="34" charset="0"/>
              <a:buChar char="•"/>
              <a:defRPr kumimoji="1" sz="1600">
                <a:solidFill>
                  <a:schemeClr val="tx1"/>
                </a:solidFill>
                <a:latin typeface="Gill Sans MT" panose="020B0502020104020203" pitchFamily="34" charset="0"/>
                <a:ea typeface="游ゴシック" panose="020B0400000000000000" pitchFamily="50" charset="-128"/>
              </a:defRPr>
            </a:lvl3pPr>
            <a:lvl4pPr marL="1600200" indent="-228600">
              <a:lnSpc>
                <a:spcPct val="120000"/>
              </a:lnSpc>
              <a:spcBef>
                <a:spcPts val="500"/>
              </a:spcBef>
              <a:buClr>
                <a:schemeClr val="accent1"/>
              </a:buClr>
              <a:buSzPct val="100000"/>
              <a:buFont typeface="Arial" panose="020B0604020202020204" pitchFamily="34" charset="0"/>
              <a:buChar char="•"/>
              <a:defRPr kumimoji="1" sz="1400">
                <a:solidFill>
                  <a:schemeClr val="tx1"/>
                </a:solidFill>
                <a:latin typeface="Gill Sans MT" panose="020B0502020104020203" pitchFamily="34" charset="0"/>
                <a:ea typeface="游ゴシック" panose="020B0400000000000000" pitchFamily="50" charset="-128"/>
              </a:defRPr>
            </a:lvl4pPr>
            <a:lvl5pPr marL="2057400" indent="-228600">
              <a:lnSpc>
                <a:spcPct val="120000"/>
              </a:lnSpc>
              <a:spcBef>
                <a:spcPts val="500"/>
              </a:spcBef>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5pPr>
            <a:lvl6pPr marL="25146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6pPr>
            <a:lvl7pPr marL="29718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7pPr>
            <a:lvl8pPr marL="34290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8pPr>
            <a:lvl9pPr marL="3886200" indent="-228600" eaLnBrk="0" fontAlgn="base" hangingPunct="0">
              <a:lnSpc>
                <a:spcPct val="120000"/>
              </a:lnSpc>
              <a:spcBef>
                <a:spcPts val="500"/>
              </a:spcBef>
              <a:spcAft>
                <a:spcPct val="0"/>
              </a:spcAft>
              <a:buClr>
                <a:schemeClr val="accent1"/>
              </a:buClr>
              <a:buSzPct val="100000"/>
              <a:buFont typeface="Arial" panose="020B0604020202020204" pitchFamily="34" charset="0"/>
              <a:buChar char="•"/>
              <a:defRPr kumimoji="1" sz="1200">
                <a:solidFill>
                  <a:schemeClr val="tx1"/>
                </a:solidFill>
                <a:latin typeface="Gill Sans MT" panose="020B0502020104020203" pitchFamily="34" charset="0"/>
                <a:ea typeface="游ゴシック" panose="020B0400000000000000" pitchFamily="50" charset="-128"/>
              </a:defRPr>
            </a:lvl9pPr>
          </a:lstStyle>
          <a:p>
            <a:pPr algn="r" eaLnBrk="1" hangingPunct="1">
              <a:lnSpc>
                <a:spcPct val="100000"/>
              </a:lnSpc>
              <a:spcBef>
                <a:spcPct val="50000"/>
              </a:spcBef>
              <a:buClrTx/>
              <a:buSzTx/>
              <a:buFontTx/>
              <a:buNone/>
            </a:pPr>
            <a:r>
              <a:rPr lang="ja-JP" altLang="en-US" sz="2400" b="1">
                <a:solidFill>
                  <a:schemeClr val="bg1"/>
                </a:solidFill>
                <a:latin typeface="HGPｺﾞｼｯｸE" panose="020B0900000000000000" pitchFamily="50" charset="-128"/>
                <a:ea typeface="HGPｺﾞｼｯｸE" panose="020B0900000000000000" pitchFamily="50" charset="-128"/>
              </a:rPr>
              <a:t>３．筆記試験対策の教育</a:t>
            </a:r>
          </a:p>
        </p:txBody>
      </p:sp>
      <p:sp>
        <p:nvSpPr>
          <p:cNvPr id="12" name="正方形/長方形 11"/>
          <p:cNvSpPr/>
          <p:nvPr/>
        </p:nvSpPr>
        <p:spPr>
          <a:xfrm>
            <a:off x="592667" y="937568"/>
            <a:ext cx="1883849" cy="600164"/>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3300" b="1" dirty="0">
                <a:latin typeface="HGPｺﾞｼｯｸE" panose="020B0900000000000000" pitchFamily="50" charset="-128"/>
                <a:ea typeface="HGPｺﾞｼｯｸE" panose="020B0900000000000000" pitchFamily="50" charset="-128"/>
              </a:rPr>
              <a:t>入学方法</a:t>
            </a:r>
            <a:endParaRPr lang="ja-JP" altLang="en-US" sz="3000" b="1" dirty="0">
              <a:latin typeface="HGPｺﾞｼｯｸE" panose="020B0900000000000000" pitchFamily="50" charset="-128"/>
              <a:ea typeface="HGPｺﾞｼｯｸE" panose="020B0900000000000000" pitchFamily="50" charset="-128"/>
            </a:endParaRPr>
          </a:p>
        </p:txBody>
      </p:sp>
      <p:graphicFrame>
        <p:nvGraphicFramePr>
          <p:cNvPr id="13" name="表 12"/>
          <p:cNvGraphicFramePr>
            <a:graphicFrameLocks noGrp="1"/>
          </p:cNvGraphicFramePr>
          <p:nvPr/>
        </p:nvGraphicFramePr>
        <p:xfrm>
          <a:off x="592667" y="1595232"/>
          <a:ext cx="11099801" cy="3973364"/>
        </p:xfrm>
        <a:graphic>
          <a:graphicData uri="http://schemas.openxmlformats.org/drawingml/2006/table">
            <a:tbl>
              <a:tblPr firstRow="1" bandRow="1">
                <a:tableStyleId>{5C22544A-7EE6-4342-B048-85BDC9FD1C3A}</a:tableStyleId>
              </a:tblPr>
              <a:tblGrid>
                <a:gridCol w="2260600">
                  <a:extLst>
                    <a:ext uri="{9D8B030D-6E8A-4147-A177-3AD203B41FA5}">
                      <a16:colId xmlns:a16="http://schemas.microsoft.com/office/drawing/2014/main" val="20000"/>
                    </a:ext>
                  </a:extLst>
                </a:gridCol>
                <a:gridCol w="2954866">
                  <a:extLst>
                    <a:ext uri="{9D8B030D-6E8A-4147-A177-3AD203B41FA5}">
                      <a16:colId xmlns:a16="http://schemas.microsoft.com/office/drawing/2014/main" val="20001"/>
                    </a:ext>
                  </a:extLst>
                </a:gridCol>
                <a:gridCol w="2963334">
                  <a:extLst>
                    <a:ext uri="{9D8B030D-6E8A-4147-A177-3AD203B41FA5}">
                      <a16:colId xmlns:a16="http://schemas.microsoft.com/office/drawing/2014/main" val="1510116255"/>
                    </a:ext>
                  </a:extLst>
                </a:gridCol>
                <a:gridCol w="2921001">
                  <a:extLst>
                    <a:ext uri="{9D8B030D-6E8A-4147-A177-3AD203B41FA5}">
                      <a16:colId xmlns:a16="http://schemas.microsoft.com/office/drawing/2014/main" val="1611308712"/>
                    </a:ext>
                  </a:extLst>
                </a:gridCol>
              </a:tblGrid>
              <a:tr h="778110">
                <a:tc>
                  <a:txBody>
                    <a:bodyPr/>
                    <a:lstStyle/>
                    <a:p>
                      <a:pPr algn="dist"/>
                      <a:endParaRPr kumimoji="1" lang="ja-JP" altLang="en-US" sz="1800" b="1" dirty="0">
                        <a:solidFill>
                          <a:srgbClr val="663300"/>
                        </a:solidFill>
                        <a:latin typeface="HGPｺﾞｼｯｸE" panose="020B0900000000000000" pitchFamily="50" charset="-128"/>
                        <a:ea typeface="HGPｺﾞｼｯｸE" panose="020B0900000000000000" pitchFamily="50" charset="-128"/>
                      </a:endParaRPr>
                    </a:p>
                  </a:txBody>
                  <a:tcPr marL="68803" marR="68803" marT="34401" marB="34401" anchor="ctr"/>
                </a:tc>
                <a:tc>
                  <a:txBody>
                    <a:bodyPr/>
                    <a:lstStyle/>
                    <a:p>
                      <a:pPr algn="ctr"/>
                      <a:r>
                        <a:rPr kumimoji="1" lang="ja-JP" altLang="en-US" sz="2800" b="0" dirty="0">
                          <a:latin typeface="HGPｺﾞｼｯｸE" panose="020B0900000000000000" pitchFamily="50" charset="-128"/>
                          <a:ea typeface="HGPｺﾞｼｯｸE" panose="020B0900000000000000" pitchFamily="50" charset="-128"/>
                        </a:rPr>
                        <a:t>一般入学</a:t>
                      </a:r>
                    </a:p>
                  </a:txBody>
                  <a:tcPr marL="68803" marR="68803" marT="34401" marB="34401" anchor="ctr"/>
                </a:tc>
                <a:tc>
                  <a:txBody>
                    <a:bodyPr/>
                    <a:lstStyle/>
                    <a:p>
                      <a:pPr algn="ctr"/>
                      <a:r>
                        <a:rPr kumimoji="1" lang="ja-JP" altLang="en-US" sz="2800" b="0" dirty="0">
                          <a:latin typeface="HGPｺﾞｼｯｸE" panose="020B0900000000000000" pitchFamily="50" charset="-128"/>
                          <a:ea typeface="HGPｺﾞｼｯｸE" panose="020B0900000000000000" pitchFamily="50" charset="-128"/>
                        </a:rPr>
                        <a:t>各種推薦入学</a:t>
                      </a:r>
                    </a:p>
                  </a:txBody>
                  <a:tcPr marL="68803" marR="68803" marT="34401" marB="34401" anchor="ctr"/>
                </a:tc>
                <a:tc>
                  <a:txBody>
                    <a:bodyPr/>
                    <a:lstStyle/>
                    <a:p>
                      <a:pPr algn="ctr"/>
                      <a:r>
                        <a:rPr kumimoji="1" lang="ja-JP" altLang="en-US" sz="2800" b="0" dirty="0">
                          <a:latin typeface="HGPｺﾞｼｯｸE" panose="020B0900000000000000" pitchFamily="50" charset="-128"/>
                          <a:ea typeface="HGPｺﾞｼｯｸE" panose="020B0900000000000000" pitchFamily="50" charset="-128"/>
                        </a:rPr>
                        <a:t>大学・短大生</a:t>
                      </a:r>
                      <a:endParaRPr kumimoji="1" lang="en-US" altLang="ja-JP" sz="2800" b="0" dirty="0">
                        <a:latin typeface="HGPｺﾞｼｯｸE" panose="020B0900000000000000" pitchFamily="50" charset="-128"/>
                        <a:ea typeface="HGPｺﾞｼｯｸE" panose="020B0900000000000000" pitchFamily="50" charset="-128"/>
                      </a:endParaRPr>
                    </a:p>
                    <a:p>
                      <a:pPr algn="ctr"/>
                      <a:r>
                        <a:rPr kumimoji="1" lang="ja-JP" altLang="en-US" sz="2800" b="0" dirty="0">
                          <a:latin typeface="HGPｺﾞｼｯｸE" panose="020B0900000000000000" pitchFamily="50" charset="-128"/>
                          <a:ea typeface="HGPｺﾞｼｯｸE" panose="020B0900000000000000" pitchFamily="50" charset="-128"/>
                        </a:rPr>
                        <a:t>特別入学</a:t>
                      </a:r>
                    </a:p>
                  </a:txBody>
                  <a:tcPr marL="68803" marR="68803" marT="34401" marB="34401" anchor="ctr"/>
                </a:tc>
                <a:extLst>
                  <a:ext uri="{0D108BD9-81ED-4DB2-BD59-A6C34878D82A}">
                    <a16:rowId xmlns:a16="http://schemas.microsoft.com/office/drawing/2014/main" val="10000"/>
                  </a:ext>
                </a:extLst>
              </a:tr>
              <a:tr h="718742">
                <a:tc>
                  <a:txBody>
                    <a:bodyPr/>
                    <a:lstStyle/>
                    <a:p>
                      <a:pPr algn="dist"/>
                      <a:r>
                        <a:rPr kumimoji="1" lang="ja-JP" altLang="en-US" sz="3200" dirty="0">
                          <a:latin typeface="HGPｺﾞｼｯｸE" panose="020B0900000000000000" pitchFamily="50" charset="-128"/>
                          <a:ea typeface="HGPｺﾞｼｯｸE" panose="020B0900000000000000" pitchFamily="50" charset="-128"/>
                        </a:rPr>
                        <a:t>受付期間</a:t>
                      </a:r>
                      <a:endParaRPr kumimoji="1" lang="en-US" altLang="ja-JP"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gridSpan="3">
                  <a:txBody>
                    <a:bodyPr/>
                    <a:lstStyle/>
                    <a:p>
                      <a:pPr algn="ctr"/>
                      <a:r>
                        <a:rPr kumimoji="1" lang="ja-JP" altLang="en-US" sz="3200" dirty="0">
                          <a:latin typeface="HGPｺﾞｼｯｸE" panose="020B0900000000000000" pitchFamily="50" charset="-128"/>
                          <a:ea typeface="HGPｺﾞｼｯｸE" panose="020B0900000000000000" pitchFamily="50" charset="-128"/>
                        </a:rPr>
                        <a:t>２０２５年１０月１日～２０２６年３月３１日　</a:t>
                      </a:r>
                      <a:r>
                        <a:rPr kumimoji="1" lang="en-US" altLang="ja-JP" sz="3200" dirty="0">
                          <a:latin typeface="HGPｺﾞｼｯｸE" panose="020B0900000000000000" pitchFamily="50" charset="-128"/>
                          <a:ea typeface="HGPｺﾞｼｯｸE" panose="020B0900000000000000" pitchFamily="50" charset="-128"/>
                        </a:rPr>
                        <a:t>※</a:t>
                      </a:r>
                      <a:endParaRPr kumimoji="1" lang="ja-JP" altLang="en-US"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hMerge="1">
                  <a:txBody>
                    <a:bodyPr/>
                    <a:lstStyle/>
                    <a:p>
                      <a:endParaRPr kumimoji="1" lang="ja-JP" altLang="en-US"/>
                    </a:p>
                  </a:txBody>
                  <a:tcPr/>
                </a:tc>
                <a:tc hMerge="1">
                  <a:txBody>
                    <a:bodyPr/>
                    <a:lstStyle/>
                    <a:p>
                      <a:pPr algn="ctr"/>
                      <a:endParaRPr kumimoji="1" lang="ja-JP" altLang="en-US"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extLst>
                  <a:ext uri="{0D108BD9-81ED-4DB2-BD59-A6C34878D82A}">
                    <a16:rowId xmlns:a16="http://schemas.microsoft.com/office/drawing/2014/main" val="10001"/>
                  </a:ext>
                </a:extLst>
              </a:tr>
              <a:tr h="734632">
                <a:tc>
                  <a:txBody>
                    <a:bodyPr/>
                    <a:lstStyle/>
                    <a:p>
                      <a:pPr algn="dist"/>
                      <a:r>
                        <a:rPr kumimoji="1" lang="ja-JP" altLang="en-US" sz="3200" dirty="0">
                          <a:latin typeface="HGPｺﾞｼｯｸE" panose="020B0900000000000000" pitchFamily="50" charset="-128"/>
                          <a:ea typeface="HGPｺﾞｼｯｸE" panose="020B0900000000000000" pitchFamily="50" charset="-128"/>
                        </a:rPr>
                        <a:t>選考方法</a:t>
                      </a:r>
                      <a:endParaRPr kumimoji="1" lang="ja-JP" altLang="en-US"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gridSpan="3">
                  <a:txBody>
                    <a:bodyPr/>
                    <a:lstStyle/>
                    <a:p>
                      <a:pPr algn="ctr"/>
                      <a:r>
                        <a:rPr kumimoji="1" lang="ja-JP" altLang="en-US" sz="3200" dirty="0">
                          <a:latin typeface="HGPｺﾞｼｯｸE" panose="020B0900000000000000" pitchFamily="50" charset="-128"/>
                          <a:ea typeface="HGPｺﾞｼｯｸE" panose="020B0900000000000000" pitchFamily="50" charset="-128"/>
                        </a:rPr>
                        <a:t>書類選考</a:t>
                      </a:r>
                      <a:endParaRPr kumimoji="1" lang="en-US" altLang="ja-JP" sz="3200" dirty="0">
                        <a:latin typeface="HGPｺﾞｼｯｸE" panose="020B0900000000000000" pitchFamily="50" charset="-128"/>
                        <a:ea typeface="HGPｺﾞｼｯｸE" panose="020B0900000000000000" pitchFamily="50" charset="-128"/>
                      </a:endParaRPr>
                    </a:p>
                    <a:p>
                      <a:pPr algn="ctr"/>
                      <a:r>
                        <a:rPr kumimoji="1" lang="ja-JP" altLang="en-US" sz="1600" dirty="0">
                          <a:latin typeface="HGPｺﾞｼｯｸE" panose="020B0900000000000000" pitchFamily="50" charset="-128"/>
                          <a:ea typeface="HGPｺﾞｼｯｸE" panose="020B0900000000000000" pitchFamily="50" charset="-128"/>
                        </a:rPr>
                        <a:t>（必要に応じて面接</a:t>
                      </a:r>
                      <a:r>
                        <a:rPr kumimoji="1" lang="en-US" altLang="ja-JP" sz="1600" dirty="0">
                          <a:latin typeface="HGPｺﾞｼｯｸE" panose="020B0900000000000000" pitchFamily="50" charset="-128"/>
                          <a:ea typeface="HGPｺﾞｼｯｸE" panose="020B0900000000000000" pitchFamily="50" charset="-128"/>
                        </a:rPr>
                        <a:t>or</a:t>
                      </a:r>
                      <a:r>
                        <a:rPr kumimoji="1" lang="ja-JP" altLang="en-US" sz="1600" dirty="0">
                          <a:latin typeface="HGPｺﾞｼｯｸE" panose="020B0900000000000000" pitchFamily="50" charset="-128"/>
                          <a:ea typeface="HGPｺﾞｼｯｸE" panose="020B0900000000000000" pitchFamily="50" charset="-128"/>
                        </a:rPr>
                        <a:t>作文試験を行う場合があります。）</a:t>
                      </a:r>
                      <a:endParaRPr kumimoji="1" lang="ja-JP" altLang="en-US" sz="16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hMerge="1">
                  <a:txBody>
                    <a:bodyPr/>
                    <a:lstStyle/>
                    <a:p>
                      <a:endParaRPr kumimoji="1" lang="ja-JP" altLang="en-US"/>
                    </a:p>
                  </a:txBody>
                  <a:tcPr/>
                </a:tc>
                <a:tc hMerge="1">
                  <a:txBody>
                    <a:bodyPr/>
                    <a:lstStyle/>
                    <a:p>
                      <a:pPr algn="ctr"/>
                      <a:endParaRPr kumimoji="1" lang="ja-JP" altLang="en-US" sz="1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extLst>
                  <a:ext uri="{0D108BD9-81ED-4DB2-BD59-A6C34878D82A}">
                    <a16:rowId xmlns:a16="http://schemas.microsoft.com/office/drawing/2014/main" val="10002"/>
                  </a:ext>
                </a:extLst>
              </a:tr>
              <a:tr h="718742">
                <a:tc>
                  <a:txBody>
                    <a:bodyPr/>
                    <a:lstStyle/>
                    <a:p>
                      <a:pPr algn="dist"/>
                      <a:r>
                        <a:rPr kumimoji="1" lang="ja-JP" altLang="en-US" sz="3200" dirty="0">
                          <a:latin typeface="HGPｺﾞｼｯｸE" panose="020B0900000000000000" pitchFamily="50" charset="-128"/>
                          <a:ea typeface="HGPｺﾞｼｯｸE" panose="020B0900000000000000" pitchFamily="50" charset="-128"/>
                        </a:rPr>
                        <a:t>併願</a:t>
                      </a:r>
                      <a:endParaRPr kumimoji="1" lang="ja-JP" altLang="en-US"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a:txBody>
                    <a:bodyPr/>
                    <a:lstStyle/>
                    <a:p>
                      <a:pPr algn="ctr"/>
                      <a:r>
                        <a:rPr kumimoji="1" lang="ja-JP" altLang="en-US" sz="3200" dirty="0">
                          <a:latin typeface="HGPｺﾞｼｯｸE" panose="020B0900000000000000" pitchFamily="50" charset="-128"/>
                          <a:ea typeface="HGPｺﾞｼｯｸE" panose="020B0900000000000000" pitchFamily="50" charset="-128"/>
                        </a:rPr>
                        <a:t>○</a:t>
                      </a:r>
                      <a:endParaRPr kumimoji="1" lang="ja-JP" altLang="en-US"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a:txBody>
                    <a:bodyPr/>
                    <a:lstStyle/>
                    <a:p>
                      <a:pPr algn="ctr"/>
                      <a:r>
                        <a:rPr kumimoji="1" lang="ja-JP" altLang="en-US" sz="3200" b="1" dirty="0">
                          <a:solidFill>
                            <a:schemeClr val="tx1"/>
                          </a:solidFill>
                          <a:latin typeface="HGPｺﾞｼｯｸE" panose="020B0900000000000000" pitchFamily="50" charset="-128"/>
                          <a:ea typeface="HGPｺﾞｼｯｸE" panose="020B0900000000000000" pitchFamily="50" charset="-128"/>
                        </a:rPr>
                        <a:t>　　△</a:t>
                      </a:r>
                      <a:r>
                        <a:rPr kumimoji="1" lang="en-US" altLang="ja-JP" sz="1600" b="1" dirty="0">
                          <a:solidFill>
                            <a:schemeClr val="tx1"/>
                          </a:solidFill>
                          <a:latin typeface="HGPｺﾞｼｯｸE" panose="020B0900000000000000" pitchFamily="50" charset="-128"/>
                          <a:ea typeface="HGPｺﾞｼｯｸE" panose="020B0900000000000000" pitchFamily="50" charset="-128"/>
                        </a:rPr>
                        <a:t>※</a:t>
                      </a:r>
                      <a:r>
                        <a:rPr kumimoji="1" lang="ja-JP" altLang="en-US" sz="1600" b="1" dirty="0">
                          <a:solidFill>
                            <a:schemeClr val="tx1"/>
                          </a:solidFill>
                          <a:latin typeface="HGPｺﾞｼｯｸE" panose="020B0900000000000000" pitchFamily="50" charset="-128"/>
                          <a:ea typeface="HGPｺﾞｼｯｸE" panose="020B0900000000000000" pitchFamily="50" charset="-128"/>
                        </a:rPr>
                        <a:t>一部可</a:t>
                      </a:r>
                      <a:endParaRPr kumimoji="1" lang="ja-JP" altLang="en-US"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a:txBody>
                    <a:bodyPr/>
                    <a:lstStyle/>
                    <a:p>
                      <a:pPr algn="ctr"/>
                      <a:r>
                        <a:rPr kumimoji="1" lang="ja-JP" altLang="en-US" sz="3200" dirty="0">
                          <a:latin typeface="HGPｺﾞｼｯｸE" panose="020B0900000000000000" pitchFamily="50" charset="-128"/>
                          <a:ea typeface="HGPｺﾞｼｯｸE" panose="020B0900000000000000" pitchFamily="50" charset="-128"/>
                        </a:rPr>
                        <a:t>○</a:t>
                      </a:r>
                      <a:endParaRPr kumimoji="1" lang="ja-JP" altLang="en-US"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extLst>
                  <a:ext uri="{0D108BD9-81ED-4DB2-BD59-A6C34878D82A}">
                    <a16:rowId xmlns:a16="http://schemas.microsoft.com/office/drawing/2014/main" val="10003"/>
                  </a:ext>
                </a:extLst>
              </a:tr>
              <a:tr h="813316">
                <a:tc>
                  <a:txBody>
                    <a:bodyPr/>
                    <a:lstStyle/>
                    <a:p>
                      <a:pPr algn="dist"/>
                      <a:r>
                        <a:rPr kumimoji="1" lang="ja-JP" altLang="en-US" sz="3200" dirty="0">
                          <a:latin typeface="HGPｺﾞｼｯｸE" panose="020B0900000000000000" pitchFamily="50" charset="-128"/>
                          <a:ea typeface="HGPｺﾞｼｯｸE" panose="020B0900000000000000" pitchFamily="50" charset="-128"/>
                        </a:rPr>
                        <a:t>選考料</a:t>
                      </a:r>
                      <a:endParaRPr kumimoji="1" lang="ja-JP" altLang="en-US"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a:txBody>
                    <a:bodyPr/>
                    <a:lstStyle/>
                    <a:p>
                      <a:pPr algn="ctr"/>
                      <a:r>
                        <a:rPr kumimoji="1" lang="en-US" altLang="ja-JP" sz="3200" dirty="0">
                          <a:latin typeface="HGPｺﾞｼｯｸE" panose="020B0900000000000000" pitchFamily="50" charset="-128"/>
                          <a:ea typeface="HGPｺﾞｼｯｸE" panose="020B0900000000000000" pitchFamily="50" charset="-128"/>
                        </a:rPr>
                        <a:t>20,000</a:t>
                      </a:r>
                      <a:r>
                        <a:rPr kumimoji="1" lang="ja-JP" altLang="en-US" sz="3200" dirty="0">
                          <a:latin typeface="HGPｺﾞｼｯｸE" panose="020B0900000000000000" pitchFamily="50" charset="-128"/>
                          <a:ea typeface="HGPｺﾞｼｯｸE" panose="020B0900000000000000" pitchFamily="50" charset="-128"/>
                        </a:rPr>
                        <a:t>円</a:t>
                      </a:r>
                      <a:endParaRPr kumimoji="1" lang="ja-JP" altLang="en-US" sz="32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a:txBody>
                    <a:bodyPr/>
                    <a:lstStyle/>
                    <a:p>
                      <a:pPr algn="ctr"/>
                      <a:r>
                        <a:rPr kumimoji="1" lang="ja-JP" altLang="en-US" sz="2400" dirty="0">
                          <a:latin typeface="HGPｺﾞｼｯｸE" panose="020B0900000000000000" pitchFamily="50" charset="-128"/>
                          <a:ea typeface="HGPｺﾞｼｯｸE" panose="020B0900000000000000" pitchFamily="50" charset="-128"/>
                        </a:rPr>
                        <a:t>免除</a:t>
                      </a:r>
                      <a:r>
                        <a:rPr kumimoji="1" lang="ja-JP" altLang="en-US" sz="1400" dirty="0">
                          <a:latin typeface="HGPｺﾞｼｯｸE" panose="020B0900000000000000" pitchFamily="50" charset="-128"/>
                          <a:ea typeface="HGPｺﾞｼｯｸE" panose="020B0900000000000000" pitchFamily="50" charset="-128"/>
                        </a:rPr>
                        <a:t>または</a:t>
                      </a:r>
                      <a:r>
                        <a:rPr kumimoji="1" lang="en-US" altLang="ja-JP" sz="2400" dirty="0">
                          <a:latin typeface="HGPｺﾞｼｯｸE" panose="020B0900000000000000" pitchFamily="50" charset="-128"/>
                          <a:ea typeface="HGPｺﾞｼｯｸE" panose="020B0900000000000000" pitchFamily="50" charset="-128"/>
                        </a:rPr>
                        <a:t>15,000</a:t>
                      </a:r>
                      <a:r>
                        <a:rPr kumimoji="1" lang="ja-JP" altLang="en-US" sz="2400" dirty="0">
                          <a:latin typeface="HGPｺﾞｼｯｸE" panose="020B0900000000000000" pitchFamily="50" charset="-128"/>
                          <a:ea typeface="HGPｺﾞｼｯｸE" panose="020B0900000000000000" pitchFamily="50" charset="-128"/>
                        </a:rPr>
                        <a:t>円</a:t>
                      </a:r>
                      <a:endParaRPr kumimoji="1" lang="ja-JP" altLang="en-US" sz="18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tc>
                  <a:txBody>
                    <a:bodyPr/>
                    <a:lstStyle/>
                    <a:p>
                      <a:pPr algn="ctr"/>
                      <a:r>
                        <a:rPr kumimoji="1" lang="ja-JP" altLang="en-US" sz="3600" dirty="0">
                          <a:latin typeface="HGPｺﾞｼｯｸE" panose="020B0900000000000000" pitchFamily="50" charset="-128"/>
                          <a:ea typeface="HGPｺﾞｼｯｸE" panose="020B0900000000000000" pitchFamily="50" charset="-128"/>
                        </a:rPr>
                        <a:t>免除</a:t>
                      </a:r>
                      <a:endParaRPr kumimoji="1" lang="ja-JP" altLang="en-US" sz="2100" b="1" dirty="0">
                        <a:solidFill>
                          <a:schemeClr val="tx1"/>
                        </a:solidFill>
                        <a:latin typeface="HGPｺﾞｼｯｸE" panose="020B0900000000000000" pitchFamily="50" charset="-128"/>
                        <a:ea typeface="HGPｺﾞｼｯｸE" panose="020B0900000000000000" pitchFamily="50" charset="-128"/>
                      </a:endParaRPr>
                    </a:p>
                  </a:txBody>
                  <a:tcPr marL="68803" marR="68803" marT="34401" marB="34401" anchor="ctr"/>
                </a:tc>
                <a:extLst>
                  <a:ext uri="{0D108BD9-81ED-4DB2-BD59-A6C34878D82A}">
                    <a16:rowId xmlns:a16="http://schemas.microsoft.com/office/drawing/2014/main" val="10004"/>
                  </a:ext>
                </a:extLst>
              </a:tr>
            </a:tbl>
          </a:graphicData>
        </a:graphic>
      </p:graphicFrame>
      <p:sp>
        <p:nvSpPr>
          <p:cNvPr id="14" name="テキスト ボックス 13"/>
          <p:cNvSpPr txBox="1"/>
          <p:nvPr/>
        </p:nvSpPr>
        <p:spPr>
          <a:xfrm>
            <a:off x="458284" y="5721294"/>
            <a:ext cx="11275431" cy="954107"/>
          </a:xfrm>
          <a:prstGeom prst="rect">
            <a:avLst/>
          </a:prstGeom>
          <a:noFill/>
        </p:spPr>
        <p:txBody>
          <a:bodyPr wrap="square" rtlCol="0">
            <a:spAutoFit/>
          </a:bodyPr>
          <a:lstStyle/>
          <a:p>
            <a:r>
              <a:rPr lang="en-US" altLang="ja-JP" sz="2800" dirty="0">
                <a:latin typeface="HGPｺﾞｼｯｸE" panose="020B0900000000000000" pitchFamily="50" charset="-128"/>
                <a:ea typeface="HGPｺﾞｼｯｸE" panose="020B0900000000000000" pitchFamily="50" charset="-128"/>
              </a:rPr>
              <a:t>※ </a:t>
            </a:r>
            <a:r>
              <a:rPr lang="ja-JP" altLang="en-US" sz="2800" dirty="0">
                <a:latin typeface="HGPｺﾞｼｯｸE" panose="020B0900000000000000" pitchFamily="50" charset="-128"/>
                <a:ea typeface="HGPｺﾞｼｯｸE" panose="020B0900000000000000" pitchFamily="50" charset="-128"/>
              </a:rPr>
              <a:t>入学志願書受付期間内でも</a:t>
            </a:r>
            <a:r>
              <a:rPr lang="ja-JP" altLang="en-US" sz="2800" u="sng" dirty="0">
                <a:latin typeface="HGPｺﾞｼｯｸE" panose="020B0900000000000000" pitchFamily="50" charset="-128"/>
                <a:ea typeface="HGPｺﾞｼｯｸE" panose="020B0900000000000000" pitchFamily="50" charset="-128"/>
              </a:rPr>
              <a:t>定員になり次第</a:t>
            </a:r>
            <a:r>
              <a:rPr lang="ja-JP" altLang="en-US" sz="2800" dirty="0">
                <a:latin typeface="HGPｺﾞｼｯｸE" panose="020B0900000000000000" pitchFamily="50" charset="-128"/>
                <a:ea typeface="HGPｺﾞｼｯｸE" panose="020B0900000000000000" pitchFamily="50" charset="-128"/>
              </a:rPr>
              <a:t>締め切らせていただきます。</a:t>
            </a:r>
            <a:endParaRPr lang="en-US" altLang="ja-JP" sz="2800" dirty="0">
              <a:latin typeface="HGPｺﾞｼｯｸE" panose="020B0900000000000000" pitchFamily="50" charset="-128"/>
              <a:ea typeface="HGPｺﾞｼｯｸE" panose="020B0900000000000000" pitchFamily="50" charset="-128"/>
            </a:endParaRPr>
          </a:p>
          <a:p>
            <a:r>
              <a:rPr lang="en-US" altLang="ja-JP" sz="2800" dirty="0">
                <a:latin typeface="HGPｺﾞｼｯｸE" panose="020B0900000000000000" pitchFamily="50" charset="-128"/>
                <a:ea typeface="HGPｺﾞｼｯｸE" panose="020B0900000000000000" pitchFamily="50" charset="-128"/>
              </a:rPr>
              <a:t>※ </a:t>
            </a:r>
            <a:r>
              <a:rPr lang="ja-JP" altLang="en-US" sz="2800" dirty="0">
                <a:latin typeface="HGPｺﾞｼｯｸE" panose="020B0900000000000000" pitchFamily="50" charset="-128"/>
                <a:ea typeface="HGPｺﾞｼｯｸE" panose="020B0900000000000000" pitchFamily="50" charset="-128"/>
              </a:rPr>
              <a:t>出願後に面接を行う場合があります。面接時の服装は自由です。</a:t>
            </a:r>
          </a:p>
        </p:txBody>
      </p:sp>
      <p:sp>
        <p:nvSpPr>
          <p:cNvPr id="15" name="テキスト ボックス 14">
            <a:extLst>
              <a:ext uri="{FF2B5EF4-FFF2-40B4-BE49-F238E27FC236}">
                <a16:creationId xmlns:a16="http://schemas.microsoft.com/office/drawing/2014/main" id="{0EB8C34D-FBBA-4275-8CA7-4E78891A8D02}"/>
              </a:ext>
            </a:extLst>
          </p:cNvPr>
          <p:cNvSpPr txBox="1"/>
          <p:nvPr/>
        </p:nvSpPr>
        <p:spPr>
          <a:xfrm>
            <a:off x="664020" y="136423"/>
            <a:ext cx="531669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入試制度・学費・特別奨学生制度</a:t>
            </a:r>
          </a:p>
        </p:txBody>
      </p:sp>
    </p:spTree>
    <p:extLst>
      <p:ext uri="{BB962C8B-B14F-4D97-AF65-F5344CB8AC3E}">
        <p14:creationId xmlns:p14="http://schemas.microsoft.com/office/powerpoint/2010/main" val="2184662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0" y="1124"/>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graphicFrame>
        <p:nvGraphicFramePr>
          <p:cNvPr id="36" name="表 35"/>
          <p:cNvGraphicFramePr>
            <a:graphicFrameLocks noGrp="1"/>
          </p:cNvGraphicFramePr>
          <p:nvPr/>
        </p:nvGraphicFramePr>
        <p:xfrm>
          <a:off x="431075" y="1619795"/>
          <a:ext cx="11295122" cy="5003075"/>
        </p:xfrm>
        <a:graphic>
          <a:graphicData uri="http://schemas.openxmlformats.org/drawingml/2006/table">
            <a:tbl>
              <a:tblPr firstRow="1" bandRow="1">
                <a:tableStyleId>{21E4AEA4-8DFA-4A89-87EB-49C32662AFE0}</a:tableStyleId>
              </a:tblPr>
              <a:tblGrid>
                <a:gridCol w="2289336">
                  <a:extLst>
                    <a:ext uri="{9D8B030D-6E8A-4147-A177-3AD203B41FA5}">
                      <a16:colId xmlns:a16="http://schemas.microsoft.com/office/drawing/2014/main" val="2053418938"/>
                    </a:ext>
                  </a:extLst>
                </a:gridCol>
                <a:gridCol w="4502893">
                  <a:extLst>
                    <a:ext uri="{9D8B030D-6E8A-4147-A177-3AD203B41FA5}">
                      <a16:colId xmlns:a16="http://schemas.microsoft.com/office/drawing/2014/main" val="730076466"/>
                    </a:ext>
                  </a:extLst>
                </a:gridCol>
                <a:gridCol w="4502893">
                  <a:extLst>
                    <a:ext uri="{9D8B030D-6E8A-4147-A177-3AD203B41FA5}">
                      <a16:colId xmlns:a16="http://schemas.microsoft.com/office/drawing/2014/main" val="2966511053"/>
                    </a:ext>
                  </a:extLst>
                </a:gridCol>
              </a:tblGrid>
              <a:tr h="951362">
                <a:tc>
                  <a:txBody>
                    <a:bodyPr/>
                    <a:lstStyle/>
                    <a:p>
                      <a:pPr algn="ctr"/>
                      <a:endParaRPr kumimoji="1" lang="ja-JP" altLang="en-US" sz="4400" dirty="0">
                        <a:latin typeface="HGPｺﾞｼｯｸE" panose="020B0900000000000000" pitchFamily="50" charset="-128"/>
                        <a:ea typeface="HGPｺﾞｼｯｸE" panose="020B0900000000000000" pitchFamily="50" charset="-128"/>
                      </a:endParaRPr>
                    </a:p>
                  </a:txBody>
                  <a:tcPr anchor="ctr">
                    <a:solidFill>
                      <a:schemeClr val="bg1"/>
                    </a:solidFill>
                  </a:tcPr>
                </a:tc>
                <a:tc>
                  <a:txBody>
                    <a:bodyPr/>
                    <a:lstStyle/>
                    <a:p>
                      <a:pPr algn="ctr"/>
                      <a:r>
                        <a:rPr kumimoji="1" lang="ja-JP" altLang="en-US" sz="4400" b="0" dirty="0">
                          <a:latin typeface="HGPｺﾞｼｯｸE" panose="020B0900000000000000" pitchFamily="50" charset="-128"/>
                          <a:ea typeface="HGPｺﾞｼｯｸE" panose="020B0900000000000000" pitchFamily="50" charset="-128"/>
                        </a:rPr>
                        <a:t>自己推薦入学</a:t>
                      </a:r>
                    </a:p>
                  </a:txBody>
                  <a:tcPr anchor="ctr">
                    <a:solidFill>
                      <a:srgbClr val="FF7C8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4400" b="0" i="0" u="none" strike="noStrike" kern="1200" cap="none" spc="0" normalizeH="0" baseline="0" noProof="0" dirty="0">
                          <a:ln>
                            <a:noFill/>
                          </a:ln>
                          <a:solidFill>
                            <a:prstClr val="white"/>
                          </a:solidFill>
                          <a:effectLst/>
                          <a:uLnTx/>
                          <a:uFillTx/>
                          <a:latin typeface="HGPｺﾞｼｯｸE" panose="020B0900000000000000" pitchFamily="50" charset="-128"/>
                          <a:ea typeface="HGPｺﾞｼｯｸE" panose="020B0900000000000000" pitchFamily="50" charset="-128"/>
                          <a:cs typeface="+mn-cs"/>
                        </a:rPr>
                        <a:t>一般入学</a:t>
                      </a:r>
                    </a:p>
                  </a:txBody>
                  <a:tcPr anchor="ctr">
                    <a:solidFill>
                      <a:schemeClr val="accent1">
                        <a:lumMod val="60000"/>
                        <a:lumOff val="40000"/>
                      </a:schemeClr>
                    </a:solidFill>
                  </a:tcPr>
                </a:tc>
                <a:extLst>
                  <a:ext uri="{0D108BD9-81ED-4DB2-BD59-A6C34878D82A}">
                    <a16:rowId xmlns:a16="http://schemas.microsoft.com/office/drawing/2014/main" val="269339787"/>
                  </a:ext>
                </a:extLst>
              </a:tr>
              <a:tr h="862205">
                <a:tc>
                  <a:txBody>
                    <a:bodyPr/>
                    <a:lstStyle/>
                    <a:p>
                      <a:pPr algn="ctr"/>
                      <a:r>
                        <a:rPr kumimoji="1" lang="ja-JP" altLang="en-US" sz="2800" dirty="0">
                          <a:latin typeface="HGPｺﾞｼｯｸE" panose="020B0900000000000000" pitchFamily="50" charset="-128"/>
                          <a:ea typeface="HGPｺﾞｼｯｸE" panose="020B0900000000000000" pitchFamily="50" charset="-128"/>
                        </a:rPr>
                        <a:t>出願期間</a:t>
                      </a:r>
                      <a:endParaRPr kumimoji="1" lang="en-US" altLang="ja-JP" sz="2800" dirty="0">
                        <a:latin typeface="HGPｺﾞｼｯｸE" panose="020B0900000000000000" pitchFamily="50" charset="-128"/>
                        <a:ea typeface="HGPｺﾞｼｯｸE" panose="020B0900000000000000" pitchFamily="50" charset="-128"/>
                      </a:endParaRPr>
                    </a:p>
                  </a:txBody>
                  <a:tcPr anchor="ctr">
                    <a:solidFill>
                      <a:schemeClr val="tx2">
                        <a:lumMod val="20000"/>
                        <a:lumOff val="80000"/>
                      </a:schemeClr>
                    </a:solidFill>
                  </a:tcPr>
                </a:tc>
                <a:tc>
                  <a:txBody>
                    <a:bodyPr/>
                    <a:lstStyle/>
                    <a:p>
                      <a:pPr algn="ctr"/>
                      <a:r>
                        <a:rPr kumimoji="1" lang="en-US" altLang="ja-JP" sz="3200" dirty="0">
                          <a:latin typeface="HGPｺﾞｼｯｸE" panose="020B0900000000000000" pitchFamily="50" charset="-128"/>
                          <a:ea typeface="HGPｺﾞｼｯｸE" panose="020B0900000000000000" pitchFamily="50" charset="-128"/>
                        </a:rPr>
                        <a:t>2025</a:t>
                      </a:r>
                      <a:r>
                        <a:rPr kumimoji="1" lang="ja-JP" altLang="en-US" sz="3200" dirty="0">
                          <a:latin typeface="HGPｺﾞｼｯｸE" panose="020B0900000000000000" pitchFamily="50" charset="-128"/>
                          <a:ea typeface="HGPｺﾞｼｯｸE" panose="020B0900000000000000" pitchFamily="50" charset="-128"/>
                        </a:rPr>
                        <a:t>年</a:t>
                      </a:r>
                      <a:r>
                        <a:rPr kumimoji="1" lang="en-US" altLang="ja-JP" sz="3200" dirty="0">
                          <a:latin typeface="HGPｺﾞｼｯｸE" panose="020B0900000000000000" pitchFamily="50" charset="-128"/>
                          <a:ea typeface="HGPｺﾞｼｯｸE" panose="020B0900000000000000" pitchFamily="50" charset="-128"/>
                        </a:rPr>
                        <a:t>10</a:t>
                      </a:r>
                      <a:r>
                        <a:rPr kumimoji="1" lang="ja-JP" altLang="en-US" sz="3200" dirty="0">
                          <a:latin typeface="HGPｺﾞｼｯｸE" panose="020B0900000000000000" pitchFamily="50" charset="-128"/>
                          <a:ea typeface="HGPｺﾞｼｯｸE" panose="020B0900000000000000" pitchFamily="50" charset="-128"/>
                        </a:rPr>
                        <a:t>月</a:t>
                      </a:r>
                      <a:r>
                        <a:rPr kumimoji="1" lang="en-US" altLang="ja-JP" sz="3200" dirty="0">
                          <a:latin typeface="HGPｺﾞｼｯｸE" panose="020B0900000000000000" pitchFamily="50" charset="-128"/>
                          <a:ea typeface="HGPｺﾞｼｯｸE" panose="020B0900000000000000" pitchFamily="50" charset="-128"/>
                        </a:rPr>
                        <a:t>1</a:t>
                      </a:r>
                      <a:r>
                        <a:rPr kumimoji="1" lang="ja-JP" altLang="en-US" sz="3200" dirty="0">
                          <a:latin typeface="HGPｺﾞｼｯｸE" panose="020B0900000000000000" pitchFamily="50" charset="-128"/>
                          <a:ea typeface="HGPｺﾞｼｯｸE" panose="020B0900000000000000" pitchFamily="50" charset="-128"/>
                        </a:rPr>
                        <a:t>日～</a:t>
                      </a:r>
                    </a:p>
                  </a:txBody>
                  <a:tcPr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2025</a:t>
                      </a:r>
                      <a:r>
                        <a:rPr kumimoji="1" lang="ja-JP" altLang="en-US" sz="32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年</a:t>
                      </a:r>
                      <a:r>
                        <a:rPr kumimoji="1" lang="en-US" altLang="ja-JP" sz="32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10</a:t>
                      </a:r>
                      <a:r>
                        <a:rPr kumimoji="1" lang="ja-JP" altLang="en-US" sz="32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月</a:t>
                      </a:r>
                      <a:r>
                        <a:rPr kumimoji="1" lang="en-US" altLang="ja-JP" sz="32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1</a:t>
                      </a:r>
                      <a:r>
                        <a:rPr kumimoji="1" lang="ja-JP" altLang="en-US" sz="32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日～</a:t>
                      </a:r>
                    </a:p>
                  </a:txBody>
                  <a:tcPr anchor="ctr">
                    <a:solidFill>
                      <a:schemeClr val="accent5">
                        <a:lumMod val="20000"/>
                        <a:lumOff val="80000"/>
                      </a:schemeClr>
                    </a:solidFill>
                  </a:tcPr>
                </a:tc>
                <a:extLst>
                  <a:ext uri="{0D108BD9-81ED-4DB2-BD59-A6C34878D82A}">
                    <a16:rowId xmlns:a16="http://schemas.microsoft.com/office/drawing/2014/main" val="3545908347"/>
                  </a:ext>
                </a:extLst>
              </a:tr>
              <a:tr h="14070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schemeClr val="dk1"/>
                          </a:solidFill>
                          <a:effectLst/>
                          <a:uLnTx/>
                          <a:uFillTx/>
                          <a:latin typeface="HGPｺﾞｼｯｸE" panose="020B0900000000000000" pitchFamily="50" charset="-128"/>
                          <a:ea typeface="HGPｺﾞｼｯｸE" panose="020B0900000000000000" pitchFamily="50" charset="-128"/>
                          <a:cs typeface="+mn-cs"/>
                        </a:rPr>
                        <a:t>選考方法</a:t>
                      </a:r>
                      <a:endParaRPr kumimoji="1" lang="en-US" altLang="ja-JP" sz="2800" b="0" i="0" u="none" strike="noStrike" kern="1200" cap="none" spc="0" normalizeH="0" baseline="0" noProof="0" dirty="0">
                        <a:ln>
                          <a:noFill/>
                        </a:ln>
                        <a:solidFill>
                          <a:schemeClr val="dk1"/>
                        </a:solidFill>
                        <a:effectLst/>
                        <a:uLnTx/>
                        <a:uFillTx/>
                        <a:latin typeface="HGPｺﾞｼｯｸE" panose="020B0900000000000000" pitchFamily="50" charset="-128"/>
                        <a:ea typeface="HGPｺﾞｼｯｸE" panose="020B0900000000000000" pitchFamily="50" charset="-128"/>
                        <a:cs typeface="+mn-cs"/>
                      </a:endParaRPr>
                    </a:p>
                  </a:txBody>
                  <a:tcPr anchor="ctr">
                    <a:solidFill>
                      <a:schemeClr val="tx2">
                        <a:lumMod val="20000"/>
                        <a:lumOff val="80000"/>
                      </a:schemeClr>
                    </a:solidFill>
                  </a:tcPr>
                </a:tc>
                <a:tc>
                  <a:txBody>
                    <a:bodyPr/>
                    <a:lstStyle/>
                    <a:p>
                      <a:pPr algn="ctr"/>
                      <a:r>
                        <a:rPr kumimoji="1" lang="ja-JP" altLang="en-US" sz="3200" dirty="0">
                          <a:latin typeface="HGPｺﾞｼｯｸE" panose="020B0900000000000000" pitchFamily="50" charset="-128"/>
                          <a:ea typeface="HGPｺﾞｼｯｸE" panose="020B0900000000000000" pitchFamily="50" charset="-128"/>
                        </a:rPr>
                        <a:t>書類選考</a:t>
                      </a:r>
                      <a:endParaRPr kumimoji="1" lang="en-US" altLang="ja-JP" sz="3200" dirty="0">
                        <a:latin typeface="HGPｺﾞｼｯｸE" panose="020B0900000000000000" pitchFamily="50" charset="-128"/>
                        <a:ea typeface="HGPｺﾞｼｯｸE" panose="020B0900000000000000" pitchFamily="50" charset="-128"/>
                      </a:endParaRPr>
                    </a:p>
                    <a:p>
                      <a:pPr algn="ctr"/>
                      <a:r>
                        <a:rPr kumimoji="1" lang="en-US" altLang="ja-JP" sz="2400" dirty="0">
                          <a:latin typeface="HGPｺﾞｼｯｸE" panose="020B0900000000000000" pitchFamily="50" charset="-128"/>
                          <a:ea typeface="HGPｺﾞｼｯｸE" panose="020B0900000000000000" pitchFamily="50" charset="-128"/>
                        </a:rPr>
                        <a:t>※</a:t>
                      </a:r>
                      <a:r>
                        <a:rPr kumimoji="1" lang="ja-JP" altLang="en-US" sz="2400" b="1" dirty="0">
                          <a:solidFill>
                            <a:srgbClr val="FF0000"/>
                          </a:solidFill>
                          <a:latin typeface="HGPｺﾞｼｯｸE" panose="020B0900000000000000" pitchFamily="50" charset="-128"/>
                          <a:ea typeface="HGPｺﾞｼｯｸE" panose="020B0900000000000000" pitchFamily="50" charset="-128"/>
                        </a:rPr>
                        <a:t>自己推薦書</a:t>
                      </a:r>
                      <a:r>
                        <a:rPr kumimoji="1" lang="ja-JP" altLang="en-US" sz="2400" dirty="0">
                          <a:latin typeface="HGPｺﾞｼｯｸE" panose="020B0900000000000000" pitchFamily="50" charset="-128"/>
                          <a:ea typeface="HGPｺﾞｼｯｸE" panose="020B0900000000000000" pitchFamily="50" charset="-128"/>
                        </a:rPr>
                        <a:t>の提出</a:t>
                      </a:r>
                    </a:p>
                  </a:txBody>
                  <a:tcPr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dirty="0">
                          <a:latin typeface="HGPｺﾞｼｯｸE" panose="020B0900000000000000" pitchFamily="50" charset="-128"/>
                          <a:ea typeface="HGPｺﾞｼｯｸE" panose="020B0900000000000000" pitchFamily="50" charset="-128"/>
                        </a:rPr>
                        <a:t>書類選考</a:t>
                      </a:r>
                      <a:endParaRPr kumimoji="1" lang="en-US" altLang="ja-JP" sz="3200" dirty="0">
                        <a:latin typeface="HGPｺﾞｼｯｸE" panose="020B0900000000000000" pitchFamily="50" charset="-128"/>
                        <a:ea typeface="HGPｺﾞｼｯｸE" panose="020B0900000000000000"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a:t>
                      </a:r>
                      <a:r>
                        <a:rPr kumimoji="1" lang="ja-JP" altLang="en-US" sz="24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「面接」を実施する場合あり</a:t>
                      </a:r>
                    </a:p>
                  </a:txBody>
                  <a:tcPr anchor="ctr">
                    <a:solidFill>
                      <a:schemeClr val="accent5">
                        <a:lumMod val="20000"/>
                        <a:lumOff val="80000"/>
                      </a:schemeClr>
                    </a:solidFill>
                  </a:tcPr>
                </a:tc>
                <a:extLst>
                  <a:ext uri="{0D108BD9-81ED-4DB2-BD59-A6C34878D82A}">
                    <a16:rowId xmlns:a16="http://schemas.microsoft.com/office/drawing/2014/main" val="2275976349"/>
                  </a:ext>
                </a:extLst>
              </a:tr>
              <a:tr h="80368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選考料</a:t>
                      </a:r>
                      <a:endParaRPr kumimoji="1" lang="en-US" altLang="ja-JP" sz="18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endParaRPr>
                    </a:p>
                  </a:txBody>
                  <a:tcPr anchor="ctr">
                    <a:solidFill>
                      <a:schemeClr val="tx2">
                        <a:lumMod val="20000"/>
                        <a:lumOff val="80000"/>
                      </a:schemeClr>
                    </a:solidFill>
                  </a:tcPr>
                </a:tc>
                <a:tc>
                  <a:txBody>
                    <a:bodyPr/>
                    <a:lstStyle/>
                    <a:p>
                      <a:pPr algn="ctr"/>
                      <a:r>
                        <a:rPr kumimoji="1" lang="ja-JP" altLang="en-US" sz="3200" b="1" dirty="0">
                          <a:solidFill>
                            <a:srgbClr val="FF0000"/>
                          </a:solidFill>
                          <a:latin typeface="HGPｺﾞｼｯｸE" panose="020B0900000000000000" pitchFamily="50" charset="-128"/>
                          <a:ea typeface="HGPｺﾞｼｯｸE" panose="020B0900000000000000" pitchFamily="50" charset="-128"/>
                        </a:rPr>
                        <a:t>免除</a:t>
                      </a:r>
                    </a:p>
                  </a:txBody>
                  <a:tcPr anchor="ctr">
                    <a:solidFill>
                      <a:schemeClr val="accent2">
                        <a:lumMod val="20000"/>
                        <a:lumOff val="80000"/>
                      </a:schemeClr>
                    </a:solidFill>
                  </a:tcPr>
                </a:tc>
                <a:tc>
                  <a:txBody>
                    <a:bodyPr/>
                    <a:lstStyle/>
                    <a:p>
                      <a:pPr algn="ctr"/>
                      <a:r>
                        <a:rPr kumimoji="1" lang="ja-JP" altLang="en-US" sz="3200" dirty="0">
                          <a:latin typeface="HGPｺﾞｼｯｸE" panose="020B0900000000000000" pitchFamily="50" charset="-128"/>
                          <a:ea typeface="HGPｺﾞｼｯｸE" panose="020B0900000000000000" pitchFamily="50" charset="-128"/>
                        </a:rPr>
                        <a:t>２万円</a:t>
                      </a:r>
                    </a:p>
                  </a:txBody>
                  <a:tcPr anchor="ctr">
                    <a:solidFill>
                      <a:schemeClr val="accent5">
                        <a:lumMod val="20000"/>
                        <a:lumOff val="80000"/>
                      </a:schemeClr>
                    </a:solidFill>
                  </a:tcPr>
                </a:tc>
                <a:extLst>
                  <a:ext uri="{0D108BD9-81ED-4DB2-BD59-A6C34878D82A}">
                    <a16:rowId xmlns:a16="http://schemas.microsoft.com/office/drawing/2014/main" val="3669446222"/>
                  </a:ext>
                </a:extLst>
              </a:tr>
              <a:tr h="9788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rPr>
                        <a:t>併願</a:t>
                      </a:r>
                      <a:endParaRPr kumimoji="1" lang="en-US" altLang="ja-JP" sz="1800" b="0" i="0" u="none" strike="noStrike" kern="1200" cap="none" spc="0" normalizeH="0" baseline="0" noProof="0" dirty="0">
                        <a:ln>
                          <a:noFill/>
                        </a:ln>
                        <a:solidFill>
                          <a:prstClr val="black"/>
                        </a:solidFill>
                        <a:effectLst/>
                        <a:uLnTx/>
                        <a:uFillTx/>
                        <a:latin typeface="HGPｺﾞｼｯｸE" panose="020B0900000000000000" pitchFamily="50" charset="-128"/>
                        <a:ea typeface="HGPｺﾞｼｯｸE" panose="020B0900000000000000" pitchFamily="50" charset="-128"/>
                        <a:cs typeface="+mn-cs"/>
                      </a:endParaRPr>
                    </a:p>
                  </a:txBody>
                  <a:tcPr anchor="ctr">
                    <a:solidFill>
                      <a:schemeClr val="tx2">
                        <a:lumMod val="20000"/>
                        <a:lumOff val="80000"/>
                      </a:schemeClr>
                    </a:solidFill>
                  </a:tcPr>
                </a:tc>
                <a:tc>
                  <a:txBody>
                    <a:bodyPr/>
                    <a:lstStyle/>
                    <a:p>
                      <a:pPr algn="ctr"/>
                      <a:r>
                        <a:rPr kumimoji="1" lang="ja-JP" altLang="en-US" sz="3200" b="1" dirty="0">
                          <a:solidFill>
                            <a:srgbClr val="FF0000"/>
                          </a:solidFill>
                          <a:latin typeface="HGPｺﾞｼｯｸE" panose="020B0900000000000000" pitchFamily="50" charset="-128"/>
                          <a:ea typeface="HGPｺﾞｼｯｸE" panose="020B0900000000000000" pitchFamily="50" charset="-128"/>
                        </a:rPr>
                        <a:t>不可</a:t>
                      </a:r>
                    </a:p>
                  </a:txBody>
                  <a:tcPr anchor="ctr">
                    <a:solidFill>
                      <a:schemeClr val="accent2">
                        <a:lumMod val="20000"/>
                        <a:lumOff val="80000"/>
                      </a:schemeClr>
                    </a:solidFill>
                  </a:tcPr>
                </a:tc>
                <a:tc>
                  <a:txBody>
                    <a:bodyPr/>
                    <a:lstStyle/>
                    <a:p>
                      <a:pPr algn="ctr"/>
                      <a:r>
                        <a:rPr kumimoji="1" lang="ja-JP" altLang="en-US" sz="3200" dirty="0">
                          <a:latin typeface="HGPｺﾞｼｯｸE" panose="020B0900000000000000" pitchFamily="50" charset="-128"/>
                          <a:ea typeface="HGPｺﾞｼｯｸE" panose="020B0900000000000000" pitchFamily="50" charset="-128"/>
                        </a:rPr>
                        <a:t>可</a:t>
                      </a:r>
                    </a:p>
                  </a:txBody>
                  <a:tcPr anchor="ctr">
                    <a:solidFill>
                      <a:schemeClr val="accent5">
                        <a:lumMod val="20000"/>
                        <a:lumOff val="80000"/>
                      </a:schemeClr>
                    </a:solidFill>
                  </a:tcPr>
                </a:tc>
                <a:extLst>
                  <a:ext uri="{0D108BD9-81ED-4DB2-BD59-A6C34878D82A}">
                    <a16:rowId xmlns:a16="http://schemas.microsoft.com/office/drawing/2014/main" val="2700090982"/>
                  </a:ext>
                </a:extLst>
              </a:tr>
            </a:tbl>
          </a:graphicData>
        </a:graphic>
      </p:graphicFrame>
      <p:sp>
        <p:nvSpPr>
          <p:cNvPr id="37" name="テキスト ボックス 36"/>
          <p:cNvSpPr txBox="1"/>
          <p:nvPr/>
        </p:nvSpPr>
        <p:spPr>
          <a:xfrm>
            <a:off x="431076" y="956643"/>
            <a:ext cx="11295122" cy="584775"/>
          </a:xfrm>
          <a:prstGeom prst="rect">
            <a:avLst/>
          </a:prstGeom>
          <a:noFill/>
        </p:spPr>
        <p:txBody>
          <a:bodyPr wrap="square" rtlCol="0">
            <a:spAutoFit/>
          </a:bodyPr>
          <a:lstStyle/>
          <a:p>
            <a:pPr algn="ctr"/>
            <a:r>
              <a:rPr lang="ja-JP" altLang="en-US" sz="3200" dirty="0">
                <a:latin typeface="HGPｺﾞｼｯｸE" panose="020B0900000000000000" pitchFamily="50" charset="-128"/>
                <a:ea typeface="HGPｺﾞｼｯｸE" panose="020B0900000000000000" pitchFamily="50" charset="-128"/>
              </a:rPr>
              <a:t>自己推薦入学とは、</a:t>
            </a:r>
            <a:r>
              <a:rPr lang="ja-JP" altLang="en-US" sz="3200" dirty="0">
                <a:solidFill>
                  <a:srgbClr val="FF0000"/>
                </a:solidFill>
                <a:latin typeface="HGPｺﾞｼｯｸE" panose="020B0900000000000000" pitchFamily="50" charset="-128"/>
                <a:ea typeface="HGPｺﾞｼｯｸE" panose="020B0900000000000000" pitchFamily="50" charset="-128"/>
              </a:rPr>
              <a:t>学生の意欲</a:t>
            </a:r>
            <a:r>
              <a:rPr lang="ja-JP" altLang="en-US" sz="3200" dirty="0">
                <a:latin typeface="HGPｺﾞｼｯｸE" panose="020B0900000000000000" pitchFamily="50" charset="-128"/>
                <a:ea typeface="HGPｺﾞｼｯｸE" panose="020B0900000000000000" pitchFamily="50" charset="-128"/>
              </a:rPr>
              <a:t>を</a:t>
            </a:r>
            <a:r>
              <a:rPr lang="ja-JP" altLang="en-US" sz="3200" dirty="0">
                <a:solidFill>
                  <a:srgbClr val="FF0000"/>
                </a:solidFill>
                <a:latin typeface="HGPｺﾞｼｯｸE" panose="020B0900000000000000" pitchFamily="50" charset="-128"/>
                <a:ea typeface="HGPｺﾞｼｯｸE" panose="020B0900000000000000" pitchFamily="50" charset="-128"/>
              </a:rPr>
              <a:t>応援</a:t>
            </a:r>
            <a:r>
              <a:rPr lang="ja-JP" altLang="en-US" sz="3200" dirty="0">
                <a:latin typeface="HGPｺﾞｼｯｸE" panose="020B0900000000000000" pitchFamily="50" charset="-128"/>
                <a:ea typeface="HGPｺﾞｼｯｸE" panose="020B0900000000000000" pitchFamily="50" charset="-128"/>
              </a:rPr>
              <a:t>する入学方法です！</a:t>
            </a:r>
            <a:endParaRPr kumimoji="1" lang="ja-JP" altLang="en-US" sz="3200" dirty="0">
              <a:latin typeface="HGPｺﾞｼｯｸE" panose="020B0900000000000000" pitchFamily="50" charset="-128"/>
              <a:ea typeface="HGPｺﾞｼｯｸE" panose="020B0900000000000000" pitchFamily="50" charset="-128"/>
            </a:endParaRPr>
          </a:p>
        </p:txBody>
      </p:sp>
      <p:sp>
        <p:nvSpPr>
          <p:cNvPr id="8" name="テキスト ボックス 7">
            <a:extLst>
              <a:ext uri="{FF2B5EF4-FFF2-40B4-BE49-F238E27FC236}">
                <a16:creationId xmlns:a16="http://schemas.microsoft.com/office/drawing/2014/main" id="{D01E7BBA-9F29-40BD-BB74-B41FA8149601}"/>
              </a:ext>
            </a:extLst>
          </p:cNvPr>
          <p:cNvSpPr txBox="1"/>
          <p:nvPr/>
        </p:nvSpPr>
        <p:spPr>
          <a:xfrm>
            <a:off x="664020" y="136423"/>
            <a:ext cx="531669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自己推薦入学のご案内</a:t>
            </a:r>
            <a:endParaRPr lang="en-US" altLang="ja-JP" sz="2400" dirty="0">
              <a:solidFill>
                <a:schemeClr val="bg1"/>
              </a:solidFill>
              <a:latin typeface="HGPｺﾞｼｯｸE" panose="020B0900000000000000" pitchFamily="50" charset="-128"/>
              <a:ea typeface="HGPｺﾞｼｯｸE" panose="020B0900000000000000" pitchFamily="50" charset="-128"/>
            </a:endParaRPr>
          </a:p>
        </p:txBody>
      </p:sp>
    </p:spTree>
    <p:extLst>
      <p:ext uri="{BB962C8B-B14F-4D97-AF65-F5344CB8AC3E}">
        <p14:creationId xmlns:p14="http://schemas.microsoft.com/office/powerpoint/2010/main" val="2007399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0" y="1124"/>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7" name="テキスト ボックス 6"/>
          <p:cNvSpPr txBox="1"/>
          <p:nvPr/>
        </p:nvSpPr>
        <p:spPr>
          <a:xfrm>
            <a:off x="0" y="1009585"/>
            <a:ext cx="12192000" cy="584775"/>
          </a:xfrm>
          <a:prstGeom prst="rect">
            <a:avLst/>
          </a:prstGeom>
          <a:noFill/>
        </p:spPr>
        <p:txBody>
          <a:bodyPr wrap="square" rtlCol="0">
            <a:spAutoFit/>
          </a:bodyPr>
          <a:lstStyle/>
          <a:p>
            <a:pPr algn="ctr"/>
            <a:r>
              <a:rPr lang="ja-JP" altLang="en-US" sz="3200" dirty="0">
                <a:latin typeface="HGPｺﾞｼｯｸE" panose="020B0900000000000000" pitchFamily="50" charset="-128"/>
                <a:ea typeface="HGPｺﾞｼｯｸE" panose="020B0900000000000000" pitchFamily="50" charset="-128"/>
              </a:rPr>
              <a:t>入学を</a:t>
            </a:r>
            <a:r>
              <a:rPr lang="ja-JP" altLang="en-US" sz="3200" dirty="0">
                <a:solidFill>
                  <a:schemeClr val="accent1"/>
                </a:solidFill>
                <a:latin typeface="HGPｺﾞｼｯｸE" panose="020B0900000000000000" pitchFamily="50" charset="-128"/>
                <a:ea typeface="HGPｺﾞｼｯｸE" panose="020B0900000000000000" pitchFamily="50" charset="-128"/>
              </a:rPr>
              <a:t>迷っていても大丈夫！</a:t>
            </a:r>
            <a:r>
              <a:rPr lang="ja-JP" altLang="en-US" sz="3200" dirty="0">
                <a:latin typeface="HGPｺﾞｼｯｸE" panose="020B0900000000000000" pitchFamily="50" charset="-128"/>
                <a:ea typeface="HGPｺﾞｼｯｸE" panose="020B0900000000000000" pitchFamily="50" charset="-128"/>
              </a:rPr>
              <a:t>まずは、</a:t>
            </a:r>
            <a:r>
              <a:rPr lang="en-US" altLang="ja-JP" sz="3200" dirty="0">
                <a:solidFill>
                  <a:srgbClr val="FF0000"/>
                </a:solidFill>
                <a:latin typeface="HGPｺﾞｼｯｸE" panose="020B0900000000000000" pitchFamily="50" charset="-128"/>
                <a:ea typeface="HGPｺﾞｼｯｸE" panose="020B0900000000000000" pitchFamily="50" charset="-128"/>
              </a:rPr>
              <a:t>AO</a:t>
            </a:r>
            <a:r>
              <a:rPr lang="ja-JP" altLang="en-US" sz="3200" dirty="0">
                <a:solidFill>
                  <a:srgbClr val="FF0000"/>
                </a:solidFill>
                <a:latin typeface="HGPｺﾞｼｯｸE" panose="020B0900000000000000" pitchFamily="50" charset="-128"/>
                <a:ea typeface="HGPｺﾞｼｯｸE" panose="020B0900000000000000" pitchFamily="50" charset="-128"/>
              </a:rPr>
              <a:t>エントリー</a:t>
            </a:r>
            <a:r>
              <a:rPr lang="ja-JP" altLang="en-US" sz="3200" dirty="0">
                <a:latin typeface="HGPｺﾞｼｯｸE" panose="020B0900000000000000" pitchFamily="50" charset="-128"/>
                <a:ea typeface="HGPｺﾞｼｯｸE" panose="020B0900000000000000" pitchFamily="50" charset="-128"/>
              </a:rPr>
              <a:t>をしよう！</a:t>
            </a:r>
            <a:endParaRPr kumimoji="1" lang="ja-JP" altLang="en-US" sz="3200" dirty="0">
              <a:latin typeface="HGPｺﾞｼｯｸE" panose="020B0900000000000000" pitchFamily="50" charset="-128"/>
              <a:ea typeface="HGPｺﾞｼｯｸE" panose="020B0900000000000000" pitchFamily="50" charset="-128"/>
            </a:endParaRPr>
          </a:p>
        </p:txBody>
      </p:sp>
      <p:grpSp>
        <p:nvGrpSpPr>
          <p:cNvPr id="8" name="グループ化 7"/>
          <p:cNvGrpSpPr/>
          <p:nvPr/>
        </p:nvGrpSpPr>
        <p:grpSpPr>
          <a:xfrm>
            <a:off x="653142" y="1734127"/>
            <a:ext cx="11643362" cy="876131"/>
            <a:chOff x="365759" y="1084157"/>
            <a:chExt cx="5995566" cy="876131"/>
          </a:xfrm>
        </p:grpSpPr>
        <p:sp>
          <p:nvSpPr>
            <p:cNvPr id="12" name="角丸四角形 11"/>
            <p:cNvSpPr/>
            <p:nvPr/>
          </p:nvSpPr>
          <p:spPr>
            <a:xfrm>
              <a:off x="365759" y="1084157"/>
              <a:ext cx="5630091" cy="87613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GPｺﾞｼｯｸE" panose="020B0900000000000000" pitchFamily="50" charset="-128"/>
                <a:ea typeface="HGPｺﾞｼｯｸE" panose="020B0900000000000000" pitchFamily="50" charset="-128"/>
              </a:endParaRPr>
            </a:p>
          </p:txBody>
        </p:sp>
        <p:sp>
          <p:nvSpPr>
            <p:cNvPr id="13" name="テキスト ボックス 12"/>
            <p:cNvSpPr txBox="1"/>
            <p:nvPr/>
          </p:nvSpPr>
          <p:spPr>
            <a:xfrm>
              <a:off x="557348" y="1193344"/>
              <a:ext cx="3936275" cy="646331"/>
            </a:xfrm>
            <a:prstGeom prst="rect">
              <a:avLst/>
            </a:prstGeom>
            <a:noFill/>
          </p:spPr>
          <p:txBody>
            <a:bodyPr wrap="square" rtlCol="0">
              <a:spAutoFit/>
            </a:bodyPr>
            <a:lstStyle/>
            <a:p>
              <a:r>
                <a:rPr kumimoji="1" lang="en-US" altLang="ja-JP" sz="3600" b="1" dirty="0">
                  <a:solidFill>
                    <a:srgbClr val="FF7C80"/>
                  </a:solidFill>
                  <a:effectLst>
                    <a:outerShdw blurRad="38100" dist="38100" dir="2700000" algn="tl">
                      <a:srgbClr val="000000">
                        <a:alpha val="43137"/>
                      </a:srgbClr>
                    </a:outerShdw>
                  </a:effectLst>
                  <a:latin typeface="HGPｺﾞｼｯｸE" panose="020B0900000000000000" pitchFamily="50" charset="-128"/>
                  <a:ea typeface="HGPｺﾞｼｯｸE" panose="020B0900000000000000" pitchFamily="50" charset="-128"/>
                </a:rPr>
                <a:t>Step1</a:t>
              </a:r>
              <a:endParaRPr kumimoji="1" lang="ja-JP" altLang="en-US" sz="3600" b="1" dirty="0">
                <a:solidFill>
                  <a:srgbClr val="FF7C80"/>
                </a:solidFill>
                <a:effectLst>
                  <a:outerShdw blurRad="38100" dist="38100" dir="2700000" algn="tl">
                    <a:srgbClr val="000000">
                      <a:alpha val="43137"/>
                    </a:srgbClr>
                  </a:outerShdw>
                </a:effectLst>
                <a:latin typeface="HGPｺﾞｼｯｸE" panose="020B0900000000000000" pitchFamily="50" charset="-128"/>
                <a:ea typeface="HGPｺﾞｼｯｸE" panose="020B0900000000000000" pitchFamily="50" charset="-128"/>
              </a:endParaRPr>
            </a:p>
          </p:txBody>
        </p:sp>
        <p:sp>
          <p:nvSpPr>
            <p:cNvPr id="14" name="テキスト ボックス 13"/>
            <p:cNvSpPr txBox="1"/>
            <p:nvPr/>
          </p:nvSpPr>
          <p:spPr>
            <a:xfrm>
              <a:off x="1323416" y="1193343"/>
              <a:ext cx="5037909" cy="646331"/>
            </a:xfrm>
            <a:prstGeom prst="rect">
              <a:avLst/>
            </a:prstGeom>
            <a:noFill/>
          </p:spPr>
          <p:txBody>
            <a:bodyPr wrap="square" rtlCol="0">
              <a:spAutoFit/>
            </a:bodyPr>
            <a:lstStyle/>
            <a:p>
              <a:r>
                <a:rPr lang="ja-JP" altLang="en-US" sz="3600" dirty="0">
                  <a:latin typeface="HGPｺﾞｼｯｸE" panose="020B0900000000000000" pitchFamily="50" charset="-128"/>
                  <a:ea typeface="HGPｺﾞｼｯｸE" panose="020B0900000000000000" pitchFamily="50" charset="-128"/>
                </a:rPr>
                <a:t>専用のエントリーシートを記入して提出</a:t>
              </a:r>
              <a:endParaRPr lang="en-US" altLang="ja-JP" sz="3600" dirty="0">
                <a:latin typeface="HGPｺﾞｼｯｸE" panose="020B0900000000000000" pitchFamily="50" charset="-128"/>
                <a:ea typeface="HGPｺﾞｼｯｸE" panose="020B0900000000000000" pitchFamily="50" charset="-128"/>
              </a:endParaRPr>
            </a:p>
          </p:txBody>
        </p:sp>
      </p:grpSp>
      <p:sp>
        <p:nvSpPr>
          <p:cNvPr id="15" name="二等辺三角形 14"/>
          <p:cNvSpPr/>
          <p:nvPr/>
        </p:nvSpPr>
        <p:spPr>
          <a:xfrm rot="10800000">
            <a:off x="5023634" y="2710302"/>
            <a:ext cx="2192625" cy="346503"/>
          </a:xfrm>
          <a:prstGeom prst="triangl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GPｺﾞｼｯｸE" panose="020B0900000000000000" pitchFamily="50" charset="-128"/>
              <a:ea typeface="HGPｺﾞｼｯｸE" panose="020B0900000000000000" pitchFamily="50" charset="-128"/>
            </a:endParaRPr>
          </a:p>
        </p:txBody>
      </p:sp>
      <p:sp>
        <p:nvSpPr>
          <p:cNvPr id="16" name="二等辺三角形 15"/>
          <p:cNvSpPr/>
          <p:nvPr/>
        </p:nvSpPr>
        <p:spPr>
          <a:xfrm rot="10800000">
            <a:off x="5023634" y="4073208"/>
            <a:ext cx="2192625" cy="346503"/>
          </a:xfrm>
          <a:prstGeom prst="triangl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GPｺﾞｼｯｸE" panose="020B0900000000000000" pitchFamily="50" charset="-128"/>
              <a:ea typeface="HGPｺﾞｼｯｸE" panose="020B0900000000000000" pitchFamily="50" charset="-128"/>
            </a:endParaRPr>
          </a:p>
        </p:txBody>
      </p:sp>
      <p:grpSp>
        <p:nvGrpSpPr>
          <p:cNvPr id="17" name="グループ化 16"/>
          <p:cNvGrpSpPr/>
          <p:nvPr/>
        </p:nvGrpSpPr>
        <p:grpSpPr>
          <a:xfrm>
            <a:off x="653142" y="3111399"/>
            <a:ext cx="11643362" cy="876131"/>
            <a:chOff x="365759" y="1084157"/>
            <a:chExt cx="5995566" cy="876131"/>
          </a:xfrm>
        </p:grpSpPr>
        <p:sp>
          <p:nvSpPr>
            <p:cNvPr id="18" name="角丸四角形 17"/>
            <p:cNvSpPr/>
            <p:nvPr/>
          </p:nvSpPr>
          <p:spPr>
            <a:xfrm>
              <a:off x="365759" y="1084157"/>
              <a:ext cx="5630091" cy="87613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GPｺﾞｼｯｸE" panose="020B0900000000000000" pitchFamily="50" charset="-128"/>
                <a:ea typeface="HGPｺﾞｼｯｸE" panose="020B0900000000000000" pitchFamily="50" charset="-128"/>
              </a:endParaRPr>
            </a:p>
          </p:txBody>
        </p:sp>
        <p:sp>
          <p:nvSpPr>
            <p:cNvPr id="19" name="テキスト ボックス 18"/>
            <p:cNvSpPr txBox="1"/>
            <p:nvPr/>
          </p:nvSpPr>
          <p:spPr>
            <a:xfrm>
              <a:off x="557348" y="1193344"/>
              <a:ext cx="3936275" cy="646331"/>
            </a:xfrm>
            <a:prstGeom prst="rect">
              <a:avLst/>
            </a:prstGeom>
            <a:noFill/>
          </p:spPr>
          <p:txBody>
            <a:bodyPr wrap="square" rtlCol="0">
              <a:spAutoFit/>
            </a:bodyPr>
            <a:lstStyle/>
            <a:p>
              <a:r>
                <a:rPr kumimoji="1" lang="en-US" altLang="ja-JP" sz="3600" b="1" dirty="0">
                  <a:solidFill>
                    <a:srgbClr val="FF7C80"/>
                  </a:solidFill>
                  <a:effectLst>
                    <a:outerShdw blurRad="38100" dist="38100" dir="2700000" algn="tl">
                      <a:srgbClr val="000000">
                        <a:alpha val="43137"/>
                      </a:srgbClr>
                    </a:outerShdw>
                  </a:effectLst>
                  <a:latin typeface="HGPｺﾞｼｯｸE" panose="020B0900000000000000" pitchFamily="50" charset="-128"/>
                  <a:ea typeface="HGPｺﾞｼｯｸE" panose="020B0900000000000000" pitchFamily="50" charset="-128"/>
                </a:rPr>
                <a:t>Step2</a:t>
              </a:r>
              <a:endParaRPr kumimoji="1" lang="ja-JP" altLang="en-US" sz="3600" b="1" dirty="0">
                <a:solidFill>
                  <a:srgbClr val="FF7C80"/>
                </a:solidFill>
                <a:effectLst>
                  <a:outerShdw blurRad="38100" dist="38100" dir="2700000" algn="tl">
                    <a:srgbClr val="000000">
                      <a:alpha val="43137"/>
                    </a:srgbClr>
                  </a:outerShdw>
                </a:effectLst>
                <a:latin typeface="HGPｺﾞｼｯｸE" panose="020B0900000000000000" pitchFamily="50" charset="-128"/>
                <a:ea typeface="HGPｺﾞｼｯｸE" panose="020B0900000000000000" pitchFamily="50" charset="-128"/>
              </a:endParaRPr>
            </a:p>
          </p:txBody>
        </p:sp>
        <p:sp>
          <p:nvSpPr>
            <p:cNvPr id="20" name="テキスト ボックス 19"/>
            <p:cNvSpPr txBox="1"/>
            <p:nvPr/>
          </p:nvSpPr>
          <p:spPr>
            <a:xfrm>
              <a:off x="1323416" y="1193343"/>
              <a:ext cx="5037909" cy="646331"/>
            </a:xfrm>
            <a:prstGeom prst="rect">
              <a:avLst/>
            </a:prstGeom>
            <a:noFill/>
          </p:spPr>
          <p:txBody>
            <a:bodyPr wrap="square" rtlCol="0">
              <a:spAutoFit/>
            </a:bodyPr>
            <a:lstStyle/>
            <a:p>
              <a:r>
                <a:rPr lang="ja-JP" altLang="en-US" sz="3600" dirty="0">
                  <a:latin typeface="HGPｺﾞｼｯｸE" panose="020B0900000000000000" pitchFamily="50" charset="-128"/>
                  <a:ea typeface="HGPｺﾞｼｯｸE" panose="020B0900000000000000" pitchFamily="50" charset="-128"/>
                </a:rPr>
                <a:t>面談を受ける </a:t>
              </a:r>
              <a:r>
                <a:rPr lang="en-US" altLang="ja-JP" sz="3600" dirty="0">
                  <a:latin typeface="HGPｺﾞｼｯｸE" panose="020B0900000000000000" pitchFamily="50" charset="-128"/>
                  <a:ea typeface="HGPｺﾞｼｯｸE" panose="020B0900000000000000" pitchFamily="50" charset="-128"/>
                </a:rPr>
                <a:t>or</a:t>
              </a:r>
              <a:r>
                <a:rPr lang="ja-JP" altLang="en-US" sz="3600" dirty="0">
                  <a:latin typeface="HGPｺﾞｼｯｸE" panose="020B0900000000000000" pitchFamily="50" charset="-128"/>
                  <a:ea typeface="HGPｺﾞｼｯｸE" panose="020B0900000000000000" pitchFamily="50" charset="-128"/>
                </a:rPr>
                <a:t> 作文の提出</a:t>
              </a:r>
              <a:endParaRPr lang="en-US" altLang="ja-JP" sz="3600" dirty="0">
                <a:latin typeface="HGPｺﾞｼｯｸE" panose="020B0900000000000000" pitchFamily="50" charset="-128"/>
                <a:ea typeface="HGPｺﾞｼｯｸE" panose="020B0900000000000000" pitchFamily="50" charset="-128"/>
              </a:endParaRPr>
            </a:p>
          </p:txBody>
        </p:sp>
      </p:grpSp>
      <p:grpSp>
        <p:nvGrpSpPr>
          <p:cNvPr id="21" name="グループ化 20"/>
          <p:cNvGrpSpPr/>
          <p:nvPr/>
        </p:nvGrpSpPr>
        <p:grpSpPr>
          <a:xfrm>
            <a:off x="653142" y="4488671"/>
            <a:ext cx="11643362" cy="876131"/>
            <a:chOff x="365759" y="1084157"/>
            <a:chExt cx="5995566" cy="876131"/>
          </a:xfrm>
        </p:grpSpPr>
        <p:sp>
          <p:nvSpPr>
            <p:cNvPr id="22" name="角丸四角形 21"/>
            <p:cNvSpPr/>
            <p:nvPr/>
          </p:nvSpPr>
          <p:spPr>
            <a:xfrm>
              <a:off x="365759" y="1084157"/>
              <a:ext cx="5630091" cy="87613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GPｺﾞｼｯｸE" panose="020B0900000000000000" pitchFamily="50" charset="-128"/>
                <a:ea typeface="HGPｺﾞｼｯｸE" panose="020B0900000000000000" pitchFamily="50" charset="-128"/>
              </a:endParaRPr>
            </a:p>
          </p:txBody>
        </p:sp>
        <p:sp>
          <p:nvSpPr>
            <p:cNvPr id="23" name="テキスト ボックス 22"/>
            <p:cNvSpPr txBox="1"/>
            <p:nvPr/>
          </p:nvSpPr>
          <p:spPr>
            <a:xfrm>
              <a:off x="557348" y="1193344"/>
              <a:ext cx="3936275" cy="646331"/>
            </a:xfrm>
            <a:prstGeom prst="rect">
              <a:avLst/>
            </a:prstGeom>
            <a:noFill/>
          </p:spPr>
          <p:txBody>
            <a:bodyPr wrap="square" rtlCol="0">
              <a:spAutoFit/>
            </a:bodyPr>
            <a:lstStyle/>
            <a:p>
              <a:r>
                <a:rPr kumimoji="1" lang="en-US" altLang="ja-JP" sz="3600" b="1" dirty="0">
                  <a:solidFill>
                    <a:srgbClr val="FF7C80"/>
                  </a:solidFill>
                  <a:effectLst>
                    <a:outerShdw blurRad="38100" dist="38100" dir="2700000" algn="tl">
                      <a:srgbClr val="000000">
                        <a:alpha val="43137"/>
                      </a:srgbClr>
                    </a:outerShdw>
                  </a:effectLst>
                  <a:latin typeface="HGPｺﾞｼｯｸE" panose="020B0900000000000000" pitchFamily="50" charset="-128"/>
                  <a:ea typeface="HGPｺﾞｼｯｸE" panose="020B0900000000000000" pitchFamily="50" charset="-128"/>
                </a:rPr>
                <a:t>Step3</a:t>
              </a:r>
              <a:endParaRPr kumimoji="1" lang="ja-JP" altLang="en-US" sz="3600" b="1" dirty="0">
                <a:solidFill>
                  <a:srgbClr val="FF7C80"/>
                </a:solidFill>
                <a:effectLst>
                  <a:outerShdw blurRad="38100" dist="38100" dir="2700000" algn="tl">
                    <a:srgbClr val="000000">
                      <a:alpha val="43137"/>
                    </a:srgbClr>
                  </a:outerShdw>
                </a:effectLst>
                <a:latin typeface="HGPｺﾞｼｯｸE" panose="020B0900000000000000" pitchFamily="50" charset="-128"/>
                <a:ea typeface="HGPｺﾞｼｯｸE" panose="020B0900000000000000" pitchFamily="50" charset="-128"/>
              </a:endParaRPr>
            </a:p>
          </p:txBody>
        </p:sp>
        <p:sp>
          <p:nvSpPr>
            <p:cNvPr id="24" name="テキスト ボックス 23"/>
            <p:cNvSpPr txBox="1"/>
            <p:nvPr/>
          </p:nvSpPr>
          <p:spPr>
            <a:xfrm>
              <a:off x="1323416" y="1193343"/>
              <a:ext cx="5037909" cy="646331"/>
            </a:xfrm>
            <a:prstGeom prst="rect">
              <a:avLst/>
            </a:prstGeom>
            <a:noFill/>
          </p:spPr>
          <p:txBody>
            <a:bodyPr wrap="square" rtlCol="0">
              <a:spAutoFit/>
            </a:bodyPr>
            <a:lstStyle/>
            <a:p>
              <a:r>
                <a:rPr lang="en-US" altLang="ja-JP" sz="3600" dirty="0">
                  <a:latin typeface="HGPｺﾞｼｯｸE" panose="020B0900000000000000" pitchFamily="50" charset="-128"/>
                  <a:ea typeface="HGPｺﾞｼｯｸE" panose="020B0900000000000000" pitchFamily="50" charset="-128"/>
                </a:rPr>
                <a:t>AO</a:t>
              </a:r>
              <a:r>
                <a:rPr lang="ja-JP" altLang="en-US" sz="3600" dirty="0">
                  <a:latin typeface="HGPｺﾞｼｯｸE" panose="020B0900000000000000" pitchFamily="50" charset="-128"/>
                  <a:ea typeface="HGPｺﾞｼｯｸE" panose="020B0900000000000000" pitchFamily="50" charset="-128"/>
                </a:rPr>
                <a:t>エントリー受付完了通知書を受け取る</a:t>
              </a:r>
              <a:endParaRPr lang="en-US" altLang="ja-JP" sz="3600" dirty="0">
                <a:latin typeface="HGPｺﾞｼｯｸE" panose="020B0900000000000000" pitchFamily="50" charset="-128"/>
                <a:ea typeface="HGPｺﾞｼｯｸE" panose="020B0900000000000000" pitchFamily="50" charset="-128"/>
              </a:endParaRPr>
            </a:p>
          </p:txBody>
        </p:sp>
      </p:grpSp>
      <p:grpSp>
        <p:nvGrpSpPr>
          <p:cNvPr id="25" name="グループ化 24"/>
          <p:cNvGrpSpPr/>
          <p:nvPr/>
        </p:nvGrpSpPr>
        <p:grpSpPr>
          <a:xfrm>
            <a:off x="3468185" y="5854515"/>
            <a:ext cx="5303520" cy="876131"/>
            <a:chOff x="1721028" y="1084157"/>
            <a:chExt cx="2730964" cy="876131"/>
          </a:xfrm>
        </p:grpSpPr>
        <p:sp>
          <p:nvSpPr>
            <p:cNvPr id="26" name="角丸四角形 25"/>
            <p:cNvSpPr/>
            <p:nvPr/>
          </p:nvSpPr>
          <p:spPr>
            <a:xfrm>
              <a:off x="1721028" y="1084157"/>
              <a:ext cx="2730964" cy="87613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GPｺﾞｼｯｸE" panose="020B0900000000000000" pitchFamily="50" charset="-128"/>
                <a:ea typeface="HGPｺﾞｼｯｸE" panose="020B0900000000000000" pitchFamily="50" charset="-128"/>
              </a:endParaRPr>
            </a:p>
          </p:txBody>
        </p:sp>
        <p:sp>
          <p:nvSpPr>
            <p:cNvPr id="27" name="テキスト ボックス 26"/>
            <p:cNvSpPr txBox="1"/>
            <p:nvPr/>
          </p:nvSpPr>
          <p:spPr>
            <a:xfrm>
              <a:off x="1721028" y="1199056"/>
              <a:ext cx="2730964" cy="646331"/>
            </a:xfrm>
            <a:prstGeom prst="rect">
              <a:avLst/>
            </a:prstGeom>
            <a:noFill/>
          </p:spPr>
          <p:txBody>
            <a:bodyPr wrap="square" rtlCol="0">
              <a:spAutoFit/>
            </a:bodyPr>
            <a:lstStyle/>
            <a:p>
              <a:pPr algn="ctr"/>
              <a:r>
                <a:rPr kumimoji="1" lang="en-US" altLang="ja-JP" sz="3600" b="1" dirty="0">
                  <a:solidFill>
                    <a:srgbClr val="FF7C80"/>
                  </a:solidFill>
                  <a:effectLst>
                    <a:outerShdw blurRad="38100" dist="38100" dir="2700000" algn="tl">
                      <a:srgbClr val="000000">
                        <a:alpha val="43137"/>
                      </a:srgbClr>
                    </a:outerShdw>
                  </a:effectLst>
                  <a:latin typeface="HGPｺﾞｼｯｸE" panose="020B0900000000000000" pitchFamily="50" charset="-128"/>
                  <a:ea typeface="HGPｺﾞｼｯｸE" panose="020B0900000000000000" pitchFamily="50" charset="-128"/>
                </a:rPr>
                <a:t>AO</a:t>
              </a:r>
              <a:r>
                <a:rPr kumimoji="1" lang="ja-JP" altLang="en-US" sz="3600" b="1" dirty="0">
                  <a:solidFill>
                    <a:srgbClr val="FF7C80"/>
                  </a:solidFill>
                  <a:effectLst>
                    <a:outerShdw blurRad="38100" dist="38100" dir="2700000" algn="tl">
                      <a:srgbClr val="000000">
                        <a:alpha val="43137"/>
                      </a:srgbClr>
                    </a:outerShdw>
                  </a:effectLst>
                  <a:latin typeface="HGPｺﾞｼｯｸE" panose="020B0900000000000000" pitchFamily="50" charset="-128"/>
                  <a:ea typeface="HGPｺﾞｼｯｸE" panose="020B0900000000000000" pitchFamily="50" charset="-128"/>
                </a:rPr>
                <a:t>エントリー完了！</a:t>
              </a:r>
            </a:p>
          </p:txBody>
        </p:sp>
      </p:grpSp>
      <p:sp>
        <p:nvSpPr>
          <p:cNvPr id="28" name="二等辺三角形 27"/>
          <p:cNvSpPr/>
          <p:nvPr/>
        </p:nvSpPr>
        <p:spPr>
          <a:xfrm rot="10800000">
            <a:off x="5023633" y="5442120"/>
            <a:ext cx="2192625" cy="346503"/>
          </a:xfrm>
          <a:prstGeom prst="triangl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GPｺﾞｼｯｸE" panose="020B0900000000000000" pitchFamily="50" charset="-128"/>
              <a:ea typeface="HGPｺﾞｼｯｸE" panose="020B0900000000000000" pitchFamily="50" charset="-128"/>
            </a:endParaRPr>
          </a:p>
        </p:txBody>
      </p:sp>
      <p:grpSp>
        <p:nvGrpSpPr>
          <p:cNvPr id="29" name="グループ化 28"/>
          <p:cNvGrpSpPr/>
          <p:nvPr/>
        </p:nvGrpSpPr>
        <p:grpSpPr>
          <a:xfrm>
            <a:off x="8969908" y="5451460"/>
            <a:ext cx="3044649" cy="1164285"/>
            <a:chOff x="9002571" y="5304431"/>
            <a:chExt cx="3044649" cy="1164285"/>
          </a:xfrm>
        </p:grpSpPr>
        <p:sp>
          <p:nvSpPr>
            <p:cNvPr id="30" name="楕円 29"/>
            <p:cNvSpPr/>
            <p:nvPr/>
          </p:nvSpPr>
          <p:spPr>
            <a:xfrm>
              <a:off x="9018903" y="5948714"/>
              <a:ext cx="3011988" cy="520002"/>
            </a:xfrm>
            <a:prstGeom prst="ellipse">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GPｺﾞｼｯｸE" panose="020B0900000000000000" pitchFamily="50" charset="-128"/>
                <a:ea typeface="HGPｺﾞｼｯｸE" panose="020B0900000000000000" pitchFamily="50" charset="-128"/>
              </a:endParaRPr>
            </a:p>
          </p:txBody>
        </p:sp>
        <p:sp>
          <p:nvSpPr>
            <p:cNvPr id="31" name="テキスト ボックス 30"/>
            <p:cNvSpPr txBox="1"/>
            <p:nvPr/>
          </p:nvSpPr>
          <p:spPr>
            <a:xfrm>
              <a:off x="9002571" y="5304431"/>
              <a:ext cx="3044649" cy="461665"/>
            </a:xfrm>
            <a:prstGeom prst="rect">
              <a:avLst/>
            </a:prstGeom>
            <a:noFill/>
          </p:spPr>
          <p:txBody>
            <a:bodyPr wrap="square" rtlCol="0">
              <a:spAutoFit/>
            </a:bodyPr>
            <a:lstStyle/>
            <a:p>
              <a:pPr algn="ctr"/>
              <a:r>
                <a:rPr lang="en-US" altLang="ja-JP" sz="2400" dirty="0">
                  <a:latin typeface="HGPｺﾞｼｯｸE" panose="020B0900000000000000" pitchFamily="50" charset="-128"/>
                  <a:ea typeface="HGPｺﾞｼｯｸE" panose="020B0900000000000000" pitchFamily="50" charset="-128"/>
                </a:rPr>
                <a:t>AO</a:t>
              </a:r>
              <a:r>
                <a:rPr lang="ja-JP" altLang="en-US" sz="2400" dirty="0">
                  <a:latin typeface="HGPｺﾞｼｯｸE" panose="020B0900000000000000" pitchFamily="50" charset="-128"/>
                  <a:ea typeface="HGPｺﾞｼｯｸE" panose="020B0900000000000000" pitchFamily="50" charset="-128"/>
                </a:rPr>
                <a:t>エントリー受付</a:t>
              </a:r>
              <a:endParaRPr kumimoji="1" lang="ja-JP" altLang="en-US" sz="2400" dirty="0">
                <a:latin typeface="HGPｺﾞｼｯｸE" panose="020B0900000000000000" pitchFamily="50" charset="-128"/>
                <a:ea typeface="HGPｺﾞｼｯｸE" panose="020B0900000000000000" pitchFamily="50" charset="-128"/>
              </a:endParaRPr>
            </a:p>
          </p:txBody>
        </p:sp>
        <p:sp>
          <p:nvSpPr>
            <p:cNvPr id="32" name="テキスト ボックス 31"/>
            <p:cNvSpPr txBox="1"/>
            <p:nvPr/>
          </p:nvSpPr>
          <p:spPr>
            <a:xfrm>
              <a:off x="9120804" y="5701588"/>
              <a:ext cx="2808185" cy="646331"/>
            </a:xfrm>
            <a:prstGeom prst="rect">
              <a:avLst/>
            </a:prstGeom>
            <a:noFill/>
          </p:spPr>
          <p:txBody>
            <a:bodyPr wrap="square" rtlCol="0">
              <a:spAutoFit/>
            </a:bodyPr>
            <a:lstStyle/>
            <a:p>
              <a:pPr algn="ctr"/>
              <a:r>
                <a:rPr lang="en-US" altLang="ja-JP" sz="3600" dirty="0">
                  <a:latin typeface="HGPｺﾞｼｯｸE" panose="020B0900000000000000" pitchFamily="50" charset="-128"/>
                  <a:ea typeface="HGPｺﾞｼｯｸE" panose="020B0900000000000000" pitchFamily="50" charset="-128"/>
                </a:rPr>
                <a:t>9</a:t>
              </a:r>
              <a:r>
                <a:rPr lang="ja-JP" altLang="en-US" sz="3600" dirty="0">
                  <a:latin typeface="HGPｺﾞｼｯｸE" panose="020B0900000000000000" pitchFamily="50" charset="-128"/>
                  <a:ea typeface="HGPｺﾞｼｯｸE" panose="020B0900000000000000" pitchFamily="50" charset="-128"/>
                </a:rPr>
                <a:t>月</a:t>
              </a:r>
              <a:r>
                <a:rPr lang="en-US" altLang="ja-JP" sz="3600" dirty="0">
                  <a:latin typeface="HGPｺﾞｼｯｸE" panose="020B0900000000000000" pitchFamily="50" charset="-128"/>
                  <a:ea typeface="HGPｺﾞｼｯｸE" panose="020B0900000000000000" pitchFamily="50" charset="-128"/>
                </a:rPr>
                <a:t>30</a:t>
              </a:r>
              <a:r>
                <a:rPr lang="ja-JP" altLang="en-US" sz="3600" dirty="0">
                  <a:latin typeface="HGPｺﾞｼｯｸE" panose="020B0900000000000000" pitchFamily="50" charset="-128"/>
                  <a:ea typeface="HGPｺﾞｼｯｸE" panose="020B0900000000000000" pitchFamily="50" charset="-128"/>
                </a:rPr>
                <a:t>日</a:t>
              </a:r>
              <a:r>
                <a:rPr lang="ja-JP" altLang="en-US" sz="2800" dirty="0">
                  <a:latin typeface="HGPｺﾞｼｯｸE" panose="020B0900000000000000" pitchFamily="50" charset="-128"/>
                  <a:ea typeface="HGPｺﾞｼｯｸE" panose="020B0900000000000000" pitchFamily="50" charset="-128"/>
                </a:rPr>
                <a:t>まで</a:t>
              </a:r>
              <a:r>
                <a:rPr lang="en-US" altLang="ja-JP" sz="2800" dirty="0">
                  <a:latin typeface="HGPｺﾞｼｯｸE" panose="020B0900000000000000" pitchFamily="50" charset="-128"/>
                  <a:ea typeface="HGPｺﾞｼｯｸE" panose="020B0900000000000000" pitchFamily="50" charset="-128"/>
                </a:rPr>
                <a:t>!</a:t>
              </a:r>
              <a:endParaRPr kumimoji="1" lang="ja-JP" altLang="en-US" sz="2800" dirty="0">
                <a:latin typeface="HGPｺﾞｼｯｸE" panose="020B0900000000000000" pitchFamily="50" charset="-128"/>
                <a:ea typeface="HGPｺﾞｼｯｸE" panose="020B0900000000000000" pitchFamily="50" charset="-128"/>
              </a:endParaRPr>
            </a:p>
          </p:txBody>
        </p:sp>
      </p:grpSp>
      <p:sp>
        <p:nvSpPr>
          <p:cNvPr id="33" name="テキスト ボックス 32">
            <a:extLst>
              <a:ext uri="{FF2B5EF4-FFF2-40B4-BE49-F238E27FC236}">
                <a16:creationId xmlns:a16="http://schemas.microsoft.com/office/drawing/2014/main" id="{5AABD168-0E58-4F09-85F2-0984D42FCB04}"/>
              </a:ext>
            </a:extLst>
          </p:cNvPr>
          <p:cNvSpPr txBox="1"/>
          <p:nvPr/>
        </p:nvSpPr>
        <p:spPr>
          <a:xfrm>
            <a:off x="664020" y="136423"/>
            <a:ext cx="5316690" cy="461665"/>
          </a:xfrm>
          <a:prstGeom prst="rect">
            <a:avLst/>
          </a:prstGeom>
          <a:noFill/>
        </p:spPr>
        <p:txBody>
          <a:bodyPr wrap="square" rtlCol="0">
            <a:spAutoFit/>
          </a:bodyPr>
          <a:lstStyle/>
          <a:p>
            <a:r>
              <a:rPr lang="ja-JP" altLang="en-US" sz="2400" dirty="0">
                <a:solidFill>
                  <a:schemeClr val="bg1"/>
                </a:solidFill>
                <a:latin typeface="HGPｺﾞｼｯｸE" panose="020B0900000000000000" pitchFamily="50" charset="-128"/>
                <a:ea typeface="HGPｺﾞｼｯｸE" panose="020B0900000000000000" pitchFamily="50" charset="-128"/>
              </a:rPr>
              <a:t>自己推薦入学をご検討中の方へ</a:t>
            </a:r>
            <a:endParaRPr lang="en-US" altLang="ja-JP" sz="2400" dirty="0">
              <a:solidFill>
                <a:schemeClr val="bg1"/>
              </a:solidFill>
              <a:latin typeface="HGPｺﾞｼｯｸE" panose="020B0900000000000000" pitchFamily="50" charset="-128"/>
              <a:ea typeface="HGPｺﾞｼｯｸE" panose="020B0900000000000000" pitchFamily="50" charset="-128"/>
            </a:endParaRPr>
          </a:p>
        </p:txBody>
      </p:sp>
    </p:spTree>
    <p:extLst>
      <p:ext uri="{BB962C8B-B14F-4D97-AF65-F5344CB8AC3E}">
        <p14:creationId xmlns:p14="http://schemas.microsoft.com/office/powerpoint/2010/main" val="44470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テキスト ボックス 4">
            <a:extLst>
              <a:ext uri="{FF2B5EF4-FFF2-40B4-BE49-F238E27FC236}">
                <a16:creationId xmlns:a16="http://schemas.microsoft.com/office/drawing/2014/main" id="{7252B829-D4E3-4EE5-AACA-08FF2C905DB1}"/>
              </a:ext>
            </a:extLst>
          </p:cNvPr>
          <p:cNvSpPr txBox="1"/>
          <p:nvPr/>
        </p:nvSpPr>
        <p:spPr>
          <a:xfrm>
            <a:off x="3474128" y="2696571"/>
            <a:ext cx="5243743" cy="2277547"/>
          </a:xfrm>
          <a:prstGeom prst="rect">
            <a:avLst/>
          </a:prstGeom>
          <a:noFill/>
        </p:spPr>
        <p:txBody>
          <a:bodyPr wrap="none" rtlCol="0">
            <a:spAutoFit/>
          </a:bodyPr>
          <a:lstStyle/>
          <a:p>
            <a:pPr algn="ctr">
              <a:spcBef>
                <a:spcPts val="1200"/>
              </a:spcBef>
            </a:pPr>
            <a:r>
              <a:rPr lang="ja-JP" altLang="en-US" sz="6600" b="1" dirty="0">
                <a:solidFill>
                  <a:srgbClr val="000066"/>
                </a:solidFill>
                <a:latin typeface="HGPｺﾞｼｯｸE" panose="020B0900000000000000" pitchFamily="50" charset="-128"/>
                <a:ea typeface="HGPｺﾞｼｯｸE" panose="020B0900000000000000" pitchFamily="50" charset="-128"/>
              </a:rPr>
              <a:t>よくあるＱ＆Ａ</a:t>
            </a:r>
            <a:endParaRPr lang="en-US" altLang="ja-JP" sz="6600" b="1" dirty="0">
              <a:solidFill>
                <a:srgbClr val="000066"/>
              </a:solidFill>
              <a:latin typeface="HGPｺﾞｼｯｸE" panose="020B0900000000000000" pitchFamily="50" charset="-128"/>
              <a:ea typeface="HGPｺﾞｼｯｸE" panose="020B0900000000000000" pitchFamily="50" charset="-128"/>
            </a:endParaRPr>
          </a:p>
          <a:p>
            <a:pPr algn="ctr">
              <a:spcBef>
                <a:spcPts val="1200"/>
              </a:spcBef>
            </a:pPr>
            <a:r>
              <a:rPr lang="ja-JP" altLang="en-US" sz="6600" b="1" dirty="0">
                <a:solidFill>
                  <a:srgbClr val="000066"/>
                </a:solidFill>
                <a:latin typeface="HGPｺﾞｼｯｸE" panose="020B0900000000000000" pitchFamily="50" charset="-128"/>
                <a:ea typeface="HGPｺﾞｼｯｸE" panose="020B0900000000000000" pitchFamily="50" charset="-128"/>
              </a:rPr>
              <a:t>個別質問会</a:t>
            </a:r>
            <a:endParaRPr lang="en-US" altLang="ja-JP" sz="6600" b="1" dirty="0">
              <a:solidFill>
                <a:srgbClr val="000066"/>
              </a:solidFill>
              <a:latin typeface="HGPｺﾞｼｯｸE" panose="020B0900000000000000" pitchFamily="50" charset="-128"/>
              <a:ea typeface="HGPｺﾞｼｯｸE" panose="020B0900000000000000" pitchFamily="50" charset="-128"/>
            </a:endParaRPr>
          </a:p>
        </p:txBody>
      </p:sp>
    </p:spTree>
    <p:extLst>
      <p:ext uri="{BB962C8B-B14F-4D97-AF65-F5344CB8AC3E}">
        <p14:creationId xmlns:p14="http://schemas.microsoft.com/office/powerpoint/2010/main" val="4168257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rotWithShape="1">
          <a:blip r:embed="rId3">
            <a:extLst>
              <a:ext uri="{28A0092B-C50C-407E-A947-70E740481C1C}">
                <a14:useLocalDpi xmlns:a14="http://schemas.microsoft.com/office/drawing/2010/main" val="0"/>
              </a:ext>
            </a:extLst>
          </a:blip>
          <a:srcRect b="25026"/>
          <a:stretch/>
        </p:blipFill>
        <p:spPr>
          <a:xfrm>
            <a:off x="-1" y="0"/>
            <a:ext cx="12192000" cy="6858000"/>
          </a:xfrm>
          <a:prstGeom prst="rect">
            <a:avLst/>
          </a:prstGeom>
        </p:spPr>
      </p:pic>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3004" y="64230"/>
            <a:ext cx="4940758" cy="533858"/>
          </a:xfrm>
          <a:prstGeom prst="rect">
            <a:avLst/>
          </a:prstGeom>
        </p:spPr>
      </p:pic>
      <p:sp>
        <p:nvSpPr>
          <p:cNvPr id="11" name="テキスト ボックス 10"/>
          <p:cNvSpPr txBox="1"/>
          <p:nvPr/>
        </p:nvSpPr>
        <p:spPr>
          <a:xfrm>
            <a:off x="1818180" y="136423"/>
            <a:ext cx="1107996" cy="461665"/>
          </a:xfrm>
          <a:prstGeom prst="rect">
            <a:avLst/>
          </a:prstGeom>
          <a:noFill/>
        </p:spPr>
        <p:txBody>
          <a:bodyPr wrap="none" rtlCol="0">
            <a:spAutoFit/>
          </a:bodyPr>
          <a:lstStyle/>
          <a:p>
            <a:pPr algn="ctr"/>
            <a:r>
              <a:rPr lang="ja-JP" altLang="en-US" sz="2400" b="1" dirty="0">
                <a:solidFill>
                  <a:schemeClr val="bg1"/>
                </a:solidFill>
                <a:latin typeface="HGPｺﾞｼｯｸE" panose="020B0900000000000000" pitchFamily="50" charset="-128"/>
                <a:ea typeface="HGPｺﾞｼｯｸE" panose="020B0900000000000000" pitchFamily="50" charset="-128"/>
              </a:rPr>
              <a:t>その他</a:t>
            </a:r>
          </a:p>
        </p:txBody>
      </p:sp>
      <p:sp>
        <p:nvSpPr>
          <p:cNvPr id="7" name="正方形/長方形 6"/>
          <p:cNvSpPr/>
          <p:nvPr/>
        </p:nvSpPr>
        <p:spPr>
          <a:xfrm>
            <a:off x="633046" y="734511"/>
            <a:ext cx="11456377" cy="5940088"/>
          </a:xfrm>
          <a:prstGeom prst="rect">
            <a:avLst/>
          </a:prstGeom>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2000" dirty="0">
                <a:solidFill>
                  <a:srgbClr val="FF0000"/>
                </a:solidFill>
                <a:latin typeface="HGPｺﾞｼｯｸE" panose="020B0900000000000000" pitchFamily="50" charset="-128"/>
                <a:ea typeface="HGPｺﾞｼｯｸE" panose="020B0900000000000000" pitchFamily="50" charset="-128"/>
              </a:rPr>
              <a:t>よくある</a:t>
            </a:r>
            <a:r>
              <a:rPr lang="en-US" altLang="ja-JP" sz="2000" dirty="0">
                <a:solidFill>
                  <a:srgbClr val="FF0000"/>
                </a:solidFill>
                <a:latin typeface="HGPｺﾞｼｯｸE" panose="020B0900000000000000" pitchFamily="50" charset="-128"/>
                <a:ea typeface="HGPｺﾞｼｯｸE" panose="020B0900000000000000" pitchFamily="50" charset="-128"/>
              </a:rPr>
              <a:t>Q&amp;A</a:t>
            </a:r>
          </a:p>
          <a:p>
            <a:r>
              <a:rPr lang="ja-JP" altLang="en-US" sz="2000" dirty="0">
                <a:latin typeface="HGPｺﾞｼｯｸE" panose="020B0900000000000000" pitchFamily="50" charset="-128"/>
                <a:ea typeface="HGPｺﾞｼｯｸE" panose="020B0900000000000000" pitchFamily="50" charset="-128"/>
              </a:rPr>
              <a:t>■</a:t>
            </a:r>
            <a:r>
              <a:rPr lang="en-US" altLang="ja-JP" sz="2000" dirty="0">
                <a:latin typeface="HGPｺﾞｼｯｸE" panose="020B0900000000000000" pitchFamily="50" charset="-128"/>
                <a:ea typeface="HGPｺﾞｼｯｸE" panose="020B0900000000000000" pitchFamily="50" charset="-128"/>
              </a:rPr>
              <a:t>Q</a:t>
            </a:r>
            <a:r>
              <a:rPr lang="ja-JP" altLang="en-US" sz="2000" dirty="0" err="1">
                <a:latin typeface="HGPｺﾞｼｯｸE" panose="020B0900000000000000" pitchFamily="50" charset="-128"/>
                <a:ea typeface="HGPｺﾞｼｯｸE" panose="020B0900000000000000" pitchFamily="50" charset="-128"/>
              </a:rPr>
              <a:t>．</a:t>
            </a:r>
            <a:r>
              <a:rPr lang="ja-JP" altLang="en-US" sz="2000" dirty="0">
                <a:latin typeface="HGPｺﾞｼｯｸE" panose="020B0900000000000000" pitchFamily="50" charset="-128"/>
                <a:ea typeface="HGPｺﾞｼｯｸE" panose="020B0900000000000000" pitchFamily="50" charset="-128"/>
              </a:rPr>
              <a:t>初心者でも授業についていけますか？</a:t>
            </a:r>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　　　　</a:t>
            </a:r>
            <a:r>
              <a:rPr lang="en-US" altLang="ja-JP" sz="2000" dirty="0">
                <a:solidFill>
                  <a:srgbClr val="0000FF"/>
                </a:solidFill>
                <a:latin typeface="HGPｺﾞｼｯｸE" panose="020B0900000000000000" pitchFamily="50" charset="-128"/>
                <a:ea typeface="HGPｺﾞｼｯｸE" panose="020B0900000000000000" pitchFamily="50" charset="-128"/>
              </a:rPr>
              <a:t>A</a:t>
            </a:r>
            <a:r>
              <a:rPr lang="ja-JP" altLang="en-US" sz="2000" dirty="0" err="1">
                <a:solidFill>
                  <a:srgbClr val="0000FF"/>
                </a:solidFill>
                <a:latin typeface="HGPｺﾞｼｯｸE" panose="020B0900000000000000" pitchFamily="50" charset="-128"/>
                <a:ea typeface="HGPｺﾞｼｯｸE" panose="020B0900000000000000" pitchFamily="50" charset="-128"/>
              </a:rPr>
              <a:t>．</a:t>
            </a:r>
            <a:r>
              <a:rPr lang="ja-JP" altLang="en-US" sz="2000" dirty="0">
                <a:solidFill>
                  <a:srgbClr val="0000FF"/>
                </a:solidFill>
                <a:latin typeface="HGPｺﾞｼｯｸE" panose="020B0900000000000000" pitchFamily="50" charset="-128"/>
                <a:ea typeface="HGPｺﾞｼｯｸE" panose="020B0900000000000000" pitchFamily="50" charset="-128"/>
              </a:rPr>
              <a:t>初心者でも基礎から分かるように授業が行われます。</a:t>
            </a:r>
            <a:endParaRPr lang="en-US" altLang="ja-JP" sz="2000" dirty="0">
              <a:solidFill>
                <a:srgbClr val="0000FF"/>
              </a:solidFill>
              <a:latin typeface="HGPｺﾞｼｯｸE" panose="020B0900000000000000" pitchFamily="50" charset="-128"/>
              <a:ea typeface="HGPｺﾞｼｯｸE" panose="020B0900000000000000" pitchFamily="50" charset="-128"/>
            </a:endParaRPr>
          </a:p>
          <a:p>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a:t>
            </a:r>
            <a:r>
              <a:rPr lang="en-US" altLang="ja-JP" sz="2000" dirty="0">
                <a:latin typeface="HGPｺﾞｼｯｸE" panose="020B0900000000000000" pitchFamily="50" charset="-128"/>
                <a:ea typeface="HGPｺﾞｼｯｸE" panose="020B0900000000000000" pitchFamily="50" charset="-128"/>
              </a:rPr>
              <a:t>Q</a:t>
            </a:r>
            <a:r>
              <a:rPr lang="ja-JP" altLang="en-US" sz="2000" dirty="0" err="1">
                <a:latin typeface="HGPｺﾞｼｯｸE" panose="020B0900000000000000" pitchFamily="50" charset="-128"/>
                <a:ea typeface="HGPｺﾞｼｯｸE" panose="020B0900000000000000" pitchFamily="50" charset="-128"/>
              </a:rPr>
              <a:t>．</a:t>
            </a:r>
            <a:r>
              <a:rPr lang="ja-JP" altLang="en-US" sz="2000" dirty="0">
                <a:latin typeface="HGPｺﾞｼｯｸE" panose="020B0900000000000000" pitchFamily="50" charset="-128"/>
                <a:ea typeface="HGPｺﾞｼｯｸE" panose="020B0900000000000000" pitchFamily="50" charset="-128"/>
              </a:rPr>
              <a:t>学校を欠席したらどうなりますか？</a:t>
            </a:r>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　　　　</a:t>
            </a:r>
            <a:r>
              <a:rPr lang="en-US" altLang="ja-JP" sz="2000" dirty="0">
                <a:solidFill>
                  <a:srgbClr val="0000FF"/>
                </a:solidFill>
                <a:latin typeface="HGPｺﾞｼｯｸE" panose="020B0900000000000000" pitchFamily="50" charset="-128"/>
                <a:ea typeface="HGPｺﾞｼｯｸE" panose="020B0900000000000000" pitchFamily="50" charset="-128"/>
              </a:rPr>
              <a:t>A</a:t>
            </a:r>
            <a:r>
              <a:rPr lang="ja-JP" altLang="en-US" sz="2000" dirty="0" err="1">
                <a:solidFill>
                  <a:srgbClr val="0000FF"/>
                </a:solidFill>
                <a:latin typeface="HGPｺﾞｼｯｸE" panose="020B0900000000000000" pitchFamily="50" charset="-128"/>
                <a:ea typeface="HGPｺﾞｼｯｸE" panose="020B0900000000000000" pitchFamily="50" charset="-128"/>
              </a:rPr>
              <a:t>．</a:t>
            </a:r>
            <a:r>
              <a:rPr lang="ja-JP" altLang="en-US" sz="2000" dirty="0">
                <a:solidFill>
                  <a:srgbClr val="0000FF"/>
                </a:solidFill>
                <a:latin typeface="HGPｺﾞｼｯｸE" panose="020B0900000000000000" pitchFamily="50" charset="-128"/>
                <a:ea typeface="HGPｺﾞｼｯｸE" panose="020B0900000000000000" pitchFamily="50" charset="-128"/>
              </a:rPr>
              <a:t>授業についていけなくなる可能性が高まるためお勧めしません。</a:t>
            </a:r>
            <a:endParaRPr lang="en-US" altLang="ja-JP" sz="2000" dirty="0">
              <a:solidFill>
                <a:srgbClr val="0000FF"/>
              </a:solidFill>
              <a:latin typeface="HGPｺﾞｼｯｸE" panose="020B0900000000000000" pitchFamily="50" charset="-128"/>
              <a:ea typeface="HGPｺﾞｼｯｸE" panose="020B0900000000000000" pitchFamily="50" charset="-128"/>
            </a:endParaRPr>
          </a:p>
          <a:p>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a:t>
            </a:r>
            <a:r>
              <a:rPr lang="en-US" altLang="ja-JP" sz="2000" dirty="0">
                <a:latin typeface="HGPｺﾞｼｯｸE" panose="020B0900000000000000" pitchFamily="50" charset="-128"/>
                <a:ea typeface="HGPｺﾞｼｯｸE" panose="020B0900000000000000" pitchFamily="50" charset="-128"/>
              </a:rPr>
              <a:t>Q</a:t>
            </a:r>
            <a:r>
              <a:rPr lang="ja-JP" altLang="en-US" sz="2000" dirty="0" err="1">
                <a:latin typeface="HGPｺﾞｼｯｸE" panose="020B0900000000000000" pitchFamily="50" charset="-128"/>
                <a:ea typeface="HGPｺﾞｼｯｸE" panose="020B0900000000000000" pitchFamily="50" charset="-128"/>
              </a:rPr>
              <a:t>．</a:t>
            </a:r>
            <a:r>
              <a:rPr lang="ja-JP" altLang="en-US" sz="2000" dirty="0">
                <a:latin typeface="HGPｺﾞｼｯｸE" panose="020B0900000000000000" pitchFamily="50" charset="-128"/>
                <a:ea typeface="HGPｺﾞｼｯｸE" panose="020B0900000000000000" pitchFamily="50" charset="-128"/>
              </a:rPr>
              <a:t>コロナ感染など致し方ない欠席の場合はどうなりますか？</a:t>
            </a:r>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　　　　</a:t>
            </a:r>
            <a:r>
              <a:rPr lang="en-US" altLang="ja-JP" sz="2000" dirty="0">
                <a:solidFill>
                  <a:srgbClr val="0000FF"/>
                </a:solidFill>
                <a:latin typeface="HGPｺﾞｼｯｸE" panose="020B0900000000000000" pitchFamily="50" charset="-128"/>
                <a:ea typeface="HGPｺﾞｼｯｸE" panose="020B0900000000000000" pitchFamily="50" charset="-128"/>
              </a:rPr>
              <a:t>A</a:t>
            </a:r>
            <a:r>
              <a:rPr lang="ja-JP" altLang="en-US" sz="2000" dirty="0" err="1">
                <a:solidFill>
                  <a:srgbClr val="0000FF"/>
                </a:solidFill>
                <a:latin typeface="HGPｺﾞｼｯｸE" panose="020B0900000000000000" pitchFamily="50" charset="-128"/>
                <a:ea typeface="HGPｺﾞｼｯｸE" panose="020B0900000000000000" pitchFamily="50" charset="-128"/>
              </a:rPr>
              <a:t>．</a:t>
            </a:r>
            <a:r>
              <a:rPr lang="ja-JP" altLang="en-US" sz="2000" dirty="0">
                <a:solidFill>
                  <a:srgbClr val="0000FF"/>
                </a:solidFill>
                <a:latin typeface="HGPｺﾞｼｯｸE" panose="020B0900000000000000" pitchFamily="50" charset="-128"/>
                <a:ea typeface="HGPｺﾞｼｯｸE" panose="020B0900000000000000" pitchFamily="50" charset="-128"/>
              </a:rPr>
              <a:t>コロナなどの感染症や忌引などで欠席せざるをえない場合は</a:t>
            </a:r>
            <a:endParaRPr lang="en-US" altLang="ja-JP" sz="2000" dirty="0">
              <a:solidFill>
                <a:srgbClr val="0000FF"/>
              </a:solidFill>
              <a:latin typeface="HGPｺﾞｼｯｸE" panose="020B0900000000000000" pitchFamily="50" charset="-128"/>
              <a:ea typeface="HGPｺﾞｼｯｸE" panose="020B0900000000000000" pitchFamily="50" charset="-128"/>
            </a:endParaRPr>
          </a:p>
          <a:p>
            <a:r>
              <a:rPr lang="ja-JP" altLang="en-US" sz="2000" dirty="0">
                <a:solidFill>
                  <a:srgbClr val="0000FF"/>
                </a:solidFill>
                <a:latin typeface="HGPｺﾞｼｯｸE" panose="020B0900000000000000" pitchFamily="50" charset="-128"/>
                <a:ea typeface="HGPｺﾞｼｯｸE" panose="020B0900000000000000" pitchFamily="50" charset="-128"/>
              </a:rPr>
              <a:t>　　　　　　通常授業後（放課後）に補講にて欠席分の授業を行うケースがあります。</a:t>
            </a:r>
            <a:endParaRPr lang="en-US" altLang="ja-JP" sz="2000" dirty="0">
              <a:solidFill>
                <a:srgbClr val="0000FF"/>
              </a:solidFill>
              <a:latin typeface="HGPｺﾞｼｯｸE" panose="020B0900000000000000" pitchFamily="50" charset="-128"/>
              <a:ea typeface="HGPｺﾞｼｯｸE" panose="020B0900000000000000" pitchFamily="50" charset="-128"/>
            </a:endParaRPr>
          </a:p>
          <a:p>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a:t>
            </a:r>
            <a:r>
              <a:rPr lang="en-US" altLang="ja-JP" sz="2000" dirty="0">
                <a:latin typeface="HGPｺﾞｼｯｸE" panose="020B0900000000000000" pitchFamily="50" charset="-128"/>
                <a:ea typeface="HGPｺﾞｼｯｸE" panose="020B0900000000000000" pitchFamily="50" charset="-128"/>
              </a:rPr>
              <a:t>Q</a:t>
            </a:r>
            <a:r>
              <a:rPr lang="ja-JP" altLang="en-US" sz="2000" dirty="0" err="1">
                <a:latin typeface="HGPｺﾞｼｯｸE" panose="020B0900000000000000" pitchFamily="50" charset="-128"/>
                <a:ea typeface="HGPｺﾞｼｯｸE" panose="020B0900000000000000" pitchFamily="50" charset="-128"/>
              </a:rPr>
              <a:t>．</a:t>
            </a:r>
            <a:r>
              <a:rPr lang="ja-JP" altLang="en-US" sz="2000" dirty="0">
                <a:latin typeface="HGPｺﾞｼｯｸE" panose="020B0900000000000000" pitchFamily="50" charset="-128"/>
                <a:ea typeface="HGPｺﾞｼｯｸE" panose="020B0900000000000000" pitchFamily="50" charset="-128"/>
              </a:rPr>
              <a:t>アルバイトは出来ますか？</a:t>
            </a:r>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　　　　</a:t>
            </a:r>
            <a:r>
              <a:rPr lang="en-US" altLang="ja-JP" sz="2000" dirty="0">
                <a:solidFill>
                  <a:srgbClr val="0000FF"/>
                </a:solidFill>
                <a:latin typeface="HGPｺﾞｼｯｸE" panose="020B0900000000000000" pitchFamily="50" charset="-128"/>
                <a:ea typeface="HGPｺﾞｼｯｸE" panose="020B0900000000000000" pitchFamily="50" charset="-128"/>
              </a:rPr>
              <a:t>A</a:t>
            </a:r>
            <a:r>
              <a:rPr lang="ja-JP" altLang="en-US" sz="2000" dirty="0" err="1">
                <a:solidFill>
                  <a:srgbClr val="0000FF"/>
                </a:solidFill>
                <a:latin typeface="HGPｺﾞｼｯｸE" panose="020B0900000000000000" pitchFamily="50" charset="-128"/>
                <a:ea typeface="HGPｺﾞｼｯｸE" panose="020B0900000000000000" pitchFamily="50" charset="-128"/>
              </a:rPr>
              <a:t>．</a:t>
            </a:r>
            <a:r>
              <a:rPr lang="ja-JP" altLang="en-US" sz="2000" dirty="0">
                <a:solidFill>
                  <a:srgbClr val="0000FF"/>
                </a:solidFill>
                <a:latin typeface="HGPｺﾞｼｯｸE" panose="020B0900000000000000" pitchFamily="50" charset="-128"/>
                <a:ea typeface="HGPｺﾞｼｯｸE" panose="020B0900000000000000" pitchFamily="50" charset="-128"/>
              </a:rPr>
              <a:t>授業の理解度に問題がなければアルバイトする時間も確保可能です。</a:t>
            </a:r>
            <a:endParaRPr lang="en-US" altLang="ja-JP" sz="2000" dirty="0">
              <a:solidFill>
                <a:srgbClr val="0000FF"/>
              </a:solidFill>
              <a:latin typeface="HGPｺﾞｼｯｸE" panose="020B0900000000000000" pitchFamily="50" charset="-128"/>
              <a:ea typeface="HGPｺﾞｼｯｸE" panose="020B0900000000000000" pitchFamily="50" charset="-128"/>
            </a:endParaRPr>
          </a:p>
          <a:p>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a:t>
            </a:r>
            <a:r>
              <a:rPr lang="en-US" altLang="ja-JP" sz="2000" dirty="0">
                <a:latin typeface="HGPｺﾞｼｯｸE" panose="020B0900000000000000" pitchFamily="50" charset="-128"/>
                <a:ea typeface="HGPｺﾞｼｯｸE" panose="020B0900000000000000" pitchFamily="50" charset="-128"/>
              </a:rPr>
              <a:t>Q</a:t>
            </a:r>
            <a:r>
              <a:rPr lang="ja-JP" altLang="en-US" sz="2000" dirty="0" err="1">
                <a:latin typeface="HGPｺﾞｼｯｸE" panose="020B0900000000000000" pitchFamily="50" charset="-128"/>
                <a:ea typeface="HGPｺﾞｼｯｸE" panose="020B0900000000000000" pitchFamily="50" charset="-128"/>
              </a:rPr>
              <a:t>．</a:t>
            </a:r>
            <a:r>
              <a:rPr lang="ja-JP" altLang="en-US" sz="2000" dirty="0">
                <a:latin typeface="HGPｺﾞｼｯｸE" panose="020B0900000000000000" pitchFamily="50" charset="-128"/>
                <a:ea typeface="HGPｺﾞｼｯｸE" panose="020B0900000000000000" pitchFamily="50" charset="-128"/>
              </a:rPr>
              <a:t>自転車通学は可能ですか？</a:t>
            </a:r>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　　　　</a:t>
            </a:r>
            <a:r>
              <a:rPr lang="en-US" altLang="ja-JP" sz="2000" dirty="0">
                <a:solidFill>
                  <a:srgbClr val="0000FF"/>
                </a:solidFill>
                <a:latin typeface="HGPｺﾞｼｯｸE" panose="020B0900000000000000" pitchFamily="50" charset="-128"/>
                <a:ea typeface="HGPｺﾞｼｯｸE" panose="020B0900000000000000" pitchFamily="50" charset="-128"/>
              </a:rPr>
              <a:t>A</a:t>
            </a:r>
            <a:r>
              <a:rPr lang="ja-JP" altLang="en-US" sz="2000" dirty="0" err="1">
                <a:solidFill>
                  <a:srgbClr val="0000FF"/>
                </a:solidFill>
                <a:latin typeface="HGPｺﾞｼｯｸE" panose="020B0900000000000000" pitchFamily="50" charset="-128"/>
                <a:ea typeface="HGPｺﾞｼｯｸE" panose="020B0900000000000000" pitchFamily="50" charset="-128"/>
              </a:rPr>
              <a:t>．</a:t>
            </a:r>
            <a:r>
              <a:rPr lang="ja-JP" altLang="en-US" sz="2000" dirty="0">
                <a:solidFill>
                  <a:srgbClr val="0000FF"/>
                </a:solidFill>
                <a:latin typeface="HGPｺﾞｼｯｸE" panose="020B0900000000000000" pitchFamily="50" charset="-128"/>
                <a:ea typeface="HGPｺﾞｼｯｸE" panose="020B0900000000000000" pitchFamily="50" charset="-128"/>
              </a:rPr>
              <a:t>一定の条件に該当した場合は可能です。自宅からの距離、保険、ヘルメット着用など</a:t>
            </a:r>
            <a:endParaRPr lang="en-US" altLang="ja-JP" sz="2000" dirty="0">
              <a:solidFill>
                <a:srgbClr val="0000FF"/>
              </a:solidFill>
              <a:latin typeface="HGPｺﾞｼｯｸE" panose="020B0900000000000000" pitchFamily="50" charset="-128"/>
              <a:ea typeface="HGPｺﾞｼｯｸE" panose="020B0900000000000000" pitchFamily="50" charset="-128"/>
            </a:endParaRPr>
          </a:p>
          <a:p>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a:t>
            </a:r>
            <a:r>
              <a:rPr lang="en-US" altLang="ja-JP" sz="2000" dirty="0">
                <a:latin typeface="HGPｺﾞｼｯｸE" panose="020B0900000000000000" pitchFamily="50" charset="-128"/>
                <a:ea typeface="HGPｺﾞｼｯｸE" panose="020B0900000000000000" pitchFamily="50" charset="-128"/>
              </a:rPr>
              <a:t>Q</a:t>
            </a:r>
            <a:r>
              <a:rPr lang="ja-JP" altLang="en-US" sz="2000" dirty="0" err="1">
                <a:latin typeface="HGPｺﾞｼｯｸE" panose="020B0900000000000000" pitchFamily="50" charset="-128"/>
                <a:ea typeface="HGPｺﾞｼｯｸE" panose="020B0900000000000000" pitchFamily="50" charset="-128"/>
              </a:rPr>
              <a:t>．</a:t>
            </a:r>
            <a:r>
              <a:rPr lang="ja-JP" altLang="en-US" sz="2000" dirty="0">
                <a:latin typeface="HGPｺﾞｼｯｸE" panose="020B0900000000000000" pitchFamily="50" charset="-128"/>
                <a:ea typeface="HGPｺﾞｼｯｸE" panose="020B0900000000000000" pitchFamily="50" charset="-128"/>
              </a:rPr>
              <a:t>バイクや車での通学は可能ですか？</a:t>
            </a:r>
            <a:endParaRPr lang="en-US" altLang="ja-JP" sz="2000" dirty="0">
              <a:latin typeface="HGPｺﾞｼｯｸE" panose="020B0900000000000000" pitchFamily="50" charset="-128"/>
              <a:ea typeface="HGPｺﾞｼｯｸE" panose="020B0900000000000000" pitchFamily="50" charset="-128"/>
            </a:endParaRPr>
          </a:p>
          <a:p>
            <a:r>
              <a:rPr lang="ja-JP" altLang="en-US" sz="2000" dirty="0">
                <a:latin typeface="HGPｺﾞｼｯｸE" panose="020B0900000000000000" pitchFamily="50" charset="-128"/>
                <a:ea typeface="HGPｺﾞｼｯｸE" panose="020B0900000000000000" pitchFamily="50" charset="-128"/>
              </a:rPr>
              <a:t>　　　　</a:t>
            </a:r>
            <a:r>
              <a:rPr lang="en-US" altLang="ja-JP" sz="2000" dirty="0">
                <a:solidFill>
                  <a:srgbClr val="0000FF"/>
                </a:solidFill>
                <a:latin typeface="HGPｺﾞｼｯｸE" panose="020B0900000000000000" pitchFamily="50" charset="-128"/>
                <a:ea typeface="HGPｺﾞｼｯｸE" panose="020B0900000000000000" pitchFamily="50" charset="-128"/>
              </a:rPr>
              <a:t>A</a:t>
            </a:r>
            <a:r>
              <a:rPr lang="ja-JP" altLang="en-US" sz="2000" dirty="0" err="1">
                <a:solidFill>
                  <a:srgbClr val="0000FF"/>
                </a:solidFill>
                <a:latin typeface="HGPｺﾞｼｯｸE" panose="020B0900000000000000" pitchFamily="50" charset="-128"/>
                <a:ea typeface="HGPｺﾞｼｯｸE" panose="020B0900000000000000" pitchFamily="50" charset="-128"/>
              </a:rPr>
              <a:t>．</a:t>
            </a:r>
            <a:r>
              <a:rPr lang="ja-JP" altLang="en-US" sz="2000" dirty="0">
                <a:solidFill>
                  <a:srgbClr val="0000FF"/>
                </a:solidFill>
                <a:latin typeface="HGPｺﾞｼｯｸE" panose="020B0900000000000000" pitchFamily="50" charset="-128"/>
                <a:ea typeface="HGPｺﾞｼｯｸE" panose="020B0900000000000000" pitchFamily="50" charset="-128"/>
              </a:rPr>
              <a:t>一律禁止とさせていただいています。</a:t>
            </a:r>
          </a:p>
        </p:txBody>
      </p:sp>
    </p:spTree>
    <p:extLst>
      <p:ext uri="{BB962C8B-B14F-4D97-AF65-F5344CB8AC3E}">
        <p14:creationId xmlns:p14="http://schemas.microsoft.com/office/powerpoint/2010/main" val="1376219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4055951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1735</Words>
  <Application>Microsoft Office PowerPoint</Application>
  <PresentationFormat>ワイド画面</PresentationFormat>
  <Paragraphs>314</Paragraphs>
  <Slides>27</Slides>
  <Notes>22</Notes>
  <HiddenSlides>1</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27</vt:i4>
      </vt:variant>
    </vt:vector>
  </HeadingPairs>
  <TitlesOfParts>
    <vt:vector size="40" baseType="lpstr">
      <vt:lpstr>游ゴシック Light</vt:lpstr>
      <vt:lpstr>Arial</vt:lpstr>
      <vt:lpstr>Arial Black</vt:lpstr>
      <vt:lpstr>BIZ UDPゴシック</vt:lpstr>
      <vt:lpstr>Dotum</vt:lpstr>
      <vt:lpstr>Gadugi</vt:lpstr>
      <vt:lpstr>HGPｺﾞｼｯｸE</vt:lpstr>
      <vt:lpstr>HGP創英角ｺﾞｼｯｸUB</vt:lpstr>
      <vt:lpstr>Tahoma</vt:lpstr>
      <vt:lpstr>Wingdings</vt:lpstr>
      <vt:lpstr>メイリオ</vt:lpstr>
      <vt:lpstr>游ゴシック</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内藤 真広</dc:creator>
  <cp:lastModifiedBy>内藤 真広</cp:lastModifiedBy>
  <cp:revision>56</cp:revision>
  <dcterms:created xsi:type="dcterms:W3CDTF">2025-11-10T01:16:27Z</dcterms:created>
  <dcterms:modified xsi:type="dcterms:W3CDTF">2025-11-10T02:03:48Z</dcterms:modified>
</cp:coreProperties>
</file>