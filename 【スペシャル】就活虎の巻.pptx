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6" r:id="rId4"/>
  </p:sldMasterIdLst>
  <p:notesMasterIdLst>
    <p:notesMasterId r:id="rId20"/>
  </p:notesMasterIdLst>
  <p:handoutMasterIdLst>
    <p:handoutMasterId r:id="rId21"/>
  </p:handoutMasterIdLst>
  <p:sldIdLst>
    <p:sldId id="548" r:id="rId5"/>
    <p:sldId id="406" r:id="rId6"/>
    <p:sldId id="567" r:id="rId7"/>
    <p:sldId id="593" r:id="rId8"/>
    <p:sldId id="594" r:id="rId9"/>
    <p:sldId id="569" r:id="rId10"/>
    <p:sldId id="570" r:id="rId11"/>
    <p:sldId id="571" r:id="rId12"/>
    <p:sldId id="577" r:id="rId13"/>
    <p:sldId id="595" r:id="rId14"/>
    <p:sldId id="572" r:id="rId15"/>
    <p:sldId id="582" r:id="rId16"/>
    <p:sldId id="592" r:id="rId17"/>
    <p:sldId id="588" r:id="rId18"/>
    <p:sldId id="590" r:id="rId19"/>
  </p:sldIdLst>
  <p:sldSz cx="12192000" cy="6858000"/>
  <p:notesSz cx="7104063" cy="10234613"/>
  <p:embeddedFontLst>
    <p:embeddedFont>
      <p:font typeface="Arial Black" panose="020B0A04020102020204" pitchFamily="34" charset="0"/>
      <p:bold r:id="rId22"/>
    </p:embeddedFont>
    <p:embeddedFont>
      <p:font typeface="BIZ UDPゴシック" panose="020B0400000000000000" pitchFamily="50" charset="-128"/>
      <p:regular r:id="rId23"/>
      <p:bold r:id="rId24"/>
    </p:embeddedFont>
    <p:embeddedFont>
      <p:font typeface="HGP創英角ｺﾞｼｯｸUB" panose="020B0900000000000000" pitchFamily="50" charset="-128"/>
      <p:regular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7469" userDrawn="1">
          <p15:clr>
            <a:srgbClr val="A4A3A4"/>
          </p15:clr>
        </p15:guide>
        <p15:guide id="7" orient="horz" pos="2564" userDrawn="1">
          <p15:clr>
            <a:srgbClr val="A4A3A4"/>
          </p15:clr>
        </p15:guide>
        <p15:guide id="8" pos="3840" userDrawn="1">
          <p15:clr>
            <a:srgbClr val="A4A3A4"/>
          </p15:clr>
        </p15:guide>
      </p15:sldGuideLst>
    </p:ext>
    <p:ext uri="{2D200454-40CA-4A62-9FC3-DE9A4176ACB9}">
      <p15:notesGuideLst xmlns:p15="http://schemas.microsoft.com/office/powerpoint/2012/main">
        <p15:guide id="1" orient="horz" pos="3225"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DA04"/>
    <a:srgbClr val="FFFFFF"/>
    <a:srgbClr val="D6F329"/>
    <a:srgbClr val="FC8CAC"/>
    <a:srgbClr val="18DA79"/>
    <a:srgbClr val="F69800"/>
    <a:srgbClr val="002D68"/>
    <a:srgbClr val="06ECA5"/>
    <a:srgbClr val="F9F07B"/>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3367" autoAdjust="0"/>
  </p:normalViewPr>
  <p:slideViewPr>
    <p:cSldViewPr snapToGrid="0" showGuides="1">
      <p:cViewPr varScale="1">
        <p:scale>
          <a:sx n="88" d="100"/>
          <a:sy n="88" d="100"/>
        </p:scale>
        <p:origin x="138" y="678"/>
      </p:cViewPr>
      <p:guideLst>
        <p:guide pos="7469"/>
        <p:guide orient="horz" pos="2564"/>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howGuides="1">
      <p:cViewPr varScale="1">
        <p:scale>
          <a:sx n="82" d="100"/>
          <a:sy n="82" d="100"/>
        </p:scale>
        <p:origin x="3984" y="96"/>
      </p:cViewPr>
      <p:guideLst>
        <p:guide orient="horz" pos="3225"/>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13293439249696E-3"/>
          <c:y val="7.8275031959736632E-2"/>
          <c:w val="0.77878391588669249"/>
          <c:h val="0.85649577474048288"/>
        </c:manualLayout>
      </c:layout>
      <c:barChart>
        <c:barDir val="col"/>
        <c:grouping val="percentStacked"/>
        <c:varyColors val="0"/>
        <c:ser>
          <c:idx val="0"/>
          <c:order val="0"/>
          <c:tx>
            <c:strRef>
              <c:f>Sheet1!$B$1</c:f>
              <c:strCache>
                <c:ptCount val="1"/>
                <c:pt idx="0">
                  <c:v>系列 1</c:v>
                </c:pt>
              </c:strCache>
            </c:strRef>
          </c:tx>
          <c:spPr>
            <a:solidFill>
              <a:schemeClr val="accent1"/>
            </a:solidFill>
            <a:ln>
              <a:noFill/>
            </a:ln>
            <a:effectLst/>
          </c:spPr>
          <c:invertIfNegative val="0"/>
          <c:cat>
            <c:strRef>
              <c:f>Sheet1!$A$2:$A$4</c:f>
              <c:strCache>
                <c:ptCount val="3"/>
                <c:pt idx="0">
                  <c:v>カテゴリ 1</c:v>
                </c:pt>
                <c:pt idx="1">
                  <c:v>カテゴリ 2</c:v>
                </c:pt>
                <c:pt idx="2">
                  <c:v>カテゴリ 3</c:v>
                </c:pt>
              </c:strCache>
            </c:strRef>
          </c:cat>
          <c:val>
            <c:numRef>
              <c:f>Sheet1!$B$2:$B$4</c:f>
              <c:numCache>
                <c:formatCode>General</c:formatCode>
                <c:ptCount val="3"/>
                <c:pt idx="0">
                  <c:v>7</c:v>
                </c:pt>
                <c:pt idx="1">
                  <c:v>45</c:v>
                </c:pt>
                <c:pt idx="2">
                  <c:v>96</c:v>
                </c:pt>
              </c:numCache>
            </c:numRef>
          </c:val>
          <c:extLst>
            <c:ext xmlns:c16="http://schemas.microsoft.com/office/drawing/2014/chart" uri="{C3380CC4-5D6E-409C-BE32-E72D297353CC}">
              <c16:uniqueId val="{00000000-A277-4B6E-8D9D-9EDB5C327F5F}"/>
            </c:ext>
          </c:extLst>
        </c:ser>
        <c:ser>
          <c:idx val="1"/>
          <c:order val="1"/>
          <c:tx>
            <c:strRef>
              <c:f>Sheet1!$C$1</c:f>
              <c:strCache>
                <c:ptCount val="1"/>
                <c:pt idx="0">
                  <c:v>系列 2</c:v>
                </c:pt>
              </c:strCache>
            </c:strRef>
          </c:tx>
          <c:spPr>
            <a:solidFill>
              <a:schemeClr val="accent3"/>
            </a:solidFill>
            <a:ln>
              <a:noFill/>
            </a:ln>
            <a:effectLst/>
          </c:spPr>
          <c:invertIfNegative val="0"/>
          <c:cat>
            <c:strRef>
              <c:f>Sheet1!$A$2:$A$4</c:f>
              <c:strCache>
                <c:ptCount val="3"/>
                <c:pt idx="0">
                  <c:v>カテゴリ 1</c:v>
                </c:pt>
                <c:pt idx="1">
                  <c:v>カテゴリ 2</c:v>
                </c:pt>
                <c:pt idx="2">
                  <c:v>カテゴリ 3</c:v>
                </c:pt>
              </c:strCache>
            </c:strRef>
          </c:cat>
          <c:val>
            <c:numRef>
              <c:f>Sheet1!$C$2:$C$4</c:f>
              <c:numCache>
                <c:formatCode>General</c:formatCode>
                <c:ptCount val="3"/>
                <c:pt idx="0">
                  <c:v>93</c:v>
                </c:pt>
                <c:pt idx="1">
                  <c:v>55</c:v>
                </c:pt>
                <c:pt idx="2">
                  <c:v>4</c:v>
                </c:pt>
              </c:numCache>
            </c:numRef>
          </c:val>
          <c:extLst>
            <c:ext xmlns:c16="http://schemas.microsoft.com/office/drawing/2014/chart" uri="{C3380CC4-5D6E-409C-BE32-E72D297353CC}">
              <c16:uniqueId val="{00000001-A277-4B6E-8D9D-9EDB5C327F5F}"/>
            </c:ext>
          </c:extLst>
        </c:ser>
        <c:ser>
          <c:idx val="2"/>
          <c:order val="2"/>
          <c:tx>
            <c:strRef>
              <c:f>Sheet1!$D$1</c:f>
              <c:strCache>
                <c:ptCount val="1"/>
                <c:pt idx="0">
                  <c:v>列1</c:v>
                </c:pt>
              </c:strCache>
            </c:strRef>
          </c:tx>
          <c:spPr>
            <a:solidFill>
              <a:schemeClr val="accent5"/>
            </a:solidFill>
            <a:ln>
              <a:noFill/>
            </a:ln>
            <a:effectLst/>
          </c:spPr>
          <c:invertIfNegative val="0"/>
          <c:cat>
            <c:strRef>
              <c:f>Sheet1!$A$2:$A$4</c:f>
              <c:strCache>
                <c:ptCount val="3"/>
                <c:pt idx="0">
                  <c:v>カテゴリ 1</c:v>
                </c:pt>
                <c:pt idx="1">
                  <c:v>カテゴリ 2</c:v>
                </c:pt>
                <c:pt idx="2">
                  <c:v>カテゴリ 3</c:v>
                </c:pt>
              </c:strCache>
            </c:strRef>
          </c:cat>
          <c:val>
            <c:numRef>
              <c:f>Sheet1!$D$2:$D$4</c:f>
              <c:numCache>
                <c:formatCode>General</c:formatCode>
                <c:ptCount val="3"/>
              </c:numCache>
            </c:numRef>
          </c:val>
          <c:extLst>
            <c:ext xmlns:c16="http://schemas.microsoft.com/office/drawing/2014/chart" uri="{C3380CC4-5D6E-409C-BE32-E72D297353CC}">
              <c16:uniqueId val="{00000002-A277-4B6E-8D9D-9EDB5C327F5F}"/>
            </c:ext>
          </c:extLst>
        </c:ser>
        <c:dLbls>
          <c:showLegendKey val="0"/>
          <c:showVal val="0"/>
          <c:showCatName val="0"/>
          <c:showSerName val="0"/>
          <c:showPercent val="0"/>
          <c:showBubbleSize val="0"/>
        </c:dLbls>
        <c:gapWidth val="150"/>
        <c:overlap val="100"/>
        <c:axId val="770299455"/>
        <c:axId val="770301375"/>
      </c:barChart>
      <c:catAx>
        <c:axId val="770299455"/>
        <c:scaling>
          <c:orientation val="minMax"/>
        </c:scaling>
        <c:delete val="1"/>
        <c:axPos val="b"/>
        <c:numFmt formatCode="General" sourceLinked="1"/>
        <c:majorTickMark val="none"/>
        <c:minorTickMark val="none"/>
        <c:tickLblPos val="nextTo"/>
        <c:crossAx val="770301375"/>
        <c:crosses val="autoZero"/>
        <c:auto val="1"/>
        <c:lblAlgn val="ctr"/>
        <c:lblOffset val="100"/>
        <c:noMultiLvlLbl val="0"/>
      </c:catAx>
      <c:valAx>
        <c:axId val="770301375"/>
        <c:scaling>
          <c:orientation val="minMax"/>
        </c:scaling>
        <c:delete val="1"/>
        <c:axPos val="l"/>
        <c:numFmt formatCode="0%" sourceLinked="1"/>
        <c:majorTickMark val="none"/>
        <c:minorTickMark val="none"/>
        <c:tickLblPos val="nextTo"/>
        <c:crossAx val="7702994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列1</c:v>
                </c:pt>
              </c:strCache>
            </c:strRef>
          </c:tx>
          <c:spPr>
            <a:solidFill>
              <a:srgbClr val="FFC000"/>
            </a:solidFill>
          </c:spPr>
          <c:dPt>
            <c:idx val="0"/>
            <c:bubble3D val="0"/>
            <c:spPr>
              <a:solidFill>
                <a:srgbClr val="FFC000"/>
              </a:solidFill>
              <a:ln w="19050">
                <a:solidFill>
                  <a:schemeClr val="lt1"/>
                </a:solidFill>
              </a:ln>
              <a:effectLst/>
            </c:spPr>
            <c:extLst>
              <c:ext xmlns:c16="http://schemas.microsoft.com/office/drawing/2014/chart" uri="{C3380CC4-5D6E-409C-BE32-E72D297353CC}">
                <c16:uniqueId val="{00000001-F88F-44CB-BD30-5E21719B6A1C}"/>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1-ED5E-4FF8-A68B-B628765C835A}"/>
              </c:ext>
            </c:extLst>
          </c:dPt>
          <c:cat>
            <c:numRef>
              <c:f>Sheet1!$A$2:$A$3</c:f>
              <c:numCache>
                <c:formatCode>General</c:formatCode>
                <c:ptCount val="2"/>
              </c:numCache>
            </c:numRef>
          </c:cat>
          <c:val>
            <c:numRef>
              <c:f>Sheet1!$B$2:$B$3</c:f>
              <c:numCache>
                <c:formatCode>General</c:formatCode>
                <c:ptCount val="2"/>
                <c:pt idx="0">
                  <c:v>99.6</c:v>
                </c:pt>
                <c:pt idx="1">
                  <c:v>0.4</c:v>
                </c:pt>
              </c:numCache>
            </c:numRef>
          </c:val>
          <c:extLst>
            <c:ext xmlns:c16="http://schemas.microsoft.com/office/drawing/2014/chart" uri="{C3380CC4-5D6E-409C-BE32-E72D297353CC}">
              <c16:uniqueId val="{00000000-ED5E-4FF8-A68B-B628765C835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r>
              <a:rPr lang="ja-JP" altLang="en-US" sz="2000" b="1" dirty="0"/>
              <a:t>内定者割合</a:t>
            </a:r>
            <a:endParaRPr lang="en-US" altLang="ja-JP" sz="2000" b="1" dirty="0"/>
          </a:p>
        </c:rich>
      </c:tx>
      <c:overlay val="1"/>
      <c:spPr>
        <a:noFill/>
        <a:ln>
          <a:noFill/>
        </a:ln>
        <a:effectLst/>
      </c:spPr>
      <c:txPr>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endParaRPr lang="en-US" altLang="ja-JP"/>
        </a:p>
      </c:txPr>
    </c:title>
    <c:autoTitleDeleted val="0"/>
    <c:plotArea>
      <c:layout>
        <c:manualLayout>
          <c:layoutTarget val="inner"/>
          <c:xMode val="edge"/>
          <c:yMode val="edge"/>
          <c:x val="0.18801200334926546"/>
          <c:y val="0.1247116350309091"/>
          <c:w val="0.621671467836998"/>
          <c:h val="0.84099266533559081"/>
        </c:manualLayout>
      </c:layout>
      <c:pieChart>
        <c:varyColors val="1"/>
        <c:ser>
          <c:idx val="0"/>
          <c:order val="0"/>
          <c:tx>
            <c:strRef>
              <c:f>Sheet1!$B$1</c:f>
              <c:strCache>
                <c:ptCount val="1"/>
                <c:pt idx="0">
                  <c:v>列1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B9E-408E-8AF6-4ACB10F7DC1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AB9E-408E-8AF6-4ACB10F7DC1F}"/>
              </c:ext>
            </c:extLst>
          </c:dPt>
          <c:dLbls>
            <c:dLbl>
              <c:idx val="0"/>
              <c:layout>
                <c:manualLayout>
                  <c:x val="-0.13252064890384871"/>
                  <c:y val="-0.17222652248234091"/>
                </c:manualLayout>
              </c:layout>
              <c:tx>
                <c:rich>
                  <a:bodyPr/>
                  <a:lstStyle/>
                  <a:p>
                    <a:fld id="{2FB6F147-B8F9-48B0-98BF-4791FB6F29E2}" type="CATEGORYNAME">
                      <a:rPr lang="ja-JP" altLang="en-US" sz="4000" b="1" smtClean="0">
                        <a:solidFill>
                          <a:schemeClr val="tx1"/>
                        </a:solidFill>
                      </a:rPr>
                      <a:pPr/>
                      <a:t>[分類名]</a:t>
                    </a:fld>
                    <a:r>
                      <a:rPr lang="ja-JP" altLang="en-US" sz="4000" b="1" dirty="0">
                        <a:solidFill>
                          <a:schemeClr val="tx1"/>
                        </a:solidFill>
                      </a:rPr>
                      <a:t>業界</a:t>
                    </a:r>
                  </a:p>
                </c:rich>
              </c:tx>
              <c:showLegendKey val="0"/>
              <c:showVal val="0"/>
              <c:showCatName val="1"/>
              <c:showSerName val="0"/>
              <c:showPercent val="0"/>
              <c:showBubbleSize val="0"/>
              <c:extLst>
                <c:ext xmlns:c15="http://schemas.microsoft.com/office/drawing/2012/chart" uri="{CE6537A1-D6FC-4f65-9D91-7224C49458BB}">
                  <c15:layout>
                    <c:manualLayout>
                      <c:w val="0.67988854655018038"/>
                      <c:h val="0.17537573676221591"/>
                    </c:manualLayout>
                  </c15:layout>
                  <c15:dlblFieldTable/>
                  <c15:showDataLabelsRange val="0"/>
                </c:ext>
                <c:ext xmlns:c16="http://schemas.microsoft.com/office/drawing/2014/chart" uri="{C3380CC4-5D6E-409C-BE32-E72D297353CC}">
                  <c16:uniqueId val="{00000001-AB9E-408E-8AF6-4ACB10F7DC1F}"/>
                </c:ext>
              </c:extLst>
            </c:dLbl>
            <c:dLbl>
              <c:idx val="1"/>
              <c:layout>
                <c:manualLayout>
                  <c:x val="0.17976714112174255"/>
                  <c:y val="0.16406355678074105"/>
                </c:manualLayout>
              </c:layout>
              <c:tx>
                <c:rich>
                  <a:bodyPr/>
                  <a:lstStyle/>
                  <a:p>
                    <a:fld id="{68AB4FE6-8314-4449-8F2B-9738C68B3E5C}" type="CATEGORYNAME">
                      <a:rPr lang="en-US" altLang="ja-JP" sz="5400" b="1">
                        <a:solidFill>
                          <a:schemeClr val="tx1"/>
                        </a:solidFill>
                      </a:rPr>
                      <a:pPr/>
                      <a:t>[分類名]</a:t>
                    </a:fld>
                    <a:endParaRPr lang="ja-JP" altLang="en-US"/>
                  </a:p>
                </c:rich>
              </c:tx>
              <c:showLegendKey val="0"/>
              <c:showVal val="0"/>
              <c:showCatName val="1"/>
              <c:showSerName val="0"/>
              <c:showPercent val="0"/>
              <c:showBubbleSize val="0"/>
              <c:extLst>
                <c:ext xmlns:c15="http://schemas.microsoft.com/office/drawing/2012/chart" uri="{CE6537A1-D6FC-4f65-9D91-7224C49458BB}">
                  <c15:layout>
                    <c:manualLayout>
                      <c:w val="0.12963976523202592"/>
                      <c:h val="5.6899683482852272E-2"/>
                    </c:manualLayout>
                  </c15:layout>
                  <c15:dlblFieldTable/>
                  <c15:showDataLabelsRange val="0"/>
                </c:ext>
                <c:ext xmlns:c16="http://schemas.microsoft.com/office/drawing/2014/chart" uri="{C3380CC4-5D6E-409C-BE32-E72D297353CC}">
                  <c16:uniqueId val="{00000002-AB9E-408E-8AF6-4ACB10F7DC1F}"/>
                </c:ext>
              </c:extLst>
            </c:dLbl>
            <c:spPr>
              <a:noFill/>
              <a:ln>
                <a:noFill/>
              </a:ln>
              <a:effectLst/>
            </c:spPr>
            <c:txPr>
              <a:bodyPr rot="0" spcFirstLastPara="1" vertOverflow="overflow" horzOverflow="overflow" vert="horz" wrap="square" lIns="38100" tIns="19050" rIns="38100" bIns="19050" anchor="ctr" anchorCtr="1">
                <a:noAutofit/>
              </a:bodyPr>
              <a:lstStyle/>
              <a:p>
                <a:pPr>
                  <a:defRPr lang="ja-JP" sz="1197" b="0" i="0" u="none" strike="noStrike" kern="1200" baseline="0">
                    <a:ln>
                      <a:noFill/>
                    </a:ln>
                    <a:solidFill>
                      <a:schemeClr val="tx1">
                        <a:lumMod val="75000"/>
                        <a:lumOff val="25000"/>
                      </a:schemeClr>
                    </a:solidFill>
                    <a:latin typeface="+mn-lt"/>
                    <a:ea typeface="+mn-ea"/>
                    <a:cs typeface="+mn-cs"/>
                  </a:defRPr>
                </a:pPr>
                <a:endParaRPr lang="ja-JP"/>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ゲーム</c:v>
                </c:pt>
                <c:pt idx="1">
                  <c:v>IT</c:v>
                </c:pt>
              </c:strCache>
            </c:strRef>
          </c:cat>
          <c:val>
            <c:numRef>
              <c:f>Sheet1!$B$2:$B$3</c:f>
              <c:numCache>
                <c:formatCode>General</c:formatCode>
                <c:ptCount val="2"/>
                <c:pt idx="0">
                  <c:v>7</c:v>
                </c:pt>
                <c:pt idx="1">
                  <c:v>3</c:v>
                </c:pt>
              </c:numCache>
            </c:numRef>
          </c:val>
          <c:extLst>
            <c:ext xmlns:c16="http://schemas.microsoft.com/office/drawing/2014/chart" uri="{C3380CC4-5D6E-409C-BE32-E72D297353CC}">
              <c16:uniqueId val="{00000000-AB9E-408E-8AF6-4ACB10F7DC1F}"/>
            </c:ext>
          </c:extLst>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0.35048</cdr:x>
      <cdr:y>0.63232</cdr:y>
    </cdr:from>
    <cdr:to>
      <cdr:x>0.44282</cdr:x>
      <cdr:y>0.82201</cdr:y>
    </cdr:to>
    <cdr:sp macro="" textlink="">
      <cdr:nvSpPr>
        <cdr:cNvPr id="2" name="テキスト ボックス 19">
          <a:extLst xmlns:a="http://schemas.openxmlformats.org/drawingml/2006/main">
            <a:ext uri="{FF2B5EF4-FFF2-40B4-BE49-F238E27FC236}">
              <a16:creationId xmlns:a16="http://schemas.microsoft.com/office/drawing/2014/main" id="{F6DF9752-7DA2-EE27-BA78-5E6A55312647}"/>
            </a:ext>
          </a:extLst>
        </cdr:cNvPr>
        <cdr:cNvSpPr txBox="1"/>
      </cdr:nvSpPr>
      <cdr:spPr>
        <a:xfrm xmlns:a="http://schemas.openxmlformats.org/drawingml/2006/main">
          <a:off x="2337213" y="1231106"/>
          <a:ext cx="615820" cy="369332"/>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algn="ctr"/>
          <a:r>
            <a:rPr kumimoji="1" lang="en-US" altLang="ja-JP" dirty="0"/>
            <a:t>45%</a:t>
          </a:r>
          <a:endParaRPr kumimoji="1" lang="ja-JP" alt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3078163" cy="512763"/>
          </a:xfrm>
          <a:prstGeom prst="rect">
            <a:avLst/>
          </a:prstGeom>
        </p:spPr>
        <p:txBody>
          <a:bodyPr vert="horz" lIns="91433" tIns="45716" rIns="91433" bIns="45716" rtlCol="0"/>
          <a:lstStyle>
            <a:lvl1pPr algn="l">
              <a:defRPr sz="1100"/>
            </a:lvl1pPr>
          </a:lstStyle>
          <a:p>
            <a:endParaRPr kumimoji="1" lang="ja-JP" altLang="en-US"/>
          </a:p>
        </p:txBody>
      </p:sp>
      <p:sp>
        <p:nvSpPr>
          <p:cNvPr id="3" name="日付プレースホルダー 2"/>
          <p:cNvSpPr>
            <a:spLocks noGrp="1"/>
          </p:cNvSpPr>
          <p:nvPr>
            <p:ph type="dt" sz="quarter" idx="1"/>
          </p:nvPr>
        </p:nvSpPr>
        <p:spPr>
          <a:xfrm>
            <a:off x="4024313" y="1"/>
            <a:ext cx="3078162" cy="512763"/>
          </a:xfrm>
          <a:prstGeom prst="rect">
            <a:avLst/>
          </a:prstGeom>
        </p:spPr>
        <p:txBody>
          <a:bodyPr vert="horz" lIns="91433" tIns="45716" rIns="91433" bIns="45716" rtlCol="0"/>
          <a:lstStyle>
            <a:lvl1pPr algn="r">
              <a:defRPr sz="1100"/>
            </a:lvl1pPr>
          </a:lstStyle>
          <a:p>
            <a:fld id="{073CDBED-D89A-465C-93F6-2AD6BE0AC3FD}" type="datetimeFigureOut">
              <a:rPr kumimoji="1" lang="ja-JP" altLang="en-US" smtClean="0"/>
              <a:t>2025/12/16</a:t>
            </a:fld>
            <a:endParaRPr kumimoji="1" lang="ja-JP" altLang="en-US"/>
          </a:p>
        </p:txBody>
      </p:sp>
      <p:sp>
        <p:nvSpPr>
          <p:cNvPr id="4" name="フッター プレースホルダー 3"/>
          <p:cNvSpPr>
            <a:spLocks noGrp="1"/>
          </p:cNvSpPr>
          <p:nvPr>
            <p:ph type="ftr" sz="quarter" idx="2"/>
          </p:nvPr>
        </p:nvSpPr>
        <p:spPr>
          <a:xfrm>
            <a:off x="0" y="9721851"/>
            <a:ext cx="3078163" cy="512763"/>
          </a:xfrm>
          <a:prstGeom prst="rect">
            <a:avLst/>
          </a:prstGeom>
        </p:spPr>
        <p:txBody>
          <a:bodyPr vert="horz" lIns="91433" tIns="45716" rIns="91433" bIns="45716" rtlCol="0" anchor="b"/>
          <a:lstStyle>
            <a:lvl1pPr algn="l">
              <a:defRPr sz="1100"/>
            </a:lvl1pPr>
          </a:lstStyle>
          <a:p>
            <a:endParaRPr kumimoji="1" lang="ja-JP" altLang="en-US"/>
          </a:p>
        </p:txBody>
      </p:sp>
      <p:sp>
        <p:nvSpPr>
          <p:cNvPr id="5" name="スライド番号プレースホルダー 4"/>
          <p:cNvSpPr>
            <a:spLocks noGrp="1"/>
          </p:cNvSpPr>
          <p:nvPr>
            <p:ph type="sldNum" sz="quarter" idx="3"/>
          </p:nvPr>
        </p:nvSpPr>
        <p:spPr>
          <a:xfrm>
            <a:off x="4024313" y="9721851"/>
            <a:ext cx="3078162" cy="512763"/>
          </a:xfrm>
          <a:prstGeom prst="rect">
            <a:avLst/>
          </a:prstGeom>
        </p:spPr>
        <p:txBody>
          <a:bodyPr vert="horz" lIns="91433" tIns="45716" rIns="91433" bIns="45716" rtlCol="0" anchor="b"/>
          <a:lstStyle>
            <a:lvl1pPr algn="r">
              <a:defRPr sz="1100"/>
            </a:lvl1pPr>
          </a:lstStyle>
          <a:p>
            <a:fld id="{6EABEA20-51ED-4C22-B68D-4D1604AA637D}" type="slidenum">
              <a:rPr kumimoji="1" lang="ja-JP" altLang="en-US" smtClean="0"/>
              <a:t>‹#›</a:t>
            </a:fld>
            <a:endParaRPr kumimoji="1" lang="ja-JP" altLang="en-US"/>
          </a:p>
        </p:txBody>
      </p:sp>
    </p:spTree>
    <p:extLst>
      <p:ext uri="{BB962C8B-B14F-4D97-AF65-F5344CB8AC3E}">
        <p14:creationId xmlns:p14="http://schemas.microsoft.com/office/powerpoint/2010/main" val="6995302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3078428" cy="513508"/>
          </a:xfrm>
          <a:prstGeom prst="rect">
            <a:avLst/>
          </a:prstGeom>
        </p:spPr>
        <p:txBody>
          <a:bodyPr vert="horz" lIns="95464" tIns="47732" rIns="95464" bIns="47732" rtlCol="0"/>
          <a:lstStyle>
            <a:lvl1pPr algn="l">
              <a:defRPr sz="1100"/>
            </a:lvl1pPr>
          </a:lstStyle>
          <a:p>
            <a:endParaRPr kumimoji="1" lang="ja-JP" altLang="en-US"/>
          </a:p>
        </p:txBody>
      </p:sp>
      <p:sp>
        <p:nvSpPr>
          <p:cNvPr id="3" name="日付プレースホルダー 2"/>
          <p:cNvSpPr>
            <a:spLocks noGrp="1"/>
          </p:cNvSpPr>
          <p:nvPr>
            <p:ph type="dt" idx="1"/>
          </p:nvPr>
        </p:nvSpPr>
        <p:spPr>
          <a:xfrm>
            <a:off x="4023992" y="2"/>
            <a:ext cx="3078428" cy="513508"/>
          </a:xfrm>
          <a:prstGeom prst="rect">
            <a:avLst/>
          </a:prstGeom>
        </p:spPr>
        <p:txBody>
          <a:bodyPr vert="horz" lIns="95464" tIns="47732" rIns="95464" bIns="47732" rtlCol="0"/>
          <a:lstStyle>
            <a:lvl1pPr algn="r">
              <a:defRPr sz="1100"/>
            </a:lvl1pPr>
          </a:lstStyle>
          <a:p>
            <a:fld id="{B00DB4F0-D4B0-4FB8-9261-41772518FF32}" type="datetimeFigureOut">
              <a:rPr kumimoji="1" lang="ja-JP" altLang="en-US" smtClean="0"/>
              <a:t>2025/12/16</a:t>
            </a:fld>
            <a:endParaRPr kumimoji="1" lang="ja-JP" altLang="en-US"/>
          </a:p>
        </p:txBody>
      </p:sp>
      <p:sp>
        <p:nvSpPr>
          <p:cNvPr id="4" name="スライド イメージ プレースホルダー 3"/>
          <p:cNvSpPr>
            <a:spLocks noGrp="1" noRot="1" noChangeAspect="1"/>
          </p:cNvSpPr>
          <p:nvPr>
            <p:ph type="sldImg" idx="2"/>
          </p:nvPr>
        </p:nvSpPr>
        <p:spPr>
          <a:xfrm>
            <a:off x="482600" y="1279525"/>
            <a:ext cx="6138863" cy="3454400"/>
          </a:xfrm>
          <a:prstGeom prst="rect">
            <a:avLst/>
          </a:prstGeom>
          <a:noFill/>
          <a:ln w="12700">
            <a:solidFill>
              <a:prstClr val="black"/>
            </a:solidFill>
          </a:ln>
        </p:spPr>
        <p:txBody>
          <a:bodyPr vert="horz" lIns="95464" tIns="47732" rIns="95464" bIns="47732" rtlCol="0" anchor="ctr"/>
          <a:lstStyle/>
          <a:p>
            <a:endParaRPr lang="ja-JP" altLang="en-US"/>
          </a:p>
        </p:txBody>
      </p:sp>
      <p:sp>
        <p:nvSpPr>
          <p:cNvPr id="5" name="ノート プレースホルダー 4"/>
          <p:cNvSpPr>
            <a:spLocks noGrp="1"/>
          </p:cNvSpPr>
          <p:nvPr>
            <p:ph type="body" sz="quarter" idx="3"/>
          </p:nvPr>
        </p:nvSpPr>
        <p:spPr>
          <a:xfrm>
            <a:off x="710408" y="4925410"/>
            <a:ext cx="5683250" cy="4029880"/>
          </a:xfrm>
          <a:prstGeom prst="rect">
            <a:avLst/>
          </a:prstGeom>
        </p:spPr>
        <p:txBody>
          <a:bodyPr vert="horz" lIns="95464" tIns="47732" rIns="95464" bIns="47732"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721107"/>
            <a:ext cx="3078428" cy="513507"/>
          </a:xfrm>
          <a:prstGeom prst="rect">
            <a:avLst/>
          </a:prstGeom>
        </p:spPr>
        <p:txBody>
          <a:bodyPr vert="horz" lIns="95464" tIns="47732" rIns="95464" bIns="47732" rtlCol="0" anchor="b"/>
          <a:lstStyle>
            <a:lvl1pPr algn="l">
              <a:defRPr sz="11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8" cy="513507"/>
          </a:xfrm>
          <a:prstGeom prst="rect">
            <a:avLst/>
          </a:prstGeom>
        </p:spPr>
        <p:txBody>
          <a:bodyPr vert="horz" lIns="95464" tIns="47732" rIns="95464" bIns="47732" rtlCol="0" anchor="b"/>
          <a:lstStyle>
            <a:lvl1pPr algn="r">
              <a:defRPr sz="1100"/>
            </a:lvl1pPr>
          </a:lstStyle>
          <a:p>
            <a:fld id="{CE66CADE-3FFD-420C-BDFF-C58106D168D0}" type="slidenum">
              <a:rPr kumimoji="1" lang="ja-JP" altLang="en-US" smtClean="0"/>
              <a:t>‹#›</a:t>
            </a:fld>
            <a:endParaRPr kumimoji="1" lang="ja-JP" altLang="en-US"/>
          </a:p>
        </p:txBody>
      </p:sp>
    </p:spTree>
    <p:extLst>
      <p:ext uri="{BB962C8B-B14F-4D97-AF65-F5344CB8AC3E}">
        <p14:creationId xmlns:p14="http://schemas.microsoft.com/office/powerpoint/2010/main" val="20391803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r>
              <a:rPr lang="ja-JP" altLang="en-US" dirty="0"/>
              <a:t>今回は自分がどんな部分を頑張ってゲーム業界に入ったのかを話していきたいと思います。</a:t>
            </a:r>
            <a:endParaRPr lang="en-US" altLang="ja-JP" dirty="0"/>
          </a:p>
          <a:p>
            <a:endParaRPr lang="en-US" altLang="ja-JP" dirty="0"/>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a:t>
            </a:fld>
            <a:endParaRPr kumimoji="1" lang="ja-JP" altLang="en-US"/>
          </a:p>
        </p:txBody>
      </p:sp>
    </p:spTree>
    <p:extLst>
      <p:ext uri="{BB962C8B-B14F-4D97-AF65-F5344CB8AC3E}">
        <p14:creationId xmlns:p14="http://schemas.microsoft.com/office/powerpoint/2010/main" val="1533504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今回の目次です。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最初にゲーム業界がどんな業界なのかを説明して、その次にどうやって入るのか、何があれば入れるのかなどを説明していきたいと思います。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上から</a:t>
            </a:r>
            <a:endParaRPr kumimoji="1" lang="en-US" altLang="ja-JP" sz="1200" kern="1200" dirty="0">
              <a:solidFill>
                <a:schemeClr val="tx1"/>
              </a:solidFill>
              <a:effectLst/>
              <a:latin typeface="+mn-lt"/>
              <a:ea typeface="+mn-ea"/>
              <a:cs typeface="+mn-cs"/>
            </a:endParaRPr>
          </a:p>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a:t>
            </a:fld>
            <a:endParaRPr kumimoji="1" lang="ja-JP" altLang="en-US"/>
          </a:p>
        </p:txBody>
      </p:sp>
    </p:spTree>
    <p:extLst>
      <p:ext uri="{BB962C8B-B14F-4D97-AF65-F5344CB8AC3E}">
        <p14:creationId xmlns:p14="http://schemas.microsoft.com/office/powerpoint/2010/main" val="759968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A2EF-3DCD-4B4C-3456-0C0474D1C3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4D7D35-3727-0F71-0ED0-BF0910534B7F}"/>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2AFA21F1-32D8-EAC7-1F61-04CBC4062C15}"/>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まず私の自己紹介をしようと思います。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廣本勝志と申します本日はよろしくお願いします。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趣味は自炊と筋トレです。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自炊といっても男の一人暮らしなんで見せられるようなものは作ってません。筋トレは週</a:t>
            </a:r>
            <a:r>
              <a:rPr kumimoji="1" lang="en-US" altLang="ja-JP" sz="1200" kern="1200" dirty="0">
                <a:solidFill>
                  <a:schemeClr val="tx1"/>
                </a:solidFill>
                <a:effectLst/>
                <a:latin typeface="+mn-lt"/>
                <a:ea typeface="+mn-ea"/>
                <a:cs typeface="+mn-cs"/>
              </a:rPr>
              <a:t>2~3</a:t>
            </a:r>
            <a:r>
              <a:rPr kumimoji="1" lang="ja-JP" altLang="en-US" sz="1200" kern="1200" dirty="0">
                <a:solidFill>
                  <a:schemeClr val="tx1"/>
                </a:solidFill>
                <a:effectLst/>
                <a:latin typeface="+mn-lt"/>
                <a:ea typeface="+mn-ea"/>
                <a:cs typeface="+mn-cs"/>
              </a:rPr>
              <a:t>回ジムに行ってやっています。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好きなゲームはモンハンワイルズですね。</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来年から多分モンハンワイルズの開発に携われるので、ほんとにうれしい限りです。</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EF77F3D-90BE-87CB-355D-8E3FE11C3272}"/>
              </a:ext>
            </a:extLst>
          </p:cNvPr>
          <p:cNvSpPr>
            <a:spLocks noGrp="1"/>
          </p:cNvSpPr>
          <p:nvPr>
            <p:ph type="sldNum" sz="quarter" idx="10"/>
          </p:nvPr>
        </p:nvSpPr>
        <p:spPr/>
        <p:txBody>
          <a:bodyPr/>
          <a:lstStyle/>
          <a:p>
            <a:fld id="{CE66CADE-3FFD-420C-BDFF-C58106D168D0}" type="slidenum">
              <a:rPr kumimoji="1" lang="ja-JP" altLang="en-US" smtClean="0"/>
              <a:t>3</a:t>
            </a:fld>
            <a:endParaRPr kumimoji="1" lang="ja-JP" altLang="en-US"/>
          </a:p>
        </p:txBody>
      </p:sp>
    </p:spTree>
    <p:extLst>
      <p:ext uri="{BB962C8B-B14F-4D97-AF65-F5344CB8AC3E}">
        <p14:creationId xmlns:p14="http://schemas.microsoft.com/office/powerpoint/2010/main" val="2433407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A2EF-3DCD-4B4C-3456-0C0474D1C3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4D7D35-3727-0F71-0ED0-BF0910534B7F}"/>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2AFA21F1-32D8-EAC7-1F61-04CBC4062C15}"/>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まず私の自己紹介をしようと思います。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廣本勝志と申します本日はよろしくお願いします。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趣味は自炊と筋トレです。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自炊といっても男の一人暮らしなんで見せられるようなものは作ってません。筋トレは週</a:t>
            </a:r>
            <a:r>
              <a:rPr kumimoji="1" lang="en-US" altLang="ja-JP" sz="1200" kern="1200" dirty="0">
                <a:solidFill>
                  <a:schemeClr val="tx1"/>
                </a:solidFill>
                <a:effectLst/>
                <a:latin typeface="+mn-lt"/>
                <a:ea typeface="+mn-ea"/>
                <a:cs typeface="+mn-cs"/>
              </a:rPr>
              <a:t>2~3</a:t>
            </a:r>
            <a:r>
              <a:rPr kumimoji="1" lang="ja-JP" altLang="en-US" sz="1200" kern="1200" dirty="0">
                <a:solidFill>
                  <a:schemeClr val="tx1"/>
                </a:solidFill>
                <a:effectLst/>
                <a:latin typeface="+mn-lt"/>
                <a:ea typeface="+mn-ea"/>
                <a:cs typeface="+mn-cs"/>
              </a:rPr>
              <a:t>回ジムに行ってやっています。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好きなゲームはモンハンワイルズですね。</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来年から多分モンハンワイルズの開発に携われるので、ほんとにうれしい限りです。</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EF77F3D-90BE-87CB-355D-8E3FE11C3272}"/>
              </a:ext>
            </a:extLst>
          </p:cNvPr>
          <p:cNvSpPr>
            <a:spLocks noGrp="1"/>
          </p:cNvSpPr>
          <p:nvPr>
            <p:ph type="sldNum" sz="quarter" idx="10"/>
          </p:nvPr>
        </p:nvSpPr>
        <p:spPr/>
        <p:txBody>
          <a:bodyPr/>
          <a:lstStyle/>
          <a:p>
            <a:fld id="{CE66CADE-3FFD-420C-BDFF-C58106D168D0}" type="slidenum">
              <a:rPr kumimoji="1" lang="ja-JP" altLang="en-US" smtClean="0"/>
              <a:t>4</a:t>
            </a:fld>
            <a:endParaRPr kumimoji="1" lang="ja-JP" altLang="en-US"/>
          </a:p>
        </p:txBody>
      </p:sp>
    </p:spTree>
    <p:extLst>
      <p:ext uri="{BB962C8B-B14F-4D97-AF65-F5344CB8AC3E}">
        <p14:creationId xmlns:p14="http://schemas.microsoft.com/office/powerpoint/2010/main" val="1727726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A2EF-3DCD-4B4C-3456-0C0474D1C3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4D7D35-3727-0F71-0ED0-BF0910534B7F}"/>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2AFA21F1-32D8-EAC7-1F61-04CBC4062C15}"/>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まず私の自己紹介をしようと思います。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廣本勝志と申します本日はよろしくお願いします。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趣味は自炊と筋トレです。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自炊といっても男の一人暮らしなんで見せられるようなものは作ってません。筋トレは週</a:t>
            </a:r>
            <a:r>
              <a:rPr kumimoji="1" lang="en-US" altLang="ja-JP" sz="1200" kern="1200" dirty="0">
                <a:solidFill>
                  <a:schemeClr val="tx1"/>
                </a:solidFill>
                <a:effectLst/>
                <a:latin typeface="+mn-lt"/>
                <a:ea typeface="+mn-ea"/>
                <a:cs typeface="+mn-cs"/>
              </a:rPr>
              <a:t>2~3</a:t>
            </a:r>
            <a:r>
              <a:rPr kumimoji="1" lang="ja-JP" altLang="en-US" sz="1200" kern="1200" dirty="0">
                <a:solidFill>
                  <a:schemeClr val="tx1"/>
                </a:solidFill>
                <a:effectLst/>
                <a:latin typeface="+mn-lt"/>
                <a:ea typeface="+mn-ea"/>
                <a:cs typeface="+mn-cs"/>
              </a:rPr>
              <a:t>回ジムに行ってやっています。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好きなゲームはモンハンワイルズですね。</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来年から多分モンハンワイルズの開発に携われるので、ほんとにうれしい限りです。</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EF77F3D-90BE-87CB-355D-8E3FE11C3272}"/>
              </a:ext>
            </a:extLst>
          </p:cNvPr>
          <p:cNvSpPr>
            <a:spLocks noGrp="1"/>
          </p:cNvSpPr>
          <p:nvPr>
            <p:ph type="sldNum" sz="quarter" idx="10"/>
          </p:nvPr>
        </p:nvSpPr>
        <p:spPr/>
        <p:txBody>
          <a:bodyPr/>
          <a:lstStyle/>
          <a:p>
            <a:fld id="{CE66CADE-3FFD-420C-BDFF-C58106D168D0}" type="slidenum">
              <a:rPr kumimoji="1" lang="ja-JP" altLang="en-US" smtClean="0"/>
              <a:t>5</a:t>
            </a:fld>
            <a:endParaRPr kumimoji="1" lang="ja-JP" altLang="en-US"/>
          </a:p>
        </p:txBody>
      </p:sp>
    </p:spTree>
    <p:extLst>
      <p:ext uri="{BB962C8B-B14F-4D97-AF65-F5344CB8AC3E}">
        <p14:creationId xmlns:p14="http://schemas.microsoft.com/office/powerpoint/2010/main" val="3515527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E733F-1CE5-DB74-7548-D1A546F824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B53D47-3BCC-3F67-E80B-CDE2F2F1E05E}"/>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DDC1E392-4D93-7D84-347F-9B3CA4FF893E}"/>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まずゲーム業界について説明していきたいと思います。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まず最初に自分の周囲の人たちから聞いた入学当初のゲーム業界の印象なのですが、まずブラック、そしてやりがい搾取されて賃金があまり高くないという印象が多かったです。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ですが、実際には多くの企業でホワイト化が進んでおり、賃金なども最近上昇傾向にあります。</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3ECB2142-039B-3464-AAE1-627A59C2A349}"/>
              </a:ext>
            </a:extLst>
          </p:cNvPr>
          <p:cNvSpPr>
            <a:spLocks noGrp="1"/>
          </p:cNvSpPr>
          <p:nvPr>
            <p:ph type="sldNum" sz="quarter" idx="10"/>
          </p:nvPr>
        </p:nvSpPr>
        <p:spPr/>
        <p:txBody>
          <a:bodyPr/>
          <a:lstStyle/>
          <a:p>
            <a:fld id="{CE66CADE-3FFD-420C-BDFF-C58106D168D0}" type="slidenum">
              <a:rPr kumimoji="1" lang="ja-JP" altLang="en-US" smtClean="0"/>
              <a:t>6</a:t>
            </a:fld>
            <a:endParaRPr kumimoji="1" lang="ja-JP" altLang="en-US"/>
          </a:p>
        </p:txBody>
      </p:sp>
    </p:spTree>
    <p:extLst>
      <p:ext uri="{BB962C8B-B14F-4D97-AF65-F5344CB8AC3E}">
        <p14:creationId xmlns:p14="http://schemas.microsoft.com/office/powerpoint/2010/main" val="1552916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F83A8-394D-8FF6-BFDD-7044AE46EF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67E62A-FF48-0E81-42AD-F3AB2F23720D}"/>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8B93800C-6941-DB93-7FA5-7F3E4734852C}"/>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代表的な例を挙げていくのですが、</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ホワイト化の代表的な例だと</a:t>
            </a:r>
            <a:r>
              <a:rPr kumimoji="1" lang="en-US" altLang="ja-JP" sz="1200" kern="1200" dirty="0">
                <a:solidFill>
                  <a:schemeClr val="tx1"/>
                </a:solidFill>
                <a:effectLst/>
                <a:latin typeface="+mn-lt"/>
                <a:ea typeface="+mn-ea"/>
                <a:cs typeface="+mn-cs"/>
              </a:rPr>
              <a:t>SEGA</a:t>
            </a:r>
            <a:r>
              <a:rPr kumimoji="1" lang="ja-JP" altLang="en-US" sz="1200" kern="1200" dirty="0">
                <a:solidFill>
                  <a:schemeClr val="tx1"/>
                </a:solidFill>
                <a:effectLst/>
                <a:latin typeface="+mn-lt"/>
                <a:ea typeface="+mn-ea"/>
                <a:cs typeface="+mn-cs"/>
              </a:rPr>
              <a:t>様ですね、ぷよぷよとかソニック、龍が如くなんかを作っている会社なんですが、この会社は休日日数が多く、なんと</a:t>
            </a:r>
            <a:r>
              <a:rPr kumimoji="1" lang="en-US" altLang="ja-JP" sz="1200" kern="1200" dirty="0">
                <a:solidFill>
                  <a:schemeClr val="tx1"/>
                </a:solidFill>
                <a:effectLst/>
                <a:latin typeface="+mn-lt"/>
                <a:ea typeface="+mn-ea"/>
                <a:cs typeface="+mn-cs"/>
              </a:rPr>
              <a:t>130</a:t>
            </a:r>
            <a:r>
              <a:rPr kumimoji="1" lang="ja-JP" altLang="en-US" sz="1200" kern="1200" dirty="0">
                <a:solidFill>
                  <a:schemeClr val="tx1"/>
                </a:solidFill>
                <a:effectLst/>
                <a:latin typeface="+mn-lt"/>
                <a:ea typeface="+mn-ea"/>
                <a:cs typeface="+mn-cs"/>
              </a:rPr>
              <a:t>日もあります。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大体ホワイト企業といわれるのが</a:t>
            </a:r>
            <a:r>
              <a:rPr kumimoji="1" lang="en-US" altLang="ja-JP" sz="1200" kern="1200" dirty="0">
                <a:solidFill>
                  <a:schemeClr val="tx1"/>
                </a:solidFill>
                <a:effectLst/>
                <a:latin typeface="+mn-lt"/>
                <a:ea typeface="+mn-ea"/>
                <a:cs typeface="+mn-cs"/>
              </a:rPr>
              <a:t>120</a:t>
            </a:r>
            <a:r>
              <a:rPr kumimoji="1" lang="ja-JP" altLang="en-US" sz="1200" kern="1200" dirty="0">
                <a:solidFill>
                  <a:schemeClr val="tx1"/>
                </a:solidFill>
                <a:effectLst/>
                <a:latin typeface="+mn-lt"/>
                <a:ea typeface="+mn-ea"/>
                <a:cs typeface="+mn-cs"/>
              </a:rPr>
              <a:t>日以上くらいからなので、かなり多めの数字ということがわかります。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次に賃金の代表的な例だと</a:t>
            </a:r>
            <a:r>
              <a:rPr kumimoji="1" lang="en-US" altLang="ja-JP" sz="1200" kern="1200" dirty="0">
                <a:solidFill>
                  <a:schemeClr val="tx1"/>
                </a:solidFill>
                <a:effectLst/>
                <a:latin typeface="+mn-lt"/>
                <a:ea typeface="+mn-ea"/>
                <a:cs typeface="+mn-cs"/>
              </a:rPr>
              <a:t>CAPCOM</a:t>
            </a:r>
            <a:r>
              <a:rPr kumimoji="1" lang="ja-JP" altLang="en-US" sz="1200" kern="1200" dirty="0">
                <a:solidFill>
                  <a:schemeClr val="tx1"/>
                </a:solidFill>
                <a:effectLst/>
                <a:latin typeface="+mn-lt"/>
                <a:ea typeface="+mn-ea"/>
                <a:cs typeface="+mn-cs"/>
              </a:rPr>
              <a:t>様ですね、モンハンとかストリートファイターとかを作っている会社です。この会社は賃金が高く、初任給から</a:t>
            </a:r>
            <a:r>
              <a:rPr kumimoji="1" lang="en-US" altLang="ja-JP" sz="1200" kern="1200" dirty="0">
                <a:solidFill>
                  <a:schemeClr val="tx1"/>
                </a:solidFill>
                <a:effectLst/>
                <a:latin typeface="+mn-lt"/>
                <a:ea typeface="+mn-ea"/>
                <a:cs typeface="+mn-cs"/>
              </a:rPr>
              <a:t>30</a:t>
            </a:r>
            <a:r>
              <a:rPr kumimoji="1" lang="ja-JP" altLang="en-US" sz="1200" kern="1200" dirty="0">
                <a:solidFill>
                  <a:schemeClr val="tx1"/>
                </a:solidFill>
                <a:effectLst/>
                <a:latin typeface="+mn-lt"/>
                <a:ea typeface="+mn-ea"/>
                <a:cs typeface="+mn-cs"/>
              </a:rPr>
              <a:t>万円以上もらうことができます。さらに休日日数もしっかり多く、</a:t>
            </a:r>
            <a:r>
              <a:rPr kumimoji="1" lang="en-US" altLang="ja-JP" sz="1200" kern="1200" dirty="0">
                <a:solidFill>
                  <a:schemeClr val="tx1"/>
                </a:solidFill>
                <a:effectLst/>
                <a:latin typeface="+mn-lt"/>
                <a:ea typeface="+mn-ea"/>
                <a:cs typeface="+mn-cs"/>
              </a:rPr>
              <a:t>123</a:t>
            </a:r>
            <a:r>
              <a:rPr kumimoji="1" lang="ja-JP" altLang="en-US" sz="1200" kern="1200" dirty="0">
                <a:solidFill>
                  <a:schemeClr val="tx1"/>
                </a:solidFill>
                <a:effectLst/>
                <a:latin typeface="+mn-lt"/>
                <a:ea typeface="+mn-ea"/>
                <a:cs typeface="+mn-cs"/>
              </a:rPr>
              <a:t>日くらいあるんで休日日数もしっかり多いです。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8F843176-DAEE-FA6F-037F-B3F744A74BC5}"/>
              </a:ext>
            </a:extLst>
          </p:cNvPr>
          <p:cNvSpPr>
            <a:spLocks noGrp="1"/>
          </p:cNvSpPr>
          <p:nvPr>
            <p:ph type="sldNum" sz="quarter" idx="10"/>
          </p:nvPr>
        </p:nvSpPr>
        <p:spPr/>
        <p:txBody>
          <a:bodyPr/>
          <a:lstStyle/>
          <a:p>
            <a:fld id="{CE66CADE-3FFD-420C-BDFF-C58106D168D0}" type="slidenum">
              <a:rPr kumimoji="1" lang="ja-JP" altLang="en-US" smtClean="0"/>
              <a:t>7</a:t>
            </a:fld>
            <a:endParaRPr kumimoji="1" lang="ja-JP" altLang="en-US"/>
          </a:p>
        </p:txBody>
      </p:sp>
    </p:spTree>
    <p:extLst>
      <p:ext uri="{BB962C8B-B14F-4D97-AF65-F5344CB8AC3E}">
        <p14:creationId xmlns:p14="http://schemas.microsoft.com/office/powerpoint/2010/main" val="4151131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2477-2EF9-CEF7-FAA1-54BD4238EA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D9A585-76A2-A323-EBF2-105C68309F60}"/>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64676490-9D4E-9828-08E5-B89DE21F3532}"/>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先ほどまで説明した通り、しっかりホワイト化が進んでいて、賃金も上昇傾向にあり、そして大好きなゲームに仕事でかかわれるということでやはり人気な業界になっています。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なので合格率はかなり低めになっています。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これは福岡のゲーム会社の</a:t>
            </a:r>
            <a:r>
              <a:rPr kumimoji="1" lang="en-US" altLang="ja-JP" sz="1200" kern="1200" dirty="0">
                <a:solidFill>
                  <a:schemeClr val="tx1"/>
                </a:solidFill>
                <a:effectLst/>
                <a:latin typeface="+mn-lt"/>
                <a:ea typeface="+mn-ea"/>
                <a:cs typeface="+mn-cs"/>
              </a:rPr>
              <a:t>CC</a:t>
            </a:r>
            <a:r>
              <a:rPr kumimoji="1" lang="ja-JP" altLang="en-US" sz="1200" kern="1200" dirty="0">
                <a:solidFill>
                  <a:schemeClr val="tx1"/>
                </a:solidFill>
                <a:effectLst/>
                <a:latin typeface="+mn-lt"/>
                <a:ea typeface="+mn-ea"/>
                <a:cs typeface="+mn-cs"/>
              </a:rPr>
              <a:t>２様が公開していたのですが、ゲーム業界に入れる確率は</a:t>
            </a:r>
            <a:r>
              <a:rPr kumimoji="1" lang="en-US" altLang="ja-JP" sz="1200" kern="1200" dirty="0">
                <a:solidFill>
                  <a:schemeClr val="tx1"/>
                </a:solidFill>
                <a:effectLst/>
                <a:latin typeface="+mn-lt"/>
                <a:ea typeface="+mn-ea"/>
                <a:cs typeface="+mn-cs"/>
              </a:rPr>
              <a:t>5</a:t>
            </a:r>
            <a:r>
              <a:rPr kumimoji="1" lang="ja-JP" altLang="en-US" sz="1200" kern="1200" dirty="0">
                <a:solidFill>
                  <a:schemeClr val="tx1"/>
                </a:solidFill>
                <a:effectLst/>
                <a:latin typeface="+mn-lt"/>
                <a:ea typeface="+mn-ea"/>
                <a:cs typeface="+mn-cs"/>
              </a:rPr>
              <a:t>％以下だといわれています。</a:t>
            </a:r>
            <a:endParaRPr kumimoji="1" lang="en-US"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D40DCA01-B143-628B-0EE2-96FE78CBB7B6}"/>
              </a:ext>
            </a:extLst>
          </p:cNvPr>
          <p:cNvSpPr>
            <a:spLocks noGrp="1"/>
          </p:cNvSpPr>
          <p:nvPr>
            <p:ph type="sldNum" sz="quarter" idx="10"/>
          </p:nvPr>
        </p:nvSpPr>
        <p:spPr/>
        <p:txBody>
          <a:bodyPr/>
          <a:lstStyle/>
          <a:p>
            <a:fld id="{CE66CADE-3FFD-420C-BDFF-C58106D168D0}" type="slidenum">
              <a:rPr kumimoji="1" lang="ja-JP" altLang="en-US" smtClean="0"/>
              <a:t>8</a:t>
            </a:fld>
            <a:endParaRPr kumimoji="1" lang="ja-JP" altLang="en-US"/>
          </a:p>
        </p:txBody>
      </p:sp>
    </p:spTree>
    <p:extLst>
      <p:ext uri="{BB962C8B-B14F-4D97-AF65-F5344CB8AC3E}">
        <p14:creationId xmlns:p14="http://schemas.microsoft.com/office/powerpoint/2010/main" val="1407060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26029-E84B-6662-AC24-04AEFB9357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C751A6-8F58-A5DF-89C1-2A33F5188E31}"/>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68EA0261-4AC4-924F-7685-D3FD7068802E}"/>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これもサイバーコネクトツー様が公開していた情報なのですが、それぞれの選考の通過率がこんな感じになります。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そして最終内定率は</a:t>
            </a:r>
            <a:r>
              <a:rPr kumimoji="1" lang="en-US" altLang="ja-JP" sz="1200" kern="1200" dirty="0">
                <a:solidFill>
                  <a:schemeClr val="tx1"/>
                </a:solidFill>
                <a:effectLst/>
                <a:latin typeface="+mn-lt"/>
                <a:ea typeface="+mn-ea"/>
                <a:cs typeface="+mn-cs"/>
              </a:rPr>
              <a:t>3</a:t>
            </a:r>
            <a:r>
              <a:rPr kumimoji="1" lang="ja-JP" altLang="en-US" sz="1200" kern="1200" dirty="0">
                <a:solidFill>
                  <a:schemeClr val="tx1"/>
                </a:solidFill>
                <a:effectLst/>
                <a:latin typeface="+mn-lt"/>
                <a:ea typeface="+mn-ea"/>
                <a:cs typeface="+mn-cs"/>
              </a:rPr>
              <a:t>％まで減ります。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公開されていた数字では、</a:t>
            </a:r>
            <a:r>
              <a:rPr kumimoji="1" lang="en-US" altLang="ja-JP" sz="1200" kern="1200" dirty="0">
                <a:solidFill>
                  <a:schemeClr val="tx1"/>
                </a:solidFill>
                <a:effectLst/>
                <a:latin typeface="+mn-lt"/>
                <a:ea typeface="+mn-ea"/>
                <a:cs typeface="+mn-cs"/>
              </a:rPr>
              <a:t>739</a:t>
            </a:r>
            <a:r>
              <a:rPr kumimoji="1" lang="ja-JP" altLang="en-US" sz="1200" kern="1200" dirty="0">
                <a:solidFill>
                  <a:schemeClr val="tx1"/>
                </a:solidFill>
                <a:effectLst/>
                <a:latin typeface="+mn-lt"/>
                <a:ea typeface="+mn-ea"/>
                <a:cs typeface="+mn-cs"/>
              </a:rPr>
              <a:t>人が応募し内定をもらえたのは</a:t>
            </a:r>
            <a:r>
              <a:rPr kumimoji="1" lang="en-US" altLang="ja-JP" sz="1200" kern="1200" dirty="0">
                <a:solidFill>
                  <a:schemeClr val="tx1"/>
                </a:solidFill>
                <a:effectLst/>
                <a:latin typeface="+mn-lt"/>
                <a:ea typeface="+mn-ea"/>
                <a:cs typeface="+mn-cs"/>
              </a:rPr>
              <a:t>23</a:t>
            </a:r>
            <a:r>
              <a:rPr kumimoji="1" lang="ja-JP" altLang="en-US" sz="1200" kern="1200" dirty="0">
                <a:solidFill>
                  <a:schemeClr val="tx1"/>
                </a:solidFill>
                <a:effectLst/>
                <a:latin typeface="+mn-lt"/>
                <a:ea typeface="+mn-ea"/>
                <a:cs typeface="+mn-cs"/>
              </a:rPr>
              <a:t>人のみでした。</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このようにゲーム業界に入るにはかなりの努力が必要になります。</a:t>
            </a:r>
            <a:endParaRPr kumimoji="1" lang="en-US" altLang="ja-JP" sz="1200" kern="1200" dirty="0">
              <a:solidFill>
                <a:schemeClr val="tx1"/>
              </a:solidFill>
              <a:effectLst/>
              <a:latin typeface="+mn-lt"/>
              <a:ea typeface="+mn-ea"/>
              <a:cs typeface="+mn-cs"/>
            </a:endParaRPr>
          </a:p>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E370B6C3-1CE8-0897-7BEF-5FC87A08E5B0}"/>
              </a:ext>
            </a:extLst>
          </p:cNvPr>
          <p:cNvSpPr>
            <a:spLocks noGrp="1"/>
          </p:cNvSpPr>
          <p:nvPr>
            <p:ph type="sldNum" sz="quarter" idx="10"/>
          </p:nvPr>
        </p:nvSpPr>
        <p:spPr/>
        <p:txBody>
          <a:bodyPr/>
          <a:lstStyle/>
          <a:p>
            <a:fld id="{CE66CADE-3FFD-420C-BDFF-C58106D168D0}" type="slidenum">
              <a:rPr kumimoji="1" lang="ja-JP" altLang="en-US" smtClean="0"/>
              <a:t>9</a:t>
            </a:fld>
            <a:endParaRPr kumimoji="1" lang="ja-JP" altLang="en-US"/>
          </a:p>
        </p:txBody>
      </p:sp>
    </p:spTree>
    <p:extLst>
      <p:ext uri="{BB962C8B-B14F-4D97-AF65-F5344CB8AC3E}">
        <p14:creationId xmlns:p14="http://schemas.microsoft.com/office/powerpoint/2010/main" val="3763147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B162-1DB4-8F41-BFFF-48C506961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450102D-4C77-6630-89B7-20039590A04B}"/>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62C3793E-0FE4-AC6E-5BAC-2897C1654B11}"/>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そんなゲーム業界になんで目指そうと思ったのか、皆さんも何かしら目指そうと思ったきっかけってありますよね？</a:t>
            </a:r>
            <a:br>
              <a:rPr kumimoji="1" lang="en-US" altLang="ja-JP" sz="1200" kern="1200" dirty="0">
                <a:solidFill>
                  <a:schemeClr val="tx1"/>
                </a:solidFill>
                <a:effectLst/>
                <a:latin typeface="+mn-lt"/>
                <a:ea typeface="+mn-ea"/>
                <a:cs typeface="+mn-cs"/>
              </a:rPr>
            </a:br>
            <a:r>
              <a:rPr kumimoji="1" lang="ja-JP" altLang="en-US" sz="1200" kern="1200" dirty="0">
                <a:solidFill>
                  <a:schemeClr val="tx1"/>
                </a:solidFill>
                <a:effectLst/>
                <a:latin typeface="+mn-lt"/>
                <a:ea typeface="+mn-ea"/>
                <a:cs typeface="+mn-cs"/>
              </a:rPr>
              <a:t>「ゲーム作ってみたいな」とか「感動届けたい」とか「なんか楽しそう」とか色々あると思います。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今回はトークショーということもあるので、</a:t>
            </a:r>
            <a:r>
              <a:rPr kumimoji="1" lang="en-US" altLang="ja-JP" sz="1200" kern="1200" dirty="0">
                <a:solidFill>
                  <a:schemeClr val="tx1"/>
                </a:solidFill>
                <a:effectLst/>
                <a:latin typeface="+mn-lt"/>
                <a:ea typeface="+mn-ea"/>
                <a:cs typeface="+mn-cs"/>
              </a:rPr>
              <a:t>3</a:t>
            </a:r>
            <a:r>
              <a:rPr kumimoji="1" lang="ja-JP" altLang="en-US" sz="1200" kern="1200" dirty="0">
                <a:solidFill>
                  <a:schemeClr val="tx1"/>
                </a:solidFill>
                <a:effectLst/>
                <a:latin typeface="+mn-lt"/>
                <a:ea typeface="+mn-ea"/>
                <a:cs typeface="+mn-cs"/>
              </a:rPr>
              <a:t>人がなぜ目指したのかを聞いていきたいと思います。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～このスライドのまま、</a:t>
            </a:r>
            <a:r>
              <a:rPr kumimoji="1" lang="en-US" altLang="ja-JP" sz="1200" kern="1200" dirty="0">
                <a:solidFill>
                  <a:schemeClr val="tx1"/>
                </a:solidFill>
                <a:effectLst/>
                <a:latin typeface="+mn-lt"/>
                <a:ea typeface="+mn-ea"/>
                <a:cs typeface="+mn-cs"/>
              </a:rPr>
              <a:t>3</a:t>
            </a:r>
            <a:r>
              <a:rPr kumimoji="1" lang="ja-JP" altLang="en-US" sz="1200" kern="1200" dirty="0">
                <a:solidFill>
                  <a:schemeClr val="tx1"/>
                </a:solidFill>
                <a:effectLst/>
                <a:latin typeface="+mn-lt"/>
                <a:ea typeface="+mn-ea"/>
                <a:cs typeface="+mn-cs"/>
              </a:rPr>
              <a:t>人でトーク～</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4E08110-AD9D-DCE5-84BB-091D8FA5F690}"/>
              </a:ext>
            </a:extLst>
          </p:cNvPr>
          <p:cNvSpPr>
            <a:spLocks noGrp="1"/>
          </p:cNvSpPr>
          <p:nvPr>
            <p:ph type="sldNum" sz="quarter" idx="10"/>
          </p:nvPr>
        </p:nvSpPr>
        <p:spPr/>
        <p:txBody>
          <a:bodyPr/>
          <a:lstStyle/>
          <a:p>
            <a:fld id="{CE66CADE-3FFD-420C-BDFF-C58106D168D0}" type="slidenum">
              <a:rPr kumimoji="1" lang="ja-JP" altLang="en-US" smtClean="0"/>
              <a:t>10</a:t>
            </a:fld>
            <a:endParaRPr kumimoji="1" lang="ja-JP" altLang="en-US"/>
          </a:p>
        </p:txBody>
      </p:sp>
    </p:spTree>
    <p:extLst>
      <p:ext uri="{BB962C8B-B14F-4D97-AF65-F5344CB8AC3E}">
        <p14:creationId xmlns:p14="http://schemas.microsoft.com/office/powerpoint/2010/main" val="2711627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5239E-6840-467F-0B2A-CA31C8369C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ABBFAF-EB05-75EE-0CDA-F7485A0E4172}"/>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1D95C429-D2FE-3941-B76A-BBC942408F41}"/>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ただ何を努力していけばいいかわからないという人が大半だと思うので、何を努力すればいいか分からないですよね？</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プログラム？コミュニケーション？履歴書？</a:t>
            </a:r>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3</a:t>
            </a:r>
            <a:r>
              <a:rPr kumimoji="1" lang="ja-JP" altLang="en-US" sz="1200" kern="1200" dirty="0">
                <a:solidFill>
                  <a:schemeClr val="tx1"/>
                </a:solidFill>
                <a:effectLst/>
                <a:latin typeface="+mn-lt"/>
                <a:ea typeface="+mn-ea"/>
                <a:cs typeface="+mn-cs"/>
              </a:rPr>
              <a:t>人がどう頑張って就職できたのか、就活に向けて準備したことを聞いていきましょう。</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～このスライドのまま、</a:t>
            </a:r>
            <a:r>
              <a:rPr kumimoji="1" lang="en-US" altLang="ja-JP" sz="1200" kern="1200" dirty="0">
                <a:solidFill>
                  <a:schemeClr val="tx1"/>
                </a:solidFill>
                <a:effectLst/>
                <a:latin typeface="+mn-lt"/>
                <a:ea typeface="+mn-ea"/>
                <a:cs typeface="+mn-cs"/>
              </a:rPr>
              <a:t>3</a:t>
            </a:r>
            <a:r>
              <a:rPr kumimoji="1" lang="ja-JP" altLang="en-US" sz="1200" kern="1200" dirty="0">
                <a:solidFill>
                  <a:schemeClr val="tx1"/>
                </a:solidFill>
                <a:effectLst/>
                <a:latin typeface="+mn-lt"/>
                <a:ea typeface="+mn-ea"/>
                <a:cs typeface="+mn-cs"/>
              </a:rPr>
              <a:t>人でトーク～</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AAD9D1E6-3E91-DB23-1C13-974B22B5DA37}"/>
              </a:ext>
            </a:extLst>
          </p:cNvPr>
          <p:cNvSpPr>
            <a:spLocks noGrp="1"/>
          </p:cNvSpPr>
          <p:nvPr>
            <p:ph type="sldNum" sz="quarter" idx="10"/>
          </p:nvPr>
        </p:nvSpPr>
        <p:spPr/>
        <p:txBody>
          <a:bodyPr/>
          <a:lstStyle/>
          <a:p>
            <a:fld id="{CE66CADE-3FFD-420C-BDFF-C58106D168D0}" type="slidenum">
              <a:rPr kumimoji="1" lang="ja-JP" altLang="en-US" smtClean="0"/>
              <a:t>11</a:t>
            </a:fld>
            <a:endParaRPr kumimoji="1" lang="ja-JP" altLang="en-US"/>
          </a:p>
        </p:txBody>
      </p:sp>
    </p:spTree>
    <p:extLst>
      <p:ext uri="{BB962C8B-B14F-4D97-AF65-F5344CB8AC3E}">
        <p14:creationId xmlns:p14="http://schemas.microsoft.com/office/powerpoint/2010/main" val="1168957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439FE-33F5-C976-D447-E6BE92AF9E8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683C18-3778-8B4A-CA02-191D0D597F21}"/>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768CDA67-9447-04AF-AB7C-42E6CCB0A2BD}"/>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では、就活に向けての準備は分かったということで、頑張るぞ！</a:t>
            </a:r>
            <a:r>
              <a:rPr kumimoji="1" lang="en-US" altLang="ja-JP" sz="1200" kern="1200" dirty="0">
                <a:solidFill>
                  <a:schemeClr val="tx1"/>
                </a:solidFill>
                <a:effectLst/>
                <a:latin typeface="+mn-lt"/>
                <a:ea typeface="+mn-ea"/>
                <a:cs typeface="+mn-cs"/>
              </a:rPr>
              <a:t>……</a:t>
            </a:r>
            <a:r>
              <a:rPr kumimoji="1" lang="ja-JP" altLang="en-US" sz="1200" kern="1200" dirty="0">
                <a:solidFill>
                  <a:schemeClr val="tx1"/>
                </a:solidFill>
                <a:effectLst/>
                <a:latin typeface="+mn-lt"/>
                <a:ea typeface="+mn-ea"/>
                <a:cs typeface="+mn-cs"/>
              </a:rPr>
              <a:t>と言いたいところですが、</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「それって出来るの専門学校入った後じゃん、今は何をしたらいいの」ってなったかもしれません。</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と言うことで今からできることって何かあります？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～このスライドのまま、</a:t>
            </a:r>
            <a:r>
              <a:rPr kumimoji="1" lang="en-US" altLang="ja-JP" sz="1200" kern="1200" dirty="0">
                <a:solidFill>
                  <a:schemeClr val="tx1"/>
                </a:solidFill>
                <a:effectLst/>
                <a:latin typeface="+mn-lt"/>
                <a:ea typeface="+mn-ea"/>
                <a:cs typeface="+mn-cs"/>
              </a:rPr>
              <a:t>3</a:t>
            </a:r>
            <a:r>
              <a:rPr kumimoji="1" lang="ja-JP" altLang="en-US" sz="1200" kern="1200" dirty="0">
                <a:solidFill>
                  <a:schemeClr val="tx1"/>
                </a:solidFill>
                <a:effectLst/>
                <a:latin typeface="+mn-lt"/>
                <a:ea typeface="+mn-ea"/>
                <a:cs typeface="+mn-cs"/>
              </a:rPr>
              <a:t>人でトーク～</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99AFCB7B-4A84-18D8-9ACC-6FBA8CA3BC8A}"/>
              </a:ext>
            </a:extLst>
          </p:cNvPr>
          <p:cNvSpPr>
            <a:spLocks noGrp="1"/>
          </p:cNvSpPr>
          <p:nvPr>
            <p:ph type="sldNum" sz="quarter" idx="10"/>
          </p:nvPr>
        </p:nvSpPr>
        <p:spPr/>
        <p:txBody>
          <a:bodyPr/>
          <a:lstStyle/>
          <a:p>
            <a:fld id="{CE66CADE-3FFD-420C-BDFF-C58106D168D0}" type="slidenum">
              <a:rPr kumimoji="1" lang="ja-JP" altLang="en-US" smtClean="0"/>
              <a:t>12</a:t>
            </a:fld>
            <a:endParaRPr kumimoji="1" lang="ja-JP" altLang="en-US"/>
          </a:p>
        </p:txBody>
      </p:sp>
    </p:spTree>
    <p:extLst>
      <p:ext uri="{BB962C8B-B14F-4D97-AF65-F5344CB8AC3E}">
        <p14:creationId xmlns:p14="http://schemas.microsoft.com/office/powerpoint/2010/main" val="30956851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D0118-459E-3C23-7262-945511D7E8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05365B-0DDE-770B-3B26-43ACE579F9A4}"/>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B5D1627B-FA57-8603-368B-2BEC9E2681A8}"/>
              </a:ext>
            </a:extLst>
          </p:cNvPr>
          <p:cNvSpPr>
            <a:spLocks noGrp="1"/>
          </p:cNvSpPr>
          <p:nvPr>
            <p:ph type="body" idx="1"/>
          </p:nvPr>
        </p:nvSpPr>
        <p:spPr/>
        <p:txBody>
          <a:bodyPr/>
          <a:lstStyle/>
          <a:p>
            <a:r>
              <a:rPr kumimoji="1" lang="ja-JP" altLang="en-US" dirty="0"/>
              <a:t>最後に学校選びが大切なことについて話していきます。</a:t>
            </a:r>
            <a:endParaRPr kumimoji="1" lang="en-US" altLang="ja-JP" dirty="0"/>
          </a:p>
          <a:p>
            <a:endParaRPr kumimoji="1" lang="en-US" altLang="ja-JP" dirty="0"/>
          </a:p>
          <a:p>
            <a:r>
              <a:rPr kumimoji="1" lang="ja-JP" altLang="en-US" dirty="0"/>
              <a:t>正直ここら辺の話は学校側からお願いされた部分ではあるんですけどちゃんと自分の考えを話していきたいと思います。</a:t>
            </a:r>
            <a:endParaRPr kumimoji="1" lang="en-US" altLang="ja-JP" dirty="0"/>
          </a:p>
          <a:p>
            <a:r>
              <a:rPr kumimoji="1" lang="ja-JP" altLang="en-US" dirty="0"/>
              <a:t>これまで話したようにゲーム業界に入るのはめちゃくちゃ大変です。</a:t>
            </a:r>
            <a:endParaRPr kumimoji="1" lang="en-US" altLang="ja-JP" dirty="0"/>
          </a:p>
          <a:p>
            <a:r>
              <a:rPr kumimoji="1" lang="ja-JP" altLang="en-US" dirty="0"/>
              <a:t>なので、ちゃんとゲーム業界に向けて努力していかないといけません。ただやっていくとほんとにこの方向性で努力していいのかって心配になるときがあります。そんな時にしっかり頼れる先生がいればしっかり努力の方向性を整えてくれてやる気ＭＡＸで努力できる環境があることは大事なので学校選びはちゃんとし他方がいいです。</a:t>
            </a:r>
            <a:endParaRPr kumimoji="1" lang="en-US" altLang="ja-JP" dirty="0"/>
          </a:p>
          <a:p>
            <a:r>
              <a:rPr kumimoji="1" lang="ja-JP" altLang="en-US" dirty="0"/>
              <a:t>自分は心の底からこの学校に入学してよかったと思っているのでお勧めです。</a:t>
            </a:r>
            <a:endParaRPr kumimoji="1" lang="en-US" altLang="ja-JP" dirty="0"/>
          </a:p>
          <a:p>
            <a:endParaRPr kumimoji="1" lang="en-US" altLang="ja-JP" dirty="0"/>
          </a:p>
          <a:p>
            <a:r>
              <a:rPr kumimoji="1" lang="ja-JP" altLang="en-US" dirty="0"/>
              <a:t>ちょっと適当に付け加えてしまうんですけど</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大原学園の学校は専門課程の就職率</a:t>
            </a:r>
            <a:r>
              <a:rPr kumimoji="1" lang="en-US" altLang="ja-JP" dirty="0"/>
              <a:t>99.6</a:t>
            </a:r>
            <a:r>
              <a:rPr kumimoji="1" lang="ja-JP" altLang="en-US" dirty="0"/>
              <a:t>％</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なんで安心して進学していいと思います。</a:t>
            </a:r>
            <a:endParaRPr kumimoji="1" lang="en-US" altLang="ja-JP" dirty="0"/>
          </a:p>
          <a:p>
            <a:endParaRPr kumimoji="1" lang="en-US" altLang="ja-JP" dirty="0"/>
          </a:p>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A925F8EA-7157-D4EE-21E2-ED6D8F80922B}"/>
              </a:ext>
            </a:extLst>
          </p:cNvPr>
          <p:cNvSpPr>
            <a:spLocks noGrp="1"/>
          </p:cNvSpPr>
          <p:nvPr>
            <p:ph type="sldNum" sz="quarter" idx="10"/>
          </p:nvPr>
        </p:nvSpPr>
        <p:spPr/>
        <p:txBody>
          <a:bodyPr/>
          <a:lstStyle/>
          <a:p>
            <a:fld id="{CE66CADE-3FFD-420C-BDFF-C58106D168D0}" type="slidenum">
              <a:rPr kumimoji="1" lang="ja-JP" altLang="en-US" smtClean="0"/>
              <a:t>13</a:t>
            </a:fld>
            <a:endParaRPr kumimoji="1" lang="ja-JP" altLang="en-US"/>
          </a:p>
        </p:txBody>
      </p:sp>
    </p:spTree>
    <p:extLst>
      <p:ext uri="{BB962C8B-B14F-4D97-AF65-F5344CB8AC3E}">
        <p14:creationId xmlns:p14="http://schemas.microsoft.com/office/powerpoint/2010/main" val="1461915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D441-3105-3C75-839F-416CB53A73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0DA852-350F-CF85-69E2-EF8BFF6B77A7}"/>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E18CB408-CBFB-03D9-2277-E380D700E200}"/>
              </a:ext>
            </a:extLst>
          </p:cNvPr>
          <p:cNvSpPr>
            <a:spLocks noGrp="1"/>
          </p:cNvSpPr>
          <p:nvPr>
            <p:ph type="body" idx="1"/>
          </p:nvPr>
        </p:nvSpPr>
        <p:spPr/>
        <p:txBody>
          <a:bodyPr/>
          <a:lstStyle/>
          <a:p>
            <a:r>
              <a:rPr kumimoji="1" lang="ja-JP" altLang="en-US" sz="1200" kern="1200" dirty="0">
                <a:solidFill>
                  <a:schemeClr val="tx1"/>
                </a:solidFill>
                <a:effectLst/>
                <a:latin typeface="+mn-lt"/>
                <a:ea typeface="+mn-ea"/>
                <a:cs typeface="+mn-cs"/>
              </a:rPr>
              <a:t>ご清聴ありがとうございました！</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では今から質疑応答に移ります。</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何か質問はありませんか。</a:t>
            </a:r>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89D429F0-6CF7-5AB2-ED3D-421232ADF994}"/>
              </a:ext>
            </a:extLst>
          </p:cNvPr>
          <p:cNvSpPr>
            <a:spLocks noGrp="1"/>
          </p:cNvSpPr>
          <p:nvPr>
            <p:ph type="sldNum" sz="quarter" idx="10"/>
          </p:nvPr>
        </p:nvSpPr>
        <p:spPr/>
        <p:txBody>
          <a:bodyPr/>
          <a:lstStyle/>
          <a:p>
            <a:fld id="{CE66CADE-3FFD-420C-BDFF-C58106D168D0}" type="slidenum">
              <a:rPr kumimoji="1" lang="ja-JP" altLang="en-US" smtClean="0"/>
              <a:t>14</a:t>
            </a:fld>
            <a:endParaRPr kumimoji="1" lang="ja-JP" altLang="en-US"/>
          </a:p>
        </p:txBody>
      </p:sp>
    </p:spTree>
    <p:extLst>
      <p:ext uri="{BB962C8B-B14F-4D97-AF65-F5344CB8AC3E}">
        <p14:creationId xmlns:p14="http://schemas.microsoft.com/office/powerpoint/2010/main" val="492203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75977-F98F-FF6C-4D71-58EC0BAB42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97987C-C2BC-B8BA-7EC6-1BCA96408002}"/>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41E85531-A2E9-7427-BA70-BD900AA77B6E}"/>
              </a:ext>
            </a:extLst>
          </p:cNvPr>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14DD8F4D-6627-5F56-091E-1B6EB6EF4D2B}"/>
              </a:ext>
            </a:extLst>
          </p:cNvPr>
          <p:cNvSpPr>
            <a:spLocks noGrp="1"/>
          </p:cNvSpPr>
          <p:nvPr>
            <p:ph type="sldNum" sz="quarter" idx="10"/>
          </p:nvPr>
        </p:nvSpPr>
        <p:spPr/>
        <p:txBody>
          <a:bodyPr/>
          <a:lstStyle/>
          <a:p>
            <a:fld id="{CE66CADE-3FFD-420C-BDFF-C58106D168D0}" type="slidenum">
              <a:rPr kumimoji="1" lang="ja-JP" altLang="en-US" smtClean="0"/>
              <a:t>15</a:t>
            </a:fld>
            <a:endParaRPr kumimoji="1" lang="ja-JP" altLang="en-US"/>
          </a:p>
        </p:txBody>
      </p:sp>
    </p:spTree>
    <p:extLst>
      <p:ext uri="{BB962C8B-B14F-4D97-AF65-F5344CB8AC3E}">
        <p14:creationId xmlns:p14="http://schemas.microsoft.com/office/powerpoint/2010/main" val="38188893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grpSp>
        <p:nvGrpSpPr>
          <p:cNvPr id="7" name="グループ化 6"/>
          <p:cNvGrpSpPr/>
          <p:nvPr userDrawn="1"/>
        </p:nvGrpSpPr>
        <p:grpSpPr>
          <a:xfrm>
            <a:off x="0" y="0"/>
            <a:ext cx="12244497" cy="6858000"/>
            <a:chOff x="-1" y="0"/>
            <a:chExt cx="9183373" cy="6858000"/>
          </a:xfrm>
        </p:grpSpPr>
        <p:pic>
          <p:nvPicPr>
            <p:cNvPr id="8" name="図 7"/>
            <p:cNvPicPr>
              <a:picLocks noChangeAspect="1"/>
            </p:cNvPicPr>
            <p:nvPr/>
          </p:nvPicPr>
          <p:blipFill>
            <a:blip r:embed="rId2"/>
            <a:stretch>
              <a:fillRect/>
            </a:stretch>
          </p:blipFill>
          <p:spPr>
            <a:xfrm>
              <a:off x="-1" y="0"/>
              <a:ext cx="9183373" cy="5393410"/>
            </a:xfrm>
            <a:prstGeom prst="rect">
              <a:avLst/>
            </a:prstGeom>
          </p:spPr>
        </p:pic>
        <p:pic>
          <p:nvPicPr>
            <p:cNvPr id="9" name="図 8"/>
            <p:cNvPicPr>
              <a:picLocks noChangeAspect="1"/>
            </p:cNvPicPr>
            <p:nvPr/>
          </p:nvPicPr>
          <p:blipFill>
            <a:blip r:embed="rId3"/>
            <a:stretch>
              <a:fillRect/>
            </a:stretch>
          </p:blipFill>
          <p:spPr>
            <a:xfrm>
              <a:off x="0" y="5393410"/>
              <a:ext cx="9183372" cy="1464590"/>
            </a:xfrm>
            <a:prstGeom prst="rect">
              <a:avLst/>
            </a:prstGeom>
          </p:spPr>
        </p:pic>
      </p:grpSp>
    </p:spTree>
    <p:extLst>
      <p:ext uri="{BB962C8B-B14F-4D97-AF65-F5344CB8AC3E}">
        <p14:creationId xmlns:p14="http://schemas.microsoft.com/office/powerpoint/2010/main" val="1383411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dirty="0"/>
          </a:p>
        </p:txBody>
      </p:sp>
      <p:sp>
        <p:nvSpPr>
          <p:cNvPr id="5" name="Footer Placeholder 4"/>
          <p:cNvSpPr>
            <a:spLocks noGrp="1"/>
          </p:cNvSpPr>
          <p:nvPr>
            <p:ph type="ftr" sz="quarter" idx="11"/>
          </p:nvPr>
        </p:nvSpPr>
        <p:spPr/>
        <p:txBody>
          <a:bodyPr/>
          <a:lstStyle/>
          <a:p>
            <a:endParaRPr kumimoji="1" lang="ja-JP" altLang="en-US" dirty="0"/>
          </a:p>
        </p:txBody>
      </p:sp>
      <p:sp>
        <p:nvSpPr>
          <p:cNvPr id="6" name="Slide Number Placeholder 5"/>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162051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387027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90585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063375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79254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472036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968066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578469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155434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B8B81F-3E1C-4EDB-A504-42CFA5967A65}" type="datetimeFigureOut">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684174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B8B81F-3E1C-4EDB-A504-42CFA5967A65}" type="datetimeFigureOut">
              <a:rPr kumimoji="1" lang="ja-JP" altLang="en-US" smtClean="0"/>
              <a:t>2025/12/16</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2A5FEA-CD82-4F13-9205-C4C8B2C3E1D7}" type="slidenum">
              <a:rPr kumimoji="1" lang="ja-JP" altLang="en-US" smtClean="0"/>
              <a:t>‹#›</a:t>
            </a:fld>
            <a:endParaRPr kumimoji="1" lang="ja-JP" altLang="en-US"/>
          </a:p>
        </p:txBody>
      </p:sp>
    </p:spTree>
    <p:extLst>
      <p:ext uri="{BB962C8B-B14F-4D97-AF65-F5344CB8AC3E}">
        <p14:creationId xmlns:p14="http://schemas.microsoft.com/office/powerpoint/2010/main" val="323546173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E174EEE1-54E2-4FE0-A8E2-55FCBCAE26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8" y="0"/>
            <a:ext cx="12191999" cy="6858000"/>
          </a:xfrm>
          <a:prstGeom prst="rect">
            <a:avLst/>
          </a:prstGeom>
        </p:spPr>
      </p:pic>
      <p:pic>
        <p:nvPicPr>
          <p:cNvPr id="7" name="図 6">
            <a:extLst>
              <a:ext uri="{FF2B5EF4-FFF2-40B4-BE49-F238E27FC236}">
                <a16:creationId xmlns:a16="http://schemas.microsoft.com/office/drawing/2014/main" id="{F6AE1A10-A87B-42B4-86BB-18C938938853}"/>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48239" y="307627"/>
            <a:ext cx="10165808" cy="5718267"/>
          </a:xfrm>
          <a:prstGeom prst="rect">
            <a:avLst/>
          </a:prstGeom>
        </p:spPr>
      </p:pic>
      <p:sp>
        <p:nvSpPr>
          <p:cNvPr id="9" name="テキスト ボックス 8"/>
          <p:cNvSpPr txBox="1"/>
          <p:nvPr/>
        </p:nvSpPr>
        <p:spPr>
          <a:xfrm>
            <a:off x="8216541" y="2367415"/>
            <a:ext cx="2595582" cy="1107996"/>
          </a:xfrm>
          <a:prstGeom prst="rect">
            <a:avLst/>
          </a:prstGeom>
          <a:noFill/>
        </p:spPr>
        <p:txBody>
          <a:bodyPr wrap="none" rtlCol="0">
            <a:spAutoFit/>
          </a:bodyPr>
          <a:lstStyle/>
          <a:p>
            <a:r>
              <a:rPr kumimoji="1" lang="en-US" altLang="ja-JP" sz="6600" spc="300" dirty="0">
                <a:solidFill>
                  <a:schemeClr val="bg1"/>
                </a:solidFill>
                <a:latin typeface="Arial Black" panose="020B0A04020102020204" pitchFamily="34" charset="0"/>
              </a:rPr>
              <a:t>2025</a:t>
            </a:r>
            <a:endParaRPr kumimoji="1" lang="ja-JP" altLang="en-US" sz="6600" spc="300" dirty="0">
              <a:solidFill>
                <a:schemeClr val="bg1"/>
              </a:solidFill>
              <a:latin typeface="Arial Black" panose="020B0A04020102020204" pitchFamily="34" charset="0"/>
            </a:endParaRPr>
          </a:p>
        </p:txBody>
      </p:sp>
      <p:sp>
        <p:nvSpPr>
          <p:cNvPr id="6" name="テキスト ボックス 5">
            <a:extLst>
              <a:ext uri="{FF2B5EF4-FFF2-40B4-BE49-F238E27FC236}">
                <a16:creationId xmlns:a16="http://schemas.microsoft.com/office/drawing/2014/main" id="{7BCBE9A5-2681-4DCC-ABD4-50E12C356965}"/>
              </a:ext>
            </a:extLst>
          </p:cNvPr>
          <p:cNvSpPr txBox="1"/>
          <p:nvPr/>
        </p:nvSpPr>
        <p:spPr>
          <a:xfrm>
            <a:off x="6889254" y="3657600"/>
            <a:ext cx="5250155" cy="769441"/>
          </a:xfrm>
          <a:prstGeom prst="rect">
            <a:avLst/>
          </a:prstGeom>
          <a:noFill/>
        </p:spPr>
        <p:txBody>
          <a:bodyPr wrap="none" rtlCol="0">
            <a:spAutoFit/>
          </a:bodyPr>
          <a:lstStyle/>
          <a:p>
            <a:pPr algn="ctr"/>
            <a:r>
              <a:rPr kumimoji="1" lang="ja-JP" altLang="en-US" sz="4400" b="1" dirty="0">
                <a:ln w="12700">
                  <a:solidFill>
                    <a:schemeClr val="tx1"/>
                  </a:solidFill>
                </a:ln>
                <a:solidFill>
                  <a:srgbClr val="FFFF00"/>
                </a:solidFill>
                <a:latin typeface="HGP創英角ｺﾞｼｯｸUB" panose="020B0900000000000000" pitchFamily="50" charset="-128"/>
                <a:ea typeface="HGP創英角ｺﾞｼｯｸUB" panose="020B0900000000000000" pitchFamily="50" charset="-128"/>
              </a:rPr>
              <a:t>スペシャルトークショー</a:t>
            </a:r>
          </a:p>
        </p:txBody>
      </p:sp>
      <p:sp>
        <p:nvSpPr>
          <p:cNvPr id="10" name="テキスト ボックス 9">
            <a:extLst>
              <a:ext uri="{FF2B5EF4-FFF2-40B4-BE49-F238E27FC236}">
                <a16:creationId xmlns:a16="http://schemas.microsoft.com/office/drawing/2014/main" id="{468C3EE3-C20E-418D-B83F-FFEC56C33189}"/>
              </a:ext>
            </a:extLst>
          </p:cNvPr>
          <p:cNvSpPr txBox="1"/>
          <p:nvPr/>
        </p:nvSpPr>
        <p:spPr>
          <a:xfrm>
            <a:off x="8178872" y="4609230"/>
            <a:ext cx="2670924" cy="523220"/>
          </a:xfrm>
          <a:prstGeom prst="rect">
            <a:avLst/>
          </a:prstGeom>
          <a:noFill/>
        </p:spPr>
        <p:txBody>
          <a:bodyPr wrap="none" rtlCol="0">
            <a:spAutoFit/>
          </a:bodyPr>
          <a:lstStyle/>
          <a:p>
            <a:pPr algn="ctr"/>
            <a:r>
              <a:rPr kumimoji="1" lang="ja-JP" altLang="en-US" sz="2800" dirty="0">
                <a:ln>
                  <a:solidFill>
                    <a:schemeClr val="tx1"/>
                  </a:solidFill>
                </a:ln>
                <a:solidFill>
                  <a:srgbClr val="FFFF00"/>
                </a:solidFill>
                <a:latin typeface="HGP創英角ｺﾞｼｯｸUB" panose="020B0900000000000000" pitchFamily="50" charset="-128"/>
                <a:ea typeface="HGP創英角ｺﾞｼｯｸUB" panose="020B0900000000000000" pitchFamily="50" charset="-128"/>
              </a:rPr>
              <a:t>～就活虎の巻～</a:t>
            </a:r>
          </a:p>
        </p:txBody>
      </p:sp>
      <p:pic>
        <p:nvPicPr>
          <p:cNvPr id="4" name="図 3" descr="ロゴ&#10;&#10;AI 生成コンテンツは誤りを含む可能性があります。">
            <a:extLst>
              <a:ext uri="{FF2B5EF4-FFF2-40B4-BE49-F238E27FC236}">
                <a16:creationId xmlns:a16="http://schemas.microsoft.com/office/drawing/2014/main" id="{EB3FC9CF-9319-C170-B943-B12D6D7F4C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215" y="600231"/>
            <a:ext cx="6255741" cy="1146886"/>
          </a:xfrm>
          <a:prstGeom prst="rect">
            <a:avLst/>
          </a:prstGeom>
        </p:spPr>
      </p:pic>
      <p:pic>
        <p:nvPicPr>
          <p:cNvPr id="13" name="図 12">
            <a:extLst>
              <a:ext uri="{FF2B5EF4-FFF2-40B4-BE49-F238E27FC236}">
                <a16:creationId xmlns:a16="http://schemas.microsoft.com/office/drawing/2014/main" id="{D01C6FDC-C51E-4793-AB7F-28864E6372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8194" y="4399048"/>
            <a:ext cx="3532994" cy="1617515"/>
          </a:xfrm>
          <a:prstGeom prst="rect">
            <a:avLst/>
          </a:prstGeom>
        </p:spPr>
      </p:pic>
    </p:spTree>
    <p:extLst>
      <p:ext uri="{BB962C8B-B14F-4D97-AF65-F5344CB8AC3E}">
        <p14:creationId xmlns:p14="http://schemas.microsoft.com/office/powerpoint/2010/main" val="2312300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テキスト ボックス 10"/>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目次</a:t>
            </a:r>
          </a:p>
        </p:txBody>
      </p:sp>
      <p:sp>
        <p:nvSpPr>
          <p:cNvPr id="13" name="テキスト ボックス 12">
            <a:extLst>
              <a:ext uri="{FF2B5EF4-FFF2-40B4-BE49-F238E27FC236}">
                <a16:creationId xmlns:a16="http://schemas.microsoft.com/office/drawing/2014/main" id="{4081985D-69F9-4443-9BF9-8041AC5F0AEB}"/>
              </a:ext>
            </a:extLst>
          </p:cNvPr>
          <p:cNvSpPr txBox="1"/>
          <p:nvPr/>
        </p:nvSpPr>
        <p:spPr>
          <a:xfrm flipH="1">
            <a:off x="453165" y="1189917"/>
            <a:ext cx="11285670" cy="3970318"/>
          </a:xfrm>
          <a:prstGeom prst="rect">
            <a:avLst/>
          </a:prstGeom>
          <a:noFill/>
        </p:spPr>
        <p:txBody>
          <a:bodyPr wrap="square" rtlCol="0">
            <a:spAutoFit/>
          </a:bodyPr>
          <a:lstStyle/>
          <a:p>
            <a:r>
              <a:rPr kumimoji="1" lang="en-US" altLang="ja-JP" sz="3600" b="1" dirty="0"/>
              <a:t>1.</a:t>
            </a:r>
            <a:r>
              <a:rPr kumimoji="1" lang="ja-JP" altLang="en-US" sz="3600" b="1" dirty="0"/>
              <a:t>自己紹介</a:t>
            </a:r>
            <a:endParaRPr kumimoji="1" lang="en-US" altLang="ja-JP" sz="3600" b="1" dirty="0"/>
          </a:p>
          <a:p>
            <a:r>
              <a:rPr kumimoji="1" lang="en-US" altLang="ja-JP" sz="3600" b="1" dirty="0"/>
              <a:t>2.</a:t>
            </a:r>
            <a:r>
              <a:rPr kumimoji="1" lang="ja-JP" altLang="en-US" sz="3600" b="1" dirty="0"/>
              <a:t>最近のゲーム業界について</a:t>
            </a:r>
            <a:endParaRPr kumimoji="1" lang="en-US" altLang="ja-JP" sz="3600" b="1" dirty="0"/>
          </a:p>
          <a:p>
            <a:r>
              <a:rPr kumimoji="1" lang="en-US" altLang="ja-JP" sz="3600" b="1" dirty="0"/>
              <a:t>3.</a:t>
            </a:r>
            <a:r>
              <a:rPr kumimoji="1" lang="ja-JP" altLang="en-US" sz="3600" b="1" dirty="0"/>
              <a:t>どうしてゲーム業界を目指したの？</a:t>
            </a:r>
            <a:endParaRPr kumimoji="1" lang="en-US" altLang="ja-JP" sz="3600" b="1" dirty="0"/>
          </a:p>
          <a:p>
            <a:r>
              <a:rPr kumimoji="1" lang="en-US" altLang="ja-JP" sz="3600" b="1" dirty="0"/>
              <a:t>4.</a:t>
            </a:r>
            <a:r>
              <a:rPr kumimoji="1" lang="ja-JP" altLang="en-US" sz="3600" b="1" dirty="0"/>
              <a:t>就活に向けて準備したこと</a:t>
            </a:r>
            <a:endParaRPr kumimoji="1" lang="en-US" altLang="ja-JP" sz="3600" b="1" dirty="0"/>
          </a:p>
          <a:p>
            <a:r>
              <a:rPr kumimoji="1" lang="en-US" altLang="ja-JP" sz="3600" b="1" dirty="0"/>
              <a:t>5.</a:t>
            </a:r>
            <a:r>
              <a:rPr kumimoji="1" lang="ja-JP" altLang="en-US" sz="3600" b="1" dirty="0"/>
              <a:t>今のうちからできること</a:t>
            </a:r>
            <a:endParaRPr kumimoji="1" lang="en-US" altLang="ja-JP" sz="3600" b="1" dirty="0"/>
          </a:p>
          <a:p>
            <a:r>
              <a:rPr kumimoji="1" lang="en-US" altLang="ja-JP" sz="3600" b="1" dirty="0"/>
              <a:t>6.</a:t>
            </a:r>
            <a:r>
              <a:rPr kumimoji="1" lang="ja-JP" altLang="en-US" sz="3600" b="1" dirty="0"/>
              <a:t>学校選びが大切</a:t>
            </a:r>
            <a:endParaRPr kumimoji="1" lang="en-US" altLang="ja-JP" sz="3600" b="1" dirty="0"/>
          </a:p>
          <a:p>
            <a:r>
              <a:rPr kumimoji="1" lang="en-US" altLang="ja-JP" sz="3600" b="1" dirty="0"/>
              <a:t>7.</a:t>
            </a:r>
            <a:r>
              <a:rPr kumimoji="1" lang="ja-JP" altLang="en-US" sz="3600" b="1" dirty="0"/>
              <a:t>質疑応答</a:t>
            </a:r>
            <a:endParaRPr kumimoji="1" lang="en-US" altLang="ja-JP" sz="3600" b="1" dirty="0"/>
          </a:p>
        </p:txBody>
      </p:sp>
    </p:spTree>
    <p:extLst>
      <p:ext uri="{BB962C8B-B14F-4D97-AF65-F5344CB8AC3E}">
        <p14:creationId xmlns:p14="http://schemas.microsoft.com/office/powerpoint/2010/main" val="3751773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3EEA366-C43E-F14F-2610-E2843C59719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85AD4D-86F3-9CEC-FFAE-B6B2E7E2F1AC}"/>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自己紹介</a:t>
            </a:r>
          </a:p>
        </p:txBody>
      </p:sp>
      <p:sp>
        <p:nvSpPr>
          <p:cNvPr id="3" name="テキスト ボックス 2">
            <a:extLst>
              <a:ext uri="{FF2B5EF4-FFF2-40B4-BE49-F238E27FC236}">
                <a16:creationId xmlns:a16="http://schemas.microsoft.com/office/drawing/2014/main" id="{B3287693-05BE-3155-D4BA-DCD1698E8F0B}"/>
              </a:ext>
            </a:extLst>
          </p:cNvPr>
          <p:cNvSpPr txBox="1"/>
          <p:nvPr/>
        </p:nvSpPr>
        <p:spPr>
          <a:xfrm>
            <a:off x="946005" y="1505550"/>
            <a:ext cx="5794409" cy="1323439"/>
          </a:xfrm>
          <a:prstGeom prst="rect">
            <a:avLst/>
          </a:prstGeom>
          <a:noFill/>
        </p:spPr>
        <p:txBody>
          <a:bodyPr wrap="square" rtlCol="0">
            <a:spAutoFit/>
          </a:bodyPr>
          <a:lstStyle/>
          <a:p>
            <a:r>
              <a:rPr kumimoji="1" lang="ja-JP" altLang="en-US" sz="4000" dirty="0"/>
              <a:t>名前　髙﨑 白琥</a:t>
            </a:r>
            <a:br>
              <a:rPr kumimoji="1" lang="en-US" altLang="ja-JP" sz="4000" dirty="0"/>
            </a:br>
            <a:r>
              <a:rPr kumimoji="1" lang="ja-JP" altLang="en-US" sz="4000" dirty="0"/>
              <a:t>趣味　演技</a:t>
            </a:r>
            <a:endParaRPr kumimoji="1" lang="en-US" altLang="ja-JP" sz="4000" dirty="0"/>
          </a:p>
        </p:txBody>
      </p:sp>
      <p:sp>
        <p:nvSpPr>
          <p:cNvPr id="9" name="テキスト ボックス 8">
            <a:extLst>
              <a:ext uri="{FF2B5EF4-FFF2-40B4-BE49-F238E27FC236}">
                <a16:creationId xmlns:a16="http://schemas.microsoft.com/office/drawing/2014/main" id="{205AAE19-CBD9-C114-EFBF-A4AFF869F546}"/>
              </a:ext>
            </a:extLst>
          </p:cNvPr>
          <p:cNvSpPr txBox="1"/>
          <p:nvPr/>
        </p:nvSpPr>
        <p:spPr>
          <a:xfrm>
            <a:off x="836489" y="4823067"/>
            <a:ext cx="5794409" cy="1323439"/>
          </a:xfrm>
          <a:prstGeom prst="rect">
            <a:avLst/>
          </a:prstGeom>
          <a:noFill/>
        </p:spPr>
        <p:txBody>
          <a:bodyPr wrap="square" rtlCol="0">
            <a:spAutoFit/>
          </a:bodyPr>
          <a:lstStyle/>
          <a:p>
            <a:r>
              <a:rPr kumimoji="1" lang="ja-JP" altLang="en-US" sz="8000" b="1" dirty="0">
                <a:solidFill>
                  <a:srgbClr val="FF0000"/>
                </a:solidFill>
              </a:rPr>
              <a:t>ドラクエ</a:t>
            </a:r>
            <a:endParaRPr kumimoji="1" lang="en-US" altLang="ja-JP" sz="8000" b="1" dirty="0">
              <a:solidFill>
                <a:srgbClr val="0070C0"/>
              </a:solidFill>
            </a:endParaRPr>
          </a:p>
        </p:txBody>
      </p:sp>
      <p:sp>
        <p:nvSpPr>
          <p:cNvPr id="7" name="テキスト ボックス 6">
            <a:extLst>
              <a:ext uri="{FF2B5EF4-FFF2-40B4-BE49-F238E27FC236}">
                <a16:creationId xmlns:a16="http://schemas.microsoft.com/office/drawing/2014/main" id="{32F958CB-F097-FD32-6B53-E42BC8E5AC77}"/>
              </a:ext>
            </a:extLst>
          </p:cNvPr>
          <p:cNvSpPr txBox="1"/>
          <p:nvPr/>
        </p:nvSpPr>
        <p:spPr>
          <a:xfrm>
            <a:off x="409073" y="3429000"/>
            <a:ext cx="5794409" cy="707886"/>
          </a:xfrm>
          <a:prstGeom prst="rect">
            <a:avLst/>
          </a:prstGeom>
          <a:noFill/>
        </p:spPr>
        <p:txBody>
          <a:bodyPr wrap="square" rtlCol="0">
            <a:spAutoFit/>
          </a:bodyPr>
          <a:lstStyle/>
          <a:p>
            <a:r>
              <a:rPr kumimoji="1" lang="ja-JP" altLang="en-US" sz="4000" dirty="0"/>
              <a:t>好きなゲーム</a:t>
            </a:r>
          </a:p>
        </p:txBody>
      </p:sp>
      <p:pic>
        <p:nvPicPr>
          <p:cNvPr id="5" name="図 4">
            <a:extLst>
              <a:ext uri="{FF2B5EF4-FFF2-40B4-BE49-F238E27FC236}">
                <a16:creationId xmlns:a16="http://schemas.microsoft.com/office/drawing/2014/main" id="{9FED2219-7DE2-4B04-83F5-23A47DC120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3386" y="2929573"/>
            <a:ext cx="6369541" cy="3580925"/>
          </a:xfrm>
          <a:prstGeom prst="rect">
            <a:avLst/>
          </a:prstGeom>
        </p:spPr>
      </p:pic>
      <p:pic>
        <p:nvPicPr>
          <p:cNvPr id="10" name="図 9">
            <a:extLst>
              <a:ext uri="{FF2B5EF4-FFF2-40B4-BE49-F238E27FC236}">
                <a16:creationId xmlns:a16="http://schemas.microsoft.com/office/drawing/2014/main" id="{C89B143B-3EAB-4874-BEC9-6088612DAD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0866" y="1049980"/>
            <a:ext cx="2859094" cy="1308983"/>
          </a:xfrm>
          <a:prstGeom prst="rect">
            <a:avLst/>
          </a:prstGeom>
        </p:spPr>
      </p:pic>
    </p:spTree>
    <p:extLst>
      <p:ext uri="{BB962C8B-B14F-4D97-AF65-F5344CB8AC3E}">
        <p14:creationId xmlns:p14="http://schemas.microsoft.com/office/powerpoint/2010/main" val="343708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3EEA366-C43E-F14F-2610-E2843C59719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85AD4D-86F3-9CEC-FFAE-B6B2E7E2F1AC}"/>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自己紹介</a:t>
            </a:r>
          </a:p>
        </p:txBody>
      </p:sp>
      <p:sp>
        <p:nvSpPr>
          <p:cNvPr id="3" name="テキスト ボックス 2">
            <a:extLst>
              <a:ext uri="{FF2B5EF4-FFF2-40B4-BE49-F238E27FC236}">
                <a16:creationId xmlns:a16="http://schemas.microsoft.com/office/drawing/2014/main" id="{B3287693-05BE-3155-D4BA-DCD1698E8F0B}"/>
              </a:ext>
            </a:extLst>
          </p:cNvPr>
          <p:cNvSpPr txBox="1"/>
          <p:nvPr/>
        </p:nvSpPr>
        <p:spPr>
          <a:xfrm>
            <a:off x="973437" y="1274539"/>
            <a:ext cx="5794409" cy="1323439"/>
          </a:xfrm>
          <a:prstGeom prst="rect">
            <a:avLst/>
          </a:prstGeom>
          <a:noFill/>
        </p:spPr>
        <p:txBody>
          <a:bodyPr wrap="square" rtlCol="0">
            <a:spAutoFit/>
          </a:bodyPr>
          <a:lstStyle/>
          <a:p>
            <a:r>
              <a:rPr kumimoji="1" lang="ja-JP" altLang="en-US" sz="4000" dirty="0"/>
              <a:t>名前　廣本 勝志</a:t>
            </a:r>
            <a:endParaRPr kumimoji="1" lang="en-US" altLang="ja-JP" sz="4000" dirty="0"/>
          </a:p>
          <a:p>
            <a:r>
              <a:rPr kumimoji="1" lang="ja-JP" altLang="en-US" sz="4000" dirty="0"/>
              <a:t>趣味　自炊、筋トレ</a:t>
            </a:r>
            <a:endParaRPr kumimoji="1" lang="en-US" altLang="ja-JP" sz="4000" dirty="0"/>
          </a:p>
        </p:txBody>
      </p:sp>
      <p:pic>
        <p:nvPicPr>
          <p:cNvPr id="8" name="図 7" descr="屋外, 草, 雪, 山 が含まれている画像&#10;&#10;AI 生成コンテンツは誤りを含む可能性があります。">
            <a:extLst>
              <a:ext uri="{FF2B5EF4-FFF2-40B4-BE49-F238E27FC236}">
                <a16:creationId xmlns:a16="http://schemas.microsoft.com/office/drawing/2014/main" id="{FAD3813E-1E14-E36D-887D-22396F2AC2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3377" y="2209420"/>
            <a:ext cx="5651420" cy="4101205"/>
          </a:xfrm>
          <a:prstGeom prst="rect">
            <a:avLst/>
          </a:prstGeom>
        </p:spPr>
      </p:pic>
      <p:sp>
        <p:nvSpPr>
          <p:cNvPr id="9" name="テキスト ボックス 8">
            <a:extLst>
              <a:ext uri="{FF2B5EF4-FFF2-40B4-BE49-F238E27FC236}">
                <a16:creationId xmlns:a16="http://schemas.microsoft.com/office/drawing/2014/main" id="{205AAE19-CBD9-C114-EFBF-A4AFF869F546}"/>
              </a:ext>
            </a:extLst>
          </p:cNvPr>
          <p:cNvSpPr txBox="1"/>
          <p:nvPr/>
        </p:nvSpPr>
        <p:spPr>
          <a:xfrm>
            <a:off x="397577" y="3325765"/>
            <a:ext cx="5794409" cy="2554545"/>
          </a:xfrm>
          <a:prstGeom prst="rect">
            <a:avLst/>
          </a:prstGeom>
          <a:noFill/>
        </p:spPr>
        <p:txBody>
          <a:bodyPr wrap="square" rtlCol="0">
            <a:spAutoFit/>
          </a:bodyPr>
          <a:lstStyle/>
          <a:p>
            <a:r>
              <a:rPr kumimoji="1" lang="ja-JP" altLang="en-US" sz="8000" b="1" dirty="0">
                <a:solidFill>
                  <a:srgbClr val="FF0000"/>
                </a:solidFill>
              </a:rPr>
              <a:t>モンハン</a:t>
            </a:r>
            <a:endParaRPr kumimoji="1" lang="en-US" altLang="ja-JP" sz="8000" b="1" dirty="0">
              <a:solidFill>
                <a:srgbClr val="FF0000"/>
              </a:solidFill>
            </a:endParaRPr>
          </a:p>
          <a:p>
            <a:r>
              <a:rPr kumimoji="1" lang="en-US" altLang="ja-JP" sz="8000" b="1" dirty="0">
                <a:solidFill>
                  <a:srgbClr val="FF0000"/>
                </a:solidFill>
              </a:rPr>
              <a:t>			</a:t>
            </a:r>
            <a:r>
              <a:rPr kumimoji="1" lang="ja-JP" altLang="en-US" sz="8000" b="1" dirty="0">
                <a:solidFill>
                  <a:srgbClr val="FF0000"/>
                </a:solidFill>
              </a:rPr>
              <a:t>ワイルズ</a:t>
            </a:r>
            <a:endParaRPr kumimoji="1" lang="en-US" altLang="ja-JP" sz="8000" b="1" dirty="0">
              <a:solidFill>
                <a:srgbClr val="0070C0"/>
              </a:solidFill>
            </a:endParaRPr>
          </a:p>
        </p:txBody>
      </p:sp>
      <p:sp>
        <p:nvSpPr>
          <p:cNvPr id="7" name="テキスト ボックス 6">
            <a:extLst>
              <a:ext uri="{FF2B5EF4-FFF2-40B4-BE49-F238E27FC236}">
                <a16:creationId xmlns:a16="http://schemas.microsoft.com/office/drawing/2014/main" id="{32F958CB-F097-FD32-6B53-E42BC8E5AC77}"/>
              </a:ext>
            </a:extLst>
          </p:cNvPr>
          <p:cNvSpPr txBox="1"/>
          <p:nvPr/>
        </p:nvSpPr>
        <p:spPr>
          <a:xfrm>
            <a:off x="500513" y="2809733"/>
            <a:ext cx="5794409" cy="707886"/>
          </a:xfrm>
          <a:prstGeom prst="rect">
            <a:avLst/>
          </a:prstGeom>
          <a:noFill/>
        </p:spPr>
        <p:txBody>
          <a:bodyPr wrap="square" rtlCol="0">
            <a:spAutoFit/>
          </a:bodyPr>
          <a:lstStyle/>
          <a:p>
            <a:r>
              <a:rPr kumimoji="1" lang="ja-JP" altLang="en-US" sz="4000" dirty="0"/>
              <a:t>好きなゲーム</a:t>
            </a:r>
          </a:p>
        </p:txBody>
      </p:sp>
      <p:pic>
        <p:nvPicPr>
          <p:cNvPr id="10" name="図 9" descr="ロゴ&#10;&#10;AI 生成コンテンツは誤りを含む可能性があります。">
            <a:extLst>
              <a:ext uri="{FF2B5EF4-FFF2-40B4-BE49-F238E27FC236}">
                <a16:creationId xmlns:a16="http://schemas.microsoft.com/office/drawing/2014/main" id="{ECC00BAB-3788-439C-B29F-BE16252712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4922" y="921601"/>
            <a:ext cx="5534490" cy="1014657"/>
          </a:xfrm>
          <a:prstGeom prst="rect">
            <a:avLst/>
          </a:prstGeom>
        </p:spPr>
      </p:pic>
    </p:spTree>
    <p:extLst>
      <p:ext uri="{BB962C8B-B14F-4D97-AF65-F5344CB8AC3E}">
        <p14:creationId xmlns:p14="http://schemas.microsoft.com/office/powerpoint/2010/main" val="210482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3EEA366-C43E-F14F-2610-E2843C59719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85AD4D-86F3-9CEC-FFAE-B6B2E7E2F1AC}"/>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自己紹介</a:t>
            </a:r>
          </a:p>
        </p:txBody>
      </p:sp>
      <p:sp>
        <p:nvSpPr>
          <p:cNvPr id="3" name="テキスト ボックス 2">
            <a:extLst>
              <a:ext uri="{FF2B5EF4-FFF2-40B4-BE49-F238E27FC236}">
                <a16:creationId xmlns:a16="http://schemas.microsoft.com/office/drawing/2014/main" id="{B3287693-05BE-3155-D4BA-DCD1698E8F0B}"/>
              </a:ext>
            </a:extLst>
          </p:cNvPr>
          <p:cNvSpPr txBox="1"/>
          <p:nvPr/>
        </p:nvSpPr>
        <p:spPr>
          <a:xfrm>
            <a:off x="973437" y="1274539"/>
            <a:ext cx="6323475" cy="1323439"/>
          </a:xfrm>
          <a:prstGeom prst="rect">
            <a:avLst/>
          </a:prstGeom>
          <a:noFill/>
        </p:spPr>
        <p:txBody>
          <a:bodyPr wrap="square" rtlCol="0">
            <a:spAutoFit/>
          </a:bodyPr>
          <a:lstStyle/>
          <a:p>
            <a:r>
              <a:rPr kumimoji="1" lang="ja-JP" altLang="en-US" sz="4000" dirty="0"/>
              <a:t>名前　田代 昂汰</a:t>
            </a:r>
            <a:endParaRPr kumimoji="1" lang="en-US" altLang="ja-JP" sz="4000" dirty="0"/>
          </a:p>
          <a:p>
            <a:r>
              <a:rPr kumimoji="1" lang="ja-JP" altLang="en-US" sz="4000" dirty="0"/>
              <a:t>趣味　ルービックキューブ</a:t>
            </a:r>
            <a:endParaRPr kumimoji="1" lang="en-US" altLang="ja-JP" sz="4000" dirty="0"/>
          </a:p>
        </p:txBody>
      </p:sp>
      <p:sp>
        <p:nvSpPr>
          <p:cNvPr id="9" name="テキスト ボックス 8">
            <a:extLst>
              <a:ext uri="{FF2B5EF4-FFF2-40B4-BE49-F238E27FC236}">
                <a16:creationId xmlns:a16="http://schemas.microsoft.com/office/drawing/2014/main" id="{205AAE19-CBD9-C114-EFBF-A4AFF869F546}"/>
              </a:ext>
            </a:extLst>
          </p:cNvPr>
          <p:cNvSpPr txBox="1"/>
          <p:nvPr/>
        </p:nvSpPr>
        <p:spPr>
          <a:xfrm>
            <a:off x="1502503" y="3930445"/>
            <a:ext cx="5794409" cy="1323439"/>
          </a:xfrm>
          <a:prstGeom prst="rect">
            <a:avLst/>
          </a:prstGeom>
          <a:noFill/>
        </p:spPr>
        <p:txBody>
          <a:bodyPr wrap="square" rtlCol="0">
            <a:spAutoFit/>
          </a:bodyPr>
          <a:lstStyle/>
          <a:p>
            <a:r>
              <a:rPr kumimoji="1" lang="en-US" altLang="ja-JP" sz="8000" b="1" dirty="0" err="1">
                <a:solidFill>
                  <a:srgbClr val="FF0000"/>
                </a:solidFill>
              </a:rPr>
              <a:t>LoL</a:t>
            </a:r>
            <a:endParaRPr kumimoji="1" lang="en-US" altLang="ja-JP" sz="8000" b="1" dirty="0">
              <a:solidFill>
                <a:srgbClr val="0070C0"/>
              </a:solidFill>
            </a:endParaRPr>
          </a:p>
        </p:txBody>
      </p:sp>
      <p:sp>
        <p:nvSpPr>
          <p:cNvPr id="7" name="テキスト ボックス 6">
            <a:extLst>
              <a:ext uri="{FF2B5EF4-FFF2-40B4-BE49-F238E27FC236}">
                <a16:creationId xmlns:a16="http://schemas.microsoft.com/office/drawing/2014/main" id="{32F958CB-F097-FD32-6B53-E42BC8E5AC77}"/>
              </a:ext>
            </a:extLst>
          </p:cNvPr>
          <p:cNvSpPr txBox="1"/>
          <p:nvPr/>
        </p:nvSpPr>
        <p:spPr>
          <a:xfrm>
            <a:off x="500513" y="2809733"/>
            <a:ext cx="5794409" cy="707886"/>
          </a:xfrm>
          <a:prstGeom prst="rect">
            <a:avLst/>
          </a:prstGeom>
          <a:noFill/>
        </p:spPr>
        <p:txBody>
          <a:bodyPr wrap="square" rtlCol="0">
            <a:spAutoFit/>
          </a:bodyPr>
          <a:lstStyle/>
          <a:p>
            <a:r>
              <a:rPr kumimoji="1" lang="ja-JP" altLang="en-US" sz="4000" dirty="0"/>
              <a:t>好きなゲーム</a:t>
            </a:r>
          </a:p>
        </p:txBody>
      </p:sp>
      <p:pic>
        <p:nvPicPr>
          <p:cNvPr id="5" name="図 4">
            <a:extLst>
              <a:ext uri="{FF2B5EF4-FFF2-40B4-BE49-F238E27FC236}">
                <a16:creationId xmlns:a16="http://schemas.microsoft.com/office/drawing/2014/main" id="{B872380C-0568-46AC-AB94-85AB5DF23E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03770" y="2892733"/>
            <a:ext cx="7311027" cy="3398865"/>
          </a:xfrm>
          <a:prstGeom prst="rect">
            <a:avLst/>
          </a:prstGeom>
        </p:spPr>
      </p:pic>
      <p:pic>
        <p:nvPicPr>
          <p:cNvPr id="10" name="図 9">
            <a:extLst>
              <a:ext uri="{FF2B5EF4-FFF2-40B4-BE49-F238E27FC236}">
                <a16:creationId xmlns:a16="http://schemas.microsoft.com/office/drawing/2014/main" id="{9C1E2614-3BE6-42FD-B581-6C3CD9EFB60B}"/>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05824" y="-678849"/>
            <a:ext cx="8457015" cy="4757071"/>
          </a:xfrm>
          <a:prstGeom prst="rect">
            <a:avLst/>
          </a:prstGeom>
        </p:spPr>
      </p:pic>
    </p:spTree>
    <p:extLst>
      <p:ext uri="{BB962C8B-B14F-4D97-AF65-F5344CB8AC3E}">
        <p14:creationId xmlns:p14="http://schemas.microsoft.com/office/powerpoint/2010/main" val="214957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ABF5C6C-72C3-CBBB-F4B1-A1306DE0BE8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0703C0F-5911-9267-DA15-A76F84B62D8D}"/>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pic>
        <p:nvPicPr>
          <p:cNvPr id="3" name="図 2" descr="シャツ, 帽子 が含まれている画像&#10;&#10;AI 生成コンテンツは誤りを含む可能性があります。">
            <a:extLst>
              <a:ext uri="{FF2B5EF4-FFF2-40B4-BE49-F238E27FC236}">
                <a16:creationId xmlns:a16="http://schemas.microsoft.com/office/drawing/2014/main" id="{F9B5DA8B-BC69-E273-5391-31AC46AFB8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9289" y="1243369"/>
            <a:ext cx="3823927" cy="4414346"/>
          </a:xfrm>
          <a:prstGeom prst="rect">
            <a:avLst/>
          </a:prstGeom>
        </p:spPr>
      </p:pic>
      <p:pic>
        <p:nvPicPr>
          <p:cNvPr id="6" name="図 5">
            <a:extLst>
              <a:ext uri="{FF2B5EF4-FFF2-40B4-BE49-F238E27FC236}">
                <a16:creationId xmlns:a16="http://schemas.microsoft.com/office/drawing/2014/main" id="{2BEEAA36-2DF5-C806-9A9B-89D2CE83DA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2339" y="1243369"/>
            <a:ext cx="4578048" cy="4578048"/>
          </a:xfrm>
          <a:prstGeom prst="rect">
            <a:avLst/>
          </a:prstGeom>
        </p:spPr>
      </p:pic>
      <p:grpSp>
        <p:nvGrpSpPr>
          <p:cNvPr id="11" name="グループ化 10">
            <a:extLst>
              <a:ext uri="{FF2B5EF4-FFF2-40B4-BE49-F238E27FC236}">
                <a16:creationId xmlns:a16="http://schemas.microsoft.com/office/drawing/2014/main" id="{3DB92371-B28E-CA4D-B0FA-8AEE7AB7E74F}"/>
              </a:ext>
            </a:extLst>
          </p:cNvPr>
          <p:cNvGrpSpPr/>
          <p:nvPr/>
        </p:nvGrpSpPr>
        <p:grpSpPr>
          <a:xfrm rot="509458">
            <a:off x="1347444" y="2929717"/>
            <a:ext cx="4655976" cy="2967134"/>
            <a:chOff x="1632857" y="3200400"/>
            <a:chExt cx="4655976" cy="2967134"/>
          </a:xfrm>
        </p:grpSpPr>
        <p:sp>
          <p:nvSpPr>
            <p:cNvPr id="9" name="爆発: 14 pt 8">
              <a:extLst>
                <a:ext uri="{FF2B5EF4-FFF2-40B4-BE49-F238E27FC236}">
                  <a16:creationId xmlns:a16="http://schemas.microsoft.com/office/drawing/2014/main" id="{48F56F8E-FB0C-633F-1EAF-69B8CB2EA483}"/>
                </a:ext>
              </a:extLst>
            </p:cNvPr>
            <p:cNvSpPr/>
            <p:nvPr/>
          </p:nvSpPr>
          <p:spPr>
            <a:xfrm>
              <a:off x="1632857" y="3200400"/>
              <a:ext cx="4655976" cy="2967134"/>
            </a:xfrm>
            <a:prstGeom prst="irregularSeal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sz="3200" b="1" dirty="0">
                <a:solidFill>
                  <a:srgbClr val="FF0000"/>
                </a:solidFill>
              </a:endParaRPr>
            </a:p>
          </p:txBody>
        </p:sp>
        <p:sp>
          <p:nvSpPr>
            <p:cNvPr id="10" name="テキスト ボックス 9">
              <a:extLst>
                <a:ext uri="{FF2B5EF4-FFF2-40B4-BE49-F238E27FC236}">
                  <a16:creationId xmlns:a16="http://schemas.microsoft.com/office/drawing/2014/main" id="{2BABC86A-B078-0F56-CB7C-7BFEC12623C3}"/>
                </a:ext>
              </a:extLst>
            </p:cNvPr>
            <p:cNvSpPr txBox="1"/>
            <p:nvPr/>
          </p:nvSpPr>
          <p:spPr>
            <a:xfrm rot="20460072">
              <a:off x="2609421" y="4210529"/>
              <a:ext cx="3113129" cy="769441"/>
            </a:xfrm>
            <a:prstGeom prst="rect">
              <a:avLst/>
            </a:prstGeom>
            <a:noFill/>
          </p:spPr>
          <p:txBody>
            <a:bodyPr wrap="square" rtlCol="0">
              <a:spAutoFit/>
            </a:bodyPr>
            <a:lstStyle/>
            <a:p>
              <a:r>
                <a:rPr kumimoji="1" lang="ja-JP" altLang="en-US" sz="4400" b="1" dirty="0">
                  <a:solidFill>
                    <a:srgbClr val="FF0000"/>
                  </a:solidFill>
                </a:rPr>
                <a:t>ブラック</a:t>
              </a:r>
            </a:p>
          </p:txBody>
        </p:sp>
      </p:grpSp>
      <p:grpSp>
        <p:nvGrpSpPr>
          <p:cNvPr id="14" name="グループ化 13">
            <a:extLst>
              <a:ext uri="{FF2B5EF4-FFF2-40B4-BE49-F238E27FC236}">
                <a16:creationId xmlns:a16="http://schemas.microsoft.com/office/drawing/2014/main" id="{46553E34-3F19-EA37-F9D4-3626D20E6953}"/>
              </a:ext>
            </a:extLst>
          </p:cNvPr>
          <p:cNvGrpSpPr/>
          <p:nvPr/>
        </p:nvGrpSpPr>
        <p:grpSpPr>
          <a:xfrm rot="564026">
            <a:off x="6557378" y="3163077"/>
            <a:ext cx="5421085" cy="3060441"/>
            <a:chOff x="6410130" y="2939143"/>
            <a:chExt cx="5421085" cy="3060441"/>
          </a:xfrm>
        </p:grpSpPr>
        <p:sp>
          <p:nvSpPr>
            <p:cNvPr id="12" name="爆発: 14 pt 11">
              <a:extLst>
                <a:ext uri="{FF2B5EF4-FFF2-40B4-BE49-F238E27FC236}">
                  <a16:creationId xmlns:a16="http://schemas.microsoft.com/office/drawing/2014/main" id="{84CAD5D9-1028-EC1C-830F-590C7DC2A762}"/>
                </a:ext>
              </a:extLst>
            </p:cNvPr>
            <p:cNvSpPr/>
            <p:nvPr/>
          </p:nvSpPr>
          <p:spPr>
            <a:xfrm>
              <a:off x="6410130" y="2939143"/>
              <a:ext cx="5421085" cy="3060441"/>
            </a:xfrm>
            <a:prstGeom prst="irregularSeal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F3E2C35-67A1-5094-13DD-8F79F00E1703}"/>
                </a:ext>
              </a:extLst>
            </p:cNvPr>
            <p:cNvSpPr txBox="1"/>
            <p:nvPr/>
          </p:nvSpPr>
          <p:spPr>
            <a:xfrm rot="20392944">
              <a:off x="7250758" y="4206356"/>
              <a:ext cx="3382511" cy="707886"/>
            </a:xfrm>
            <a:prstGeom prst="rect">
              <a:avLst/>
            </a:prstGeom>
            <a:noFill/>
          </p:spPr>
          <p:txBody>
            <a:bodyPr wrap="square" rtlCol="0">
              <a:spAutoFit/>
            </a:bodyPr>
            <a:lstStyle/>
            <a:p>
              <a:r>
                <a:rPr kumimoji="1" lang="ja-JP" altLang="en-US" sz="4000" b="1" dirty="0">
                  <a:solidFill>
                    <a:srgbClr val="FF0000"/>
                  </a:solidFill>
                </a:rPr>
                <a:t>やりがい搾取</a:t>
              </a:r>
            </a:p>
          </p:txBody>
        </p:sp>
      </p:grpSp>
      <p:pic>
        <p:nvPicPr>
          <p:cNvPr id="15" name="図 14" descr="記号, 食品 が含まれている画像">
            <a:extLst>
              <a:ext uri="{FF2B5EF4-FFF2-40B4-BE49-F238E27FC236}">
                <a16:creationId xmlns:a16="http://schemas.microsoft.com/office/drawing/2014/main" id="{99248A40-F2F9-1347-64CB-140187E1B9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2055" y="862588"/>
            <a:ext cx="4869772" cy="4869772"/>
          </a:xfrm>
          <a:prstGeom prst="rect">
            <a:avLst/>
          </a:prstGeom>
        </p:spPr>
      </p:pic>
      <p:pic>
        <p:nvPicPr>
          <p:cNvPr id="16" name="図 15" descr="光 が含まれている画像&#10;&#10;AI 生成コンテンツは誤りを含む可能性があります。">
            <a:extLst>
              <a:ext uri="{FF2B5EF4-FFF2-40B4-BE49-F238E27FC236}">
                <a16:creationId xmlns:a16="http://schemas.microsoft.com/office/drawing/2014/main" id="{3EB80FDF-85F9-52A5-0EA7-FA06619ED5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99832" y="1063427"/>
            <a:ext cx="4536176" cy="4937931"/>
          </a:xfrm>
          <a:prstGeom prst="rect">
            <a:avLst/>
          </a:prstGeom>
        </p:spPr>
      </p:pic>
      <p:grpSp>
        <p:nvGrpSpPr>
          <p:cNvPr id="20" name="グループ化 19">
            <a:extLst>
              <a:ext uri="{FF2B5EF4-FFF2-40B4-BE49-F238E27FC236}">
                <a16:creationId xmlns:a16="http://schemas.microsoft.com/office/drawing/2014/main" id="{B279A564-C96D-CDE4-E757-CB6C6C72266F}"/>
              </a:ext>
            </a:extLst>
          </p:cNvPr>
          <p:cNvGrpSpPr/>
          <p:nvPr/>
        </p:nvGrpSpPr>
        <p:grpSpPr>
          <a:xfrm>
            <a:off x="1223742" y="3429000"/>
            <a:ext cx="4945399" cy="3124704"/>
            <a:chOff x="1223742" y="3429000"/>
            <a:chExt cx="4945399" cy="3124704"/>
          </a:xfrm>
        </p:grpSpPr>
        <p:sp>
          <p:nvSpPr>
            <p:cNvPr id="18" name="爆発: 14 pt 17">
              <a:extLst>
                <a:ext uri="{FF2B5EF4-FFF2-40B4-BE49-F238E27FC236}">
                  <a16:creationId xmlns:a16="http://schemas.microsoft.com/office/drawing/2014/main" id="{1E83F2DB-A897-33CD-4DBF-4D7B262BAAB0}"/>
                </a:ext>
              </a:extLst>
            </p:cNvPr>
            <p:cNvSpPr/>
            <p:nvPr/>
          </p:nvSpPr>
          <p:spPr>
            <a:xfrm>
              <a:off x="1223742" y="3429000"/>
              <a:ext cx="4945399" cy="3124704"/>
            </a:xfrm>
            <a:prstGeom prst="irregularSeal2">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19" name="テキスト ボックス 18">
              <a:extLst>
                <a:ext uri="{FF2B5EF4-FFF2-40B4-BE49-F238E27FC236}">
                  <a16:creationId xmlns:a16="http://schemas.microsoft.com/office/drawing/2014/main" id="{5FBFC9D5-750C-5630-9BBD-1D14A779F31B}"/>
                </a:ext>
              </a:extLst>
            </p:cNvPr>
            <p:cNvSpPr txBox="1"/>
            <p:nvPr/>
          </p:nvSpPr>
          <p:spPr>
            <a:xfrm rot="20614148">
              <a:off x="2007902" y="4664025"/>
              <a:ext cx="3259756" cy="707886"/>
            </a:xfrm>
            <a:prstGeom prst="rect">
              <a:avLst/>
            </a:prstGeom>
            <a:noFill/>
          </p:spPr>
          <p:txBody>
            <a:bodyPr wrap="square" rtlCol="0">
              <a:spAutoFit/>
            </a:bodyPr>
            <a:lstStyle/>
            <a:p>
              <a:r>
                <a:rPr kumimoji="1" lang="ja-JP" altLang="en-US" sz="4000" b="1" dirty="0">
                  <a:solidFill>
                    <a:schemeClr val="bg1"/>
                  </a:solidFill>
                  <a:effectLst>
                    <a:outerShdw blurRad="38100" dist="38100" dir="2700000" algn="tl">
                      <a:srgbClr val="000000">
                        <a:alpha val="43137"/>
                      </a:srgbClr>
                    </a:outerShdw>
                  </a:effectLst>
                </a:rPr>
                <a:t>ホワイト化！</a:t>
              </a:r>
            </a:p>
          </p:txBody>
        </p:sp>
      </p:grpSp>
      <p:grpSp>
        <p:nvGrpSpPr>
          <p:cNvPr id="23" name="グループ化 22">
            <a:extLst>
              <a:ext uri="{FF2B5EF4-FFF2-40B4-BE49-F238E27FC236}">
                <a16:creationId xmlns:a16="http://schemas.microsoft.com/office/drawing/2014/main" id="{A029B8C2-712A-87F8-0F73-F766F3B3F9AA}"/>
              </a:ext>
            </a:extLst>
          </p:cNvPr>
          <p:cNvGrpSpPr/>
          <p:nvPr/>
        </p:nvGrpSpPr>
        <p:grpSpPr>
          <a:xfrm>
            <a:off x="6709653" y="3239589"/>
            <a:ext cx="4945399" cy="3124704"/>
            <a:chOff x="6709653" y="3239589"/>
            <a:chExt cx="4945399" cy="3124704"/>
          </a:xfrm>
        </p:grpSpPr>
        <p:sp>
          <p:nvSpPr>
            <p:cNvPr id="21" name="爆発: 14 pt 20">
              <a:extLst>
                <a:ext uri="{FF2B5EF4-FFF2-40B4-BE49-F238E27FC236}">
                  <a16:creationId xmlns:a16="http://schemas.microsoft.com/office/drawing/2014/main" id="{896A8EB0-B8CB-6E9B-8441-D769F7F8B723}"/>
                </a:ext>
              </a:extLst>
            </p:cNvPr>
            <p:cNvSpPr/>
            <p:nvPr/>
          </p:nvSpPr>
          <p:spPr>
            <a:xfrm>
              <a:off x="6709653" y="3239589"/>
              <a:ext cx="4945399" cy="3124704"/>
            </a:xfrm>
            <a:prstGeom prst="irregularSeal2">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22" name="テキスト ボックス 21">
              <a:extLst>
                <a:ext uri="{FF2B5EF4-FFF2-40B4-BE49-F238E27FC236}">
                  <a16:creationId xmlns:a16="http://schemas.microsoft.com/office/drawing/2014/main" id="{5976539A-F680-7493-73A7-9BDC3FF742E6}"/>
                </a:ext>
              </a:extLst>
            </p:cNvPr>
            <p:cNvSpPr txBox="1"/>
            <p:nvPr/>
          </p:nvSpPr>
          <p:spPr>
            <a:xfrm rot="20614148">
              <a:off x="7749077" y="4249129"/>
              <a:ext cx="3259756" cy="923330"/>
            </a:xfrm>
            <a:prstGeom prst="rect">
              <a:avLst/>
            </a:prstGeom>
            <a:noFill/>
          </p:spPr>
          <p:txBody>
            <a:bodyPr wrap="square" rtlCol="0">
              <a:spAutoFit/>
            </a:bodyPr>
            <a:lstStyle/>
            <a:p>
              <a:r>
                <a:rPr kumimoji="1" lang="ja-JP" altLang="en-US" sz="4400" b="1" dirty="0">
                  <a:solidFill>
                    <a:schemeClr val="bg1"/>
                  </a:solidFill>
                  <a:effectLst>
                    <a:outerShdw blurRad="38100" dist="38100" dir="2700000" algn="tl">
                      <a:srgbClr val="000000">
                        <a:alpha val="43137"/>
                      </a:srgbClr>
                    </a:outerShdw>
                  </a:effectLst>
                </a:rPr>
                <a:t>給料</a:t>
              </a:r>
              <a:r>
                <a:rPr kumimoji="1" lang="en-US" altLang="ja-JP" sz="5400" b="1" dirty="0">
                  <a:solidFill>
                    <a:schemeClr val="bg1"/>
                  </a:solidFill>
                  <a:effectLst>
                    <a:outerShdw blurRad="38100" dist="38100" dir="2700000" algn="tl">
                      <a:srgbClr val="000000">
                        <a:alpha val="43137"/>
                      </a:srgbClr>
                    </a:outerShdw>
                  </a:effectLst>
                </a:rPr>
                <a:t>UP</a:t>
              </a:r>
              <a:r>
                <a:rPr kumimoji="1" lang="ja-JP" altLang="en-US" sz="4400" b="1" dirty="0">
                  <a:solidFill>
                    <a:schemeClr val="bg1"/>
                  </a:solidFill>
                  <a:effectLst>
                    <a:outerShdw blurRad="38100" dist="38100" dir="2700000" algn="tl">
                      <a:srgbClr val="000000">
                        <a:alpha val="43137"/>
                      </a:srgbClr>
                    </a:outerShdw>
                  </a:effectLst>
                </a:rPr>
                <a:t>！</a:t>
              </a:r>
            </a:p>
          </p:txBody>
        </p:sp>
      </p:grpSp>
    </p:spTree>
    <p:extLst>
      <p:ext uri="{BB962C8B-B14F-4D97-AF65-F5344CB8AC3E}">
        <p14:creationId xmlns:p14="http://schemas.microsoft.com/office/powerpoint/2010/main" val="283872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250" fill="hold"/>
                                        <p:tgtEl>
                                          <p:spTgt spid="11"/>
                                        </p:tgtEl>
                                        <p:attrNameLst>
                                          <p:attrName>ppt_w</p:attrName>
                                        </p:attrNameLst>
                                      </p:cBhvr>
                                      <p:tavLst>
                                        <p:tav tm="0">
                                          <p:val>
                                            <p:fltVal val="0"/>
                                          </p:val>
                                        </p:tav>
                                        <p:tav tm="100000">
                                          <p:val>
                                            <p:strVal val="#ppt_w"/>
                                          </p:val>
                                        </p:tav>
                                      </p:tavLst>
                                    </p:anim>
                                    <p:anim calcmode="lin" valueType="num">
                                      <p:cBhvr>
                                        <p:cTn id="13" dur="250" fill="hold"/>
                                        <p:tgtEl>
                                          <p:spTgt spid="11"/>
                                        </p:tgtEl>
                                        <p:attrNameLst>
                                          <p:attrName>ppt_h</p:attrName>
                                        </p:attrNameLst>
                                      </p:cBhvr>
                                      <p:tavLst>
                                        <p:tav tm="0">
                                          <p:val>
                                            <p:fltVal val="0"/>
                                          </p:val>
                                        </p:tav>
                                        <p:tav tm="100000">
                                          <p:val>
                                            <p:strVal val="#ppt_h"/>
                                          </p:val>
                                        </p:tav>
                                      </p:tavLst>
                                    </p:anim>
                                    <p:animEffect transition="in" filter="fade">
                                      <p:cBhvr>
                                        <p:cTn id="14" dur="25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par>
                                <p:cTn id="22" presetID="53" presetClass="entr" presetSubtype="16"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250" fill="hold"/>
                                        <p:tgtEl>
                                          <p:spTgt spid="14"/>
                                        </p:tgtEl>
                                        <p:attrNameLst>
                                          <p:attrName>ppt_w</p:attrName>
                                        </p:attrNameLst>
                                      </p:cBhvr>
                                      <p:tavLst>
                                        <p:tav tm="0">
                                          <p:val>
                                            <p:fltVal val="0"/>
                                          </p:val>
                                        </p:tav>
                                        <p:tav tm="100000">
                                          <p:val>
                                            <p:strVal val="#ppt_w"/>
                                          </p:val>
                                        </p:tav>
                                      </p:tavLst>
                                    </p:anim>
                                    <p:anim calcmode="lin" valueType="num">
                                      <p:cBhvr>
                                        <p:cTn id="25" dur="250" fill="hold"/>
                                        <p:tgtEl>
                                          <p:spTgt spid="14"/>
                                        </p:tgtEl>
                                        <p:attrNameLst>
                                          <p:attrName>ppt_h</p:attrName>
                                        </p:attrNameLst>
                                      </p:cBhvr>
                                      <p:tavLst>
                                        <p:tav tm="0">
                                          <p:val>
                                            <p:fltVal val="0"/>
                                          </p:val>
                                        </p:tav>
                                        <p:tav tm="100000">
                                          <p:val>
                                            <p:strVal val="#ppt_h"/>
                                          </p:val>
                                        </p:tav>
                                      </p:tavLst>
                                    </p:anim>
                                    <p:animEffect transition="in" filter="fade">
                                      <p:cBhvr>
                                        <p:cTn id="26" dur="25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anim calcmode="lin" valueType="num">
                                      <p:cBhvr>
                                        <p:cTn id="32" dur="500" fill="hold"/>
                                        <p:tgtEl>
                                          <p:spTgt spid="15"/>
                                        </p:tgtEl>
                                        <p:attrNameLst>
                                          <p:attrName>ppt_x</p:attrName>
                                        </p:attrNameLst>
                                      </p:cBhvr>
                                      <p:tavLst>
                                        <p:tav tm="0">
                                          <p:val>
                                            <p:strVal val="#ppt_x"/>
                                          </p:val>
                                        </p:tav>
                                        <p:tav tm="100000">
                                          <p:val>
                                            <p:strVal val="#ppt_x"/>
                                          </p:val>
                                        </p:tav>
                                      </p:tavLst>
                                    </p:anim>
                                    <p:anim calcmode="lin" valueType="num">
                                      <p:cBhvr>
                                        <p:cTn id="33" dur="500" fill="hold"/>
                                        <p:tgtEl>
                                          <p:spTgt spid="15"/>
                                        </p:tgtEl>
                                        <p:attrNameLst>
                                          <p:attrName>ppt_y</p:attrName>
                                        </p:attrNameLst>
                                      </p:cBhvr>
                                      <p:tavLst>
                                        <p:tav tm="0">
                                          <p:val>
                                            <p:strVal val="#ppt_y+.1"/>
                                          </p:val>
                                        </p:tav>
                                        <p:tav tm="100000">
                                          <p:val>
                                            <p:strVal val="#ppt_y"/>
                                          </p:val>
                                        </p:tav>
                                      </p:tavLst>
                                    </p:anim>
                                  </p:childTnLst>
                                </p:cTn>
                              </p:par>
                              <p:par>
                                <p:cTn id="34" presetID="42" presetClass="exit" presetSubtype="0" fill="hold" nodeType="withEffect">
                                  <p:stCondLst>
                                    <p:cond delay="0"/>
                                  </p:stCondLst>
                                  <p:childTnLst>
                                    <p:animEffect transition="out" filter="fade">
                                      <p:cBhvr>
                                        <p:cTn id="35" dur="250"/>
                                        <p:tgtEl>
                                          <p:spTgt spid="3"/>
                                        </p:tgtEl>
                                      </p:cBhvr>
                                    </p:animEffect>
                                    <p:anim calcmode="lin" valueType="num">
                                      <p:cBhvr>
                                        <p:cTn id="36" dur="250"/>
                                        <p:tgtEl>
                                          <p:spTgt spid="3"/>
                                        </p:tgtEl>
                                        <p:attrNameLst>
                                          <p:attrName>ppt_x</p:attrName>
                                        </p:attrNameLst>
                                      </p:cBhvr>
                                      <p:tavLst>
                                        <p:tav tm="0">
                                          <p:val>
                                            <p:strVal val="ppt_x"/>
                                          </p:val>
                                        </p:tav>
                                        <p:tav tm="100000">
                                          <p:val>
                                            <p:strVal val="ppt_x"/>
                                          </p:val>
                                        </p:tav>
                                      </p:tavLst>
                                    </p:anim>
                                    <p:anim calcmode="lin" valueType="num">
                                      <p:cBhvr>
                                        <p:cTn id="37" dur="250"/>
                                        <p:tgtEl>
                                          <p:spTgt spid="3"/>
                                        </p:tgtEl>
                                        <p:attrNameLst>
                                          <p:attrName>ppt_y</p:attrName>
                                        </p:attrNameLst>
                                      </p:cBhvr>
                                      <p:tavLst>
                                        <p:tav tm="0">
                                          <p:val>
                                            <p:strVal val="ppt_y"/>
                                          </p:val>
                                        </p:tav>
                                        <p:tav tm="100000">
                                          <p:val>
                                            <p:strVal val="ppt_y+.1"/>
                                          </p:val>
                                        </p:tav>
                                      </p:tavLst>
                                    </p:anim>
                                    <p:set>
                                      <p:cBhvr>
                                        <p:cTn id="38" dur="1" fill="hold">
                                          <p:stCondLst>
                                            <p:cond delay="249"/>
                                          </p:stCondLst>
                                        </p:cTn>
                                        <p:tgtEl>
                                          <p:spTgt spid="3"/>
                                        </p:tgtEl>
                                        <p:attrNameLst>
                                          <p:attrName>style.visibility</p:attrName>
                                        </p:attrNameLst>
                                      </p:cBhvr>
                                      <p:to>
                                        <p:strVal val="hidden"/>
                                      </p:to>
                                    </p:set>
                                  </p:childTnLst>
                                </p:cTn>
                              </p:par>
                              <p:par>
                                <p:cTn id="39" presetID="42" presetClass="exit" presetSubtype="0" fill="hold" nodeType="withEffect">
                                  <p:stCondLst>
                                    <p:cond delay="0"/>
                                  </p:stCondLst>
                                  <p:childTnLst>
                                    <p:animEffect transition="out" filter="fade">
                                      <p:cBhvr>
                                        <p:cTn id="40" dur="250"/>
                                        <p:tgtEl>
                                          <p:spTgt spid="11"/>
                                        </p:tgtEl>
                                      </p:cBhvr>
                                    </p:animEffect>
                                    <p:anim calcmode="lin" valueType="num">
                                      <p:cBhvr>
                                        <p:cTn id="41" dur="250"/>
                                        <p:tgtEl>
                                          <p:spTgt spid="11"/>
                                        </p:tgtEl>
                                        <p:attrNameLst>
                                          <p:attrName>ppt_x</p:attrName>
                                        </p:attrNameLst>
                                      </p:cBhvr>
                                      <p:tavLst>
                                        <p:tav tm="0">
                                          <p:val>
                                            <p:strVal val="ppt_x"/>
                                          </p:val>
                                        </p:tav>
                                        <p:tav tm="100000">
                                          <p:val>
                                            <p:strVal val="ppt_x"/>
                                          </p:val>
                                        </p:tav>
                                      </p:tavLst>
                                    </p:anim>
                                    <p:anim calcmode="lin" valueType="num">
                                      <p:cBhvr>
                                        <p:cTn id="42" dur="250"/>
                                        <p:tgtEl>
                                          <p:spTgt spid="11"/>
                                        </p:tgtEl>
                                        <p:attrNameLst>
                                          <p:attrName>ppt_y</p:attrName>
                                        </p:attrNameLst>
                                      </p:cBhvr>
                                      <p:tavLst>
                                        <p:tav tm="0">
                                          <p:val>
                                            <p:strVal val="ppt_y"/>
                                          </p:val>
                                        </p:tav>
                                        <p:tav tm="100000">
                                          <p:val>
                                            <p:strVal val="ppt_y+.1"/>
                                          </p:val>
                                        </p:tav>
                                      </p:tavLst>
                                    </p:anim>
                                    <p:set>
                                      <p:cBhvr>
                                        <p:cTn id="43" dur="1" fill="hold">
                                          <p:stCondLst>
                                            <p:cond delay="249"/>
                                          </p:stCondLst>
                                        </p:cTn>
                                        <p:tgtEl>
                                          <p:spTgt spid="11"/>
                                        </p:tgtEl>
                                        <p:attrNameLst>
                                          <p:attrName>style.visibility</p:attrName>
                                        </p:attrNameLst>
                                      </p:cBhvr>
                                      <p:to>
                                        <p:strVal val="hidden"/>
                                      </p:to>
                                    </p:set>
                                  </p:childTnLst>
                                </p:cTn>
                              </p:par>
                              <p:par>
                                <p:cTn id="44" presetID="53" presetClass="entr" presetSubtype="16"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p:cTn id="46" dur="250" fill="hold"/>
                                        <p:tgtEl>
                                          <p:spTgt spid="20"/>
                                        </p:tgtEl>
                                        <p:attrNameLst>
                                          <p:attrName>ppt_w</p:attrName>
                                        </p:attrNameLst>
                                      </p:cBhvr>
                                      <p:tavLst>
                                        <p:tav tm="0">
                                          <p:val>
                                            <p:fltVal val="0"/>
                                          </p:val>
                                        </p:tav>
                                        <p:tav tm="100000">
                                          <p:val>
                                            <p:strVal val="#ppt_w"/>
                                          </p:val>
                                        </p:tav>
                                      </p:tavLst>
                                    </p:anim>
                                    <p:anim calcmode="lin" valueType="num">
                                      <p:cBhvr>
                                        <p:cTn id="47" dur="250" fill="hold"/>
                                        <p:tgtEl>
                                          <p:spTgt spid="20"/>
                                        </p:tgtEl>
                                        <p:attrNameLst>
                                          <p:attrName>ppt_h</p:attrName>
                                        </p:attrNameLst>
                                      </p:cBhvr>
                                      <p:tavLst>
                                        <p:tav tm="0">
                                          <p:val>
                                            <p:fltVal val="0"/>
                                          </p:val>
                                        </p:tav>
                                        <p:tav tm="100000">
                                          <p:val>
                                            <p:strVal val="#ppt_h"/>
                                          </p:val>
                                        </p:tav>
                                      </p:tavLst>
                                    </p:anim>
                                    <p:animEffect transition="in" filter="fade">
                                      <p:cBhvr>
                                        <p:cTn id="48" dur="25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anim calcmode="lin" valueType="num">
                                      <p:cBhvr>
                                        <p:cTn id="54" dur="500" fill="hold"/>
                                        <p:tgtEl>
                                          <p:spTgt spid="16"/>
                                        </p:tgtEl>
                                        <p:attrNameLst>
                                          <p:attrName>ppt_x</p:attrName>
                                        </p:attrNameLst>
                                      </p:cBhvr>
                                      <p:tavLst>
                                        <p:tav tm="0">
                                          <p:val>
                                            <p:strVal val="#ppt_x"/>
                                          </p:val>
                                        </p:tav>
                                        <p:tav tm="100000">
                                          <p:val>
                                            <p:strVal val="#ppt_x"/>
                                          </p:val>
                                        </p:tav>
                                      </p:tavLst>
                                    </p:anim>
                                    <p:anim calcmode="lin" valueType="num">
                                      <p:cBhvr>
                                        <p:cTn id="55" dur="500" fill="hold"/>
                                        <p:tgtEl>
                                          <p:spTgt spid="16"/>
                                        </p:tgtEl>
                                        <p:attrNameLst>
                                          <p:attrName>ppt_y</p:attrName>
                                        </p:attrNameLst>
                                      </p:cBhvr>
                                      <p:tavLst>
                                        <p:tav tm="0">
                                          <p:val>
                                            <p:strVal val="#ppt_y+.1"/>
                                          </p:val>
                                        </p:tav>
                                        <p:tav tm="100000">
                                          <p:val>
                                            <p:strVal val="#ppt_y"/>
                                          </p:val>
                                        </p:tav>
                                      </p:tavLst>
                                    </p:anim>
                                  </p:childTnLst>
                                </p:cTn>
                              </p:par>
                              <p:par>
                                <p:cTn id="56" presetID="42" presetClass="exit" presetSubtype="0" fill="hold" nodeType="withEffect">
                                  <p:stCondLst>
                                    <p:cond delay="0"/>
                                  </p:stCondLst>
                                  <p:childTnLst>
                                    <p:animEffect transition="out" filter="fade">
                                      <p:cBhvr>
                                        <p:cTn id="57" dur="250"/>
                                        <p:tgtEl>
                                          <p:spTgt spid="6"/>
                                        </p:tgtEl>
                                      </p:cBhvr>
                                    </p:animEffect>
                                    <p:anim calcmode="lin" valueType="num">
                                      <p:cBhvr>
                                        <p:cTn id="58" dur="250"/>
                                        <p:tgtEl>
                                          <p:spTgt spid="6"/>
                                        </p:tgtEl>
                                        <p:attrNameLst>
                                          <p:attrName>ppt_x</p:attrName>
                                        </p:attrNameLst>
                                      </p:cBhvr>
                                      <p:tavLst>
                                        <p:tav tm="0">
                                          <p:val>
                                            <p:strVal val="ppt_x"/>
                                          </p:val>
                                        </p:tav>
                                        <p:tav tm="100000">
                                          <p:val>
                                            <p:strVal val="ppt_x"/>
                                          </p:val>
                                        </p:tav>
                                      </p:tavLst>
                                    </p:anim>
                                    <p:anim calcmode="lin" valueType="num">
                                      <p:cBhvr>
                                        <p:cTn id="59" dur="250"/>
                                        <p:tgtEl>
                                          <p:spTgt spid="6"/>
                                        </p:tgtEl>
                                        <p:attrNameLst>
                                          <p:attrName>ppt_y</p:attrName>
                                        </p:attrNameLst>
                                      </p:cBhvr>
                                      <p:tavLst>
                                        <p:tav tm="0">
                                          <p:val>
                                            <p:strVal val="ppt_y"/>
                                          </p:val>
                                        </p:tav>
                                        <p:tav tm="100000">
                                          <p:val>
                                            <p:strVal val="ppt_y+.1"/>
                                          </p:val>
                                        </p:tav>
                                      </p:tavLst>
                                    </p:anim>
                                    <p:set>
                                      <p:cBhvr>
                                        <p:cTn id="60" dur="1" fill="hold">
                                          <p:stCondLst>
                                            <p:cond delay="249"/>
                                          </p:stCondLst>
                                        </p:cTn>
                                        <p:tgtEl>
                                          <p:spTgt spid="6"/>
                                        </p:tgtEl>
                                        <p:attrNameLst>
                                          <p:attrName>style.visibility</p:attrName>
                                        </p:attrNameLst>
                                      </p:cBhvr>
                                      <p:to>
                                        <p:strVal val="hidden"/>
                                      </p:to>
                                    </p:set>
                                  </p:childTnLst>
                                </p:cTn>
                              </p:par>
                              <p:par>
                                <p:cTn id="61" presetID="42" presetClass="exit" presetSubtype="0" fill="hold" nodeType="withEffect">
                                  <p:stCondLst>
                                    <p:cond delay="0"/>
                                  </p:stCondLst>
                                  <p:childTnLst>
                                    <p:animEffect transition="out" filter="fade">
                                      <p:cBhvr>
                                        <p:cTn id="62" dur="250"/>
                                        <p:tgtEl>
                                          <p:spTgt spid="14"/>
                                        </p:tgtEl>
                                      </p:cBhvr>
                                    </p:animEffect>
                                    <p:anim calcmode="lin" valueType="num">
                                      <p:cBhvr>
                                        <p:cTn id="63" dur="250"/>
                                        <p:tgtEl>
                                          <p:spTgt spid="14"/>
                                        </p:tgtEl>
                                        <p:attrNameLst>
                                          <p:attrName>ppt_x</p:attrName>
                                        </p:attrNameLst>
                                      </p:cBhvr>
                                      <p:tavLst>
                                        <p:tav tm="0">
                                          <p:val>
                                            <p:strVal val="ppt_x"/>
                                          </p:val>
                                        </p:tav>
                                        <p:tav tm="100000">
                                          <p:val>
                                            <p:strVal val="ppt_x"/>
                                          </p:val>
                                        </p:tav>
                                      </p:tavLst>
                                    </p:anim>
                                    <p:anim calcmode="lin" valueType="num">
                                      <p:cBhvr>
                                        <p:cTn id="64" dur="250"/>
                                        <p:tgtEl>
                                          <p:spTgt spid="14"/>
                                        </p:tgtEl>
                                        <p:attrNameLst>
                                          <p:attrName>ppt_y</p:attrName>
                                        </p:attrNameLst>
                                      </p:cBhvr>
                                      <p:tavLst>
                                        <p:tav tm="0">
                                          <p:val>
                                            <p:strVal val="ppt_y"/>
                                          </p:val>
                                        </p:tav>
                                        <p:tav tm="100000">
                                          <p:val>
                                            <p:strVal val="ppt_y+.1"/>
                                          </p:val>
                                        </p:tav>
                                      </p:tavLst>
                                    </p:anim>
                                    <p:set>
                                      <p:cBhvr>
                                        <p:cTn id="65" dur="1" fill="hold">
                                          <p:stCondLst>
                                            <p:cond delay="249"/>
                                          </p:stCondLst>
                                        </p:cTn>
                                        <p:tgtEl>
                                          <p:spTgt spid="14"/>
                                        </p:tgtEl>
                                        <p:attrNameLst>
                                          <p:attrName>style.visibility</p:attrName>
                                        </p:attrNameLst>
                                      </p:cBhvr>
                                      <p:to>
                                        <p:strVal val="hidden"/>
                                      </p:to>
                                    </p:set>
                                  </p:childTnLst>
                                </p:cTn>
                              </p:par>
                              <p:par>
                                <p:cTn id="66" presetID="53" presetClass="entr" presetSubtype="16"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p:cTn id="68" dur="250" fill="hold"/>
                                        <p:tgtEl>
                                          <p:spTgt spid="23"/>
                                        </p:tgtEl>
                                        <p:attrNameLst>
                                          <p:attrName>ppt_w</p:attrName>
                                        </p:attrNameLst>
                                      </p:cBhvr>
                                      <p:tavLst>
                                        <p:tav tm="0">
                                          <p:val>
                                            <p:fltVal val="0"/>
                                          </p:val>
                                        </p:tav>
                                        <p:tav tm="100000">
                                          <p:val>
                                            <p:strVal val="#ppt_w"/>
                                          </p:val>
                                        </p:tav>
                                      </p:tavLst>
                                    </p:anim>
                                    <p:anim calcmode="lin" valueType="num">
                                      <p:cBhvr>
                                        <p:cTn id="69" dur="250" fill="hold"/>
                                        <p:tgtEl>
                                          <p:spTgt spid="23"/>
                                        </p:tgtEl>
                                        <p:attrNameLst>
                                          <p:attrName>ppt_h</p:attrName>
                                        </p:attrNameLst>
                                      </p:cBhvr>
                                      <p:tavLst>
                                        <p:tav tm="0">
                                          <p:val>
                                            <p:fltVal val="0"/>
                                          </p:val>
                                        </p:tav>
                                        <p:tav tm="100000">
                                          <p:val>
                                            <p:strVal val="#ppt_h"/>
                                          </p:val>
                                        </p:tav>
                                      </p:tavLst>
                                    </p:anim>
                                    <p:animEffect transition="in" filter="fade">
                                      <p:cBhvr>
                                        <p:cTn id="70"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42F7AD9-5262-78B7-7FDC-B35E7328891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B44797E-1BDC-0000-D681-5889C6BF437A}"/>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sp>
        <p:nvSpPr>
          <p:cNvPr id="7" name="テキスト ボックス 6">
            <a:extLst>
              <a:ext uri="{FF2B5EF4-FFF2-40B4-BE49-F238E27FC236}">
                <a16:creationId xmlns:a16="http://schemas.microsoft.com/office/drawing/2014/main" id="{144501FA-A38D-13E4-B2DD-7D37070CB499}"/>
              </a:ext>
            </a:extLst>
          </p:cNvPr>
          <p:cNvSpPr txBox="1"/>
          <p:nvPr/>
        </p:nvSpPr>
        <p:spPr>
          <a:xfrm>
            <a:off x="487070" y="1287628"/>
            <a:ext cx="2236510" cy="584775"/>
          </a:xfrm>
          <a:prstGeom prst="rect">
            <a:avLst/>
          </a:prstGeom>
          <a:noFill/>
        </p:spPr>
        <p:txBody>
          <a:bodyPr wrap="none" rtlCol="0">
            <a:spAutoFit/>
          </a:bodyPr>
          <a:lstStyle/>
          <a:p>
            <a:r>
              <a:rPr kumimoji="1" lang="ja-JP" altLang="en-US" sz="3200" b="1" dirty="0"/>
              <a:t>代表的な例</a:t>
            </a:r>
          </a:p>
        </p:txBody>
      </p:sp>
      <p:pic>
        <p:nvPicPr>
          <p:cNvPr id="8" name="Picture 2" descr="セガ - Wikipedia">
            <a:extLst>
              <a:ext uri="{FF2B5EF4-FFF2-40B4-BE49-F238E27FC236}">
                <a16:creationId xmlns:a16="http://schemas.microsoft.com/office/drawing/2014/main" id="{144FB942-3A4A-AF5D-FF7E-A21EC9AEEB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1741" y="2198988"/>
            <a:ext cx="4240752" cy="1413584"/>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CEA3AC95-7CBE-59D2-D685-DD2B0F461C55}"/>
              </a:ext>
            </a:extLst>
          </p:cNvPr>
          <p:cNvSpPr txBox="1"/>
          <p:nvPr/>
        </p:nvSpPr>
        <p:spPr>
          <a:xfrm>
            <a:off x="5577165" y="2966241"/>
            <a:ext cx="4617890" cy="646331"/>
          </a:xfrm>
          <a:prstGeom prst="rect">
            <a:avLst/>
          </a:prstGeom>
          <a:noFill/>
        </p:spPr>
        <p:txBody>
          <a:bodyPr wrap="square" rtlCol="0">
            <a:spAutoFit/>
          </a:bodyPr>
          <a:lstStyle/>
          <a:p>
            <a:r>
              <a:rPr kumimoji="1" lang="ja-JP" altLang="en-US" sz="3600" dirty="0"/>
              <a:t>休日日数：</a:t>
            </a:r>
          </a:p>
        </p:txBody>
      </p:sp>
      <p:pic>
        <p:nvPicPr>
          <p:cNvPr id="10" name="図 9" descr="ロゴ">
            <a:extLst>
              <a:ext uri="{FF2B5EF4-FFF2-40B4-BE49-F238E27FC236}">
                <a16:creationId xmlns:a16="http://schemas.microsoft.com/office/drawing/2014/main" id="{083F705C-208B-CF23-92C4-726C7C86C6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070" y="4739434"/>
            <a:ext cx="5090095" cy="933184"/>
          </a:xfrm>
          <a:prstGeom prst="rect">
            <a:avLst/>
          </a:prstGeom>
        </p:spPr>
      </p:pic>
      <p:sp>
        <p:nvSpPr>
          <p:cNvPr id="11" name="テキスト ボックス 10">
            <a:extLst>
              <a:ext uri="{FF2B5EF4-FFF2-40B4-BE49-F238E27FC236}">
                <a16:creationId xmlns:a16="http://schemas.microsoft.com/office/drawing/2014/main" id="{94E94CE9-D889-BE78-478F-C928270C593D}"/>
              </a:ext>
            </a:extLst>
          </p:cNvPr>
          <p:cNvSpPr txBox="1"/>
          <p:nvPr/>
        </p:nvSpPr>
        <p:spPr>
          <a:xfrm>
            <a:off x="7722053" y="1392403"/>
            <a:ext cx="4267515" cy="2646878"/>
          </a:xfrm>
          <a:prstGeom prst="rect">
            <a:avLst/>
          </a:prstGeom>
          <a:noFill/>
        </p:spPr>
        <p:txBody>
          <a:bodyPr wrap="none" rtlCol="0">
            <a:spAutoFit/>
          </a:bodyPr>
          <a:lstStyle/>
          <a:p>
            <a:r>
              <a:rPr kumimoji="1" lang="en-US" altLang="ja-JP" sz="16600" dirty="0">
                <a:solidFill>
                  <a:srgbClr val="FF0000"/>
                </a:solidFill>
              </a:rPr>
              <a:t>130</a:t>
            </a:r>
            <a:r>
              <a:rPr kumimoji="1" lang="ja-JP" altLang="en-US" sz="6600" dirty="0"/>
              <a:t>日</a:t>
            </a:r>
            <a:endParaRPr kumimoji="1" lang="ja-JP" altLang="en-US" sz="16600" dirty="0"/>
          </a:p>
        </p:txBody>
      </p:sp>
      <p:sp>
        <p:nvSpPr>
          <p:cNvPr id="14" name="テキスト ボックス 13">
            <a:extLst>
              <a:ext uri="{FF2B5EF4-FFF2-40B4-BE49-F238E27FC236}">
                <a16:creationId xmlns:a16="http://schemas.microsoft.com/office/drawing/2014/main" id="{C11617E3-17D9-7A75-06DB-E14DF217D095}"/>
              </a:ext>
            </a:extLst>
          </p:cNvPr>
          <p:cNvSpPr txBox="1"/>
          <p:nvPr/>
        </p:nvSpPr>
        <p:spPr>
          <a:xfrm>
            <a:off x="5577165" y="5166143"/>
            <a:ext cx="2071410" cy="646331"/>
          </a:xfrm>
          <a:prstGeom prst="rect">
            <a:avLst/>
          </a:prstGeom>
          <a:noFill/>
        </p:spPr>
        <p:txBody>
          <a:bodyPr wrap="square" rtlCol="0">
            <a:spAutoFit/>
          </a:bodyPr>
          <a:lstStyle/>
          <a:p>
            <a:r>
              <a:rPr kumimoji="1" lang="ja-JP" altLang="en-US" sz="3600" dirty="0"/>
              <a:t>年収：</a:t>
            </a:r>
          </a:p>
        </p:txBody>
      </p:sp>
      <p:sp>
        <p:nvSpPr>
          <p:cNvPr id="15" name="テキスト ボックス 14">
            <a:extLst>
              <a:ext uri="{FF2B5EF4-FFF2-40B4-BE49-F238E27FC236}">
                <a16:creationId xmlns:a16="http://schemas.microsoft.com/office/drawing/2014/main" id="{73F485BA-5787-2BAE-5667-F5710125557F}"/>
              </a:ext>
            </a:extLst>
          </p:cNvPr>
          <p:cNvSpPr txBox="1"/>
          <p:nvPr/>
        </p:nvSpPr>
        <p:spPr>
          <a:xfrm>
            <a:off x="6875667" y="4021685"/>
            <a:ext cx="5267789" cy="2646878"/>
          </a:xfrm>
          <a:prstGeom prst="rect">
            <a:avLst/>
          </a:prstGeom>
          <a:noFill/>
        </p:spPr>
        <p:txBody>
          <a:bodyPr wrap="none" rtlCol="0">
            <a:spAutoFit/>
          </a:bodyPr>
          <a:lstStyle/>
          <a:p>
            <a:r>
              <a:rPr kumimoji="1" lang="en-US" altLang="ja-JP" sz="16600" dirty="0">
                <a:solidFill>
                  <a:srgbClr val="FF0000"/>
                </a:solidFill>
              </a:rPr>
              <a:t>500</a:t>
            </a:r>
            <a:r>
              <a:rPr kumimoji="1" lang="ja-JP" altLang="en-US" sz="4800" dirty="0"/>
              <a:t>万以上</a:t>
            </a:r>
            <a:endParaRPr kumimoji="1" lang="ja-JP" altLang="en-US" sz="16600" dirty="0"/>
          </a:p>
        </p:txBody>
      </p:sp>
    </p:spTree>
    <p:extLst>
      <p:ext uri="{BB962C8B-B14F-4D97-AF65-F5344CB8AC3E}">
        <p14:creationId xmlns:p14="http://schemas.microsoft.com/office/powerpoint/2010/main" val="61389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3C1FB1F-A4B7-C2FC-6A4D-8F0B572CE0ED}"/>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8C099AA-3968-73C8-38CB-D630787E54A5}"/>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endParaRPr lang="en-US" altLang="ja-JP" sz="2800" b="1" dirty="0">
              <a:solidFill>
                <a:schemeClr val="bg1"/>
              </a:solidFill>
              <a:latin typeface="BIZ UDPゴシック" panose="020B0400000000000000" pitchFamily="50" charset="-128"/>
              <a:ea typeface="BIZ UDPゴシック" panose="020B0400000000000000" pitchFamily="50" charset="-128"/>
            </a:endParaRPr>
          </a:p>
        </p:txBody>
      </p:sp>
      <p:sp>
        <p:nvSpPr>
          <p:cNvPr id="2" name="テキスト ボックス 1">
            <a:extLst>
              <a:ext uri="{FF2B5EF4-FFF2-40B4-BE49-F238E27FC236}">
                <a16:creationId xmlns:a16="http://schemas.microsoft.com/office/drawing/2014/main" id="{C0E1EC8D-C4D6-EB20-D432-62574D02341D}"/>
              </a:ext>
            </a:extLst>
          </p:cNvPr>
          <p:cNvSpPr txBox="1"/>
          <p:nvPr/>
        </p:nvSpPr>
        <p:spPr>
          <a:xfrm>
            <a:off x="962025" y="4738460"/>
            <a:ext cx="3086389" cy="1015663"/>
          </a:xfrm>
          <a:prstGeom prst="rect">
            <a:avLst/>
          </a:prstGeom>
          <a:noFill/>
        </p:spPr>
        <p:txBody>
          <a:bodyPr wrap="square" rtlCol="0">
            <a:spAutoFit/>
          </a:bodyPr>
          <a:lstStyle/>
          <a:p>
            <a:r>
              <a:rPr kumimoji="1" lang="ja-JP" altLang="en-US" sz="6000" b="1" dirty="0"/>
              <a:t>合格率</a:t>
            </a:r>
          </a:p>
        </p:txBody>
      </p:sp>
      <p:sp>
        <p:nvSpPr>
          <p:cNvPr id="3" name="テキスト ボックス 2">
            <a:extLst>
              <a:ext uri="{FF2B5EF4-FFF2-40B4-BE49-F238E27FC236}">
                <a16:creationId xmlns:a16="http://schemas.microsoft.com/office/drawing/2014/main" id="{5F8F6BCC-D4BB-6BCD-2F35-390A88B1186E}"/>
              </a:ext>
            </a:extLst>
          </p:cNvPr>
          <p:cNvSpPr txBox="1"/>
          <p:nvPr/>
        </p:nvSpPr>
        <p:spPr>
          <a:xfrm>
            <a:off x="4208070" y="-244910"/>
            <a:ext cx="3408305" cy="7725192"/>
          </a:xfrm>
          <a:prstGeom prst="rect">
            <a:avLst/>
          </a:prstGeom>
          <a:noFill/>
        </p:spPr>
        <p:txBody>
          <a:bodyPr wrap="none" rtlCol="0">
            <a:spAutoFit/>
          </a:bodyPr>
          <a:lstStyle/>
          <a:p>
            <a:r>
              <a:rPr kumimoji="1" lang="en-US" altLang="ja-JP" sz="49600" b="1" dirty="0">
                <a:solidFill>
                  <a:srgbClr val="FF0000"/>
                </a:solidFill>
              </a:rPr>
              <a:t>5</a:t>
            </a:r>
            <a:endParaRPr kumimoji="1" lang="ja-JP" altLang="en-US" sz="49600" b="1" dirty="0">
              <a:solidFill>
                <a:srgbClr val="FF0000"/>
              </a:solidFill>
            </a:endParaRPr>
          </a:p>
        </p:txBody>
      </p:sp>
      <p:sp>
        <p:nvSpPr>
          <p:cNvPr id="5" name="テキスト ボックス 4">
            <a:extLst>
              <a:ext uri="{FF2B5EF4-FFF2-40B4-BE49-F238E27FC236}">
                <a16:creationId xmlns:a16="http://schemas.microsoft.com/office/drawing/2014/main" id="{10DB2F00-223A-20E9-1133-FB0311F82D7D}"/>
              </a:ext>
            </a:extLst>
          </p:cNvPr>
          <p:cNvSpPr txBox="1"/>
          <p:nvPr/>
        </p:nvSpPr>
        <p:spPr>
          <a:xfrm flipH="1">
            <a:off x="8550506" y="4709432"/>
            <a:ext cx="3641494" cy="1323439"/>
          </a:xfrm>
          <a:prstGeom prst="rect">
            <a:avLst/>
          </a:prstGeom>
          <a:noFill/>
        </p:spPr>
        <p:txBody>
          <a:bodyPr wrap="square" rtlCol="0">
            <a:spAutoFit/>
          </a:bodyPr>
          <a:lstStyle/>
          <a:p>
            <a:r>
              <a:rPr kumimoji="1" lang="en-US" altLang="ja-JP" sz="8000" b="1" dirty="0"/>
              <a:t>%</a:t>
            </a:r>
            <a:r>
              <a:rPr kumimoji="1" lang="ja-JP" altLang="en-US" sz="8000" b="1" dirty="0"/>
              <a:t>以下</a:t>
            </a:r>
            <a:endParaRPr kumimoji="1" lang="ja-JP" altLang="en-US" sz="1400" b="1" dirty="0"/>
          </a:p>
        </p:txBody>
      </p:sp>
    </p:spTree>
    <p:extLst>
      <p:ext uri="{BB962C8B-B14F-4D97-AF65-F5344CB8AC3E}">
        <p14:creationId xmlns:p14="http://schemas.microsoft.com/office/powerpoint/2010/main" val="879576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 fill="hold"/>
                                        <p:tgtEl>
                                          <p:spTgt spid="3"/>
                                        </p:tgtEl>
                                        <p:attrNameLst>
                                          <p:attrName>ppt_w</p:attrName>
                                        </p:attrNameLst>
                                      </p:cBhvr>
                                      <p:tavLst>
                                        <p:tav tm="0">
                                          <p:val>
                                            <p:fltVal val="0"/>
                                          </p:val>
                                        </p:tav>
                                        <p:tav tm="100000">
                                          <p:val>
                                            <p:strVal val="#ppt_w"/>
                                          </p:val>
                                        </p:tav>
                                      </p:tavLst>
                                    </p:anim>
                                    <p:anim calcmode="lin" valueType="num">
                                      <p:cBhvr>
                                        <p:cTn id="8" dur="250" fill="hold"/>
                                        <p:tgtEl>
                                          <p:spTgt spid="3"/>
                                        </p:tgtEl>
                                        <p:attrNameLst>
                                          <p:attrName>ppt_h</p:attrName>
                                        </p:attrNameLst>
                                      </p:cBhvr>
                                      <p:tavLst>
                                        <p:tav tm="0">
                                          <p:val>
                                            <p:fltVal val="0"/>
                                          </p:val>
                                        </p:tav>
                                        <p:tav tm="100000">
                                          <p:val>
                                            <p:strVal val="#ppt_h"/>
                                          </p:val>
                                        </p:tav>
                                      </p:tavLst>
                                    </p:anim>
                                    <p:animEffect transition="in" filter="fade">
                                      <p:cBhvr>
                                        <p:cTn id="9"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2B5BB18-300C-0341-134B-17AF731DE01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C59AF5C-6E2D-A49A-361B-DE35564BD7B1}"/>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ゲーム業界について</a:t>
            </a:r>
          </a:p>
        </p:txBody>
      </p:sp>
      <p:pic>
        <p:nvPicPr>
          <p:cNvPr id="1026" name="Picture 2" descr="採用までの流れ">
            <a:extLst>
              <a:ext uri="{FF2B5EF4-FFF2-40B4-BE49-F238E27FC236}">
                <a16:creationId xmlns:a16="http://schemas.microsoft.com/office/drawing/2014/main" id="{F47EE1C0-1D27-949A-F455-BD5A8E493A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2950" y="1864109"/>
            <a:ext cx="8608583" cy="1685342"/>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F0BEBAF3-D7BD-BB00-4EC1-2DE257223FFB}"/>
              </a:ext>
            </a:extLst>
          </p:cNvPr>
          <p:cNvSpPr txBox="1"/>
          <p:nvPr/>
        </p:nvSpPr>
        <p:spPr>
          <a:xfrm>
            <a:off x="1532950" y="1437298"/>
            <a:ext cx="7757379" cy="461665"/>
          </a:xfrm>
          <a:prstGeom prst="rect">
            <a:avLst/>
          </a:prstGeom>
          <a:noFill/>
        </p:spPr>
        <p:txBody>
          <a:bodyPr wrap="square" rtlCol="0">
            <a:spAutoFit/>
          </a:bodyPr>
          <a:lstStyle/>
          <a:p>
            <a:r>
              <a:rPr kumimoji="1" lang="ja-JP" altLang="en-US" sz="2400" b="1" dirty="0"/>
              <a:t>サイバーコネクトツーの選考フロー</a:t>
            </a:r>
          </a:p>
        </p:txBody>
      </p:sp>
      <p:sp>
        <p:nvSpPr>
          <p:cNvPr id="21" name="テキスト ボックス 20">
            <a:extLst>
              <a:ext uri="{FF2B5EF4-FFF2-40B4-BE49-F238E27FC236}">
                <a16:creationId xmlns:a16="http://schemas.microsoft.com/office/drawing/2014/main" id="{938097FF-34B3-5A0D-8047-961C85923006}"/>
              </a:ext>
            </a:extLst>
          </p:cNvPr>
          <p:cNvSpPr txBox="1"/>
          <p:nvPr/>
        </p:nvSpPr>
        <p:spPr>
          <a:xfrm>
            <a:off x="285188" y="3848912"/>
            <a:ext cx="1869989" cy="707886"/>
          </a:xfrm>
          <a:prstGeom prst="rect">
            <a:avLst/>
          </a:prstGeom>
          <a:noFill/>
        </p:spPr>
        <p:txBody>
          <a:bodyPr wrap="square" rtlCol="0">
            <a:spAutoFit/>
          </a:bodyPr>
          <a:lstStyle/>
          <a:p>
            <a:r>
              <a:rPr kumimoji="1" lang="ja-JP" altLang="en-US" sz="4000" b="1" dirty="0"/>
              <a:t>通過率</a:t>
            </a:r>
          </a:p>
        </p:txBody>
      </p:sp>
      <p:sp>
        <p:nvSpPr>
          <p:cNvPr id="3" name="テキスト ボックス 2">
            <a:extLst>
              <a:ext uri="{FF2B5EF4-FFF2-40B4-BE49-F238E27FC236}">
                <a16:creationId xmlns:a16="http://schemas.microsoft.com/office/drawing/2014/main" id="{9912FA25-E825-1A63-7052-3C48639F699E}"/>
              </a:ext>
            </a:extLst>
          </p:cNvPr>
          <p:cNvSpPr txBox="1"/>
          <p:nvPr/>
        </p:nvSpPr>
        <p:spPr>
          <a:xfrm>
            <a:off x="2855523" y="3440449"/>
            <a:ext cx="1203649" cy="646331"/>
          </a:xfrm>
          <a:prstGeom prst="rect">
            <a:avLst/>
          </a:prstGeom>
          <a:noFill/>
        </p:spPr>
        <p:txBody>
          <a:bodyPr wrap="square" rtlCol="0">
            <a:spAutoFit/>
          </a:bodyPr>
          <a:lstStyle/>
          <a:p>
            <a:pPr algn="ctr"/>
            <a:r>
              <a:rPr kumimoji="1" lang="ja-JP" altLang="en-US" sz="3600" dirty="0"/>
              <a:t>↑</a:t>
            </a:r>
            <a:endParaRPr kumimoji="1" lang="en-US" altLang="ja-JP" sz="3600" dirty="0"/>
          </a:p>
        </p:txBody>
      </p:sp>
      <p:sp>
        <p:nvSpPr>
          <p:cNvPr id="5" name="テキスト ボックス 4">
            <a:extLst>
              <a:ext uri="{FF2B5EF4-FFF2-40B4-BE49-F238E27FC236}">
                <a16:creationId xmlns:a16="http://schemas.microsoft.com/office/drawing/2014/main" id="{6CFD72BA-B441-FECA-BF61-6D6EDFA21BCF}"/>
              </a:ext>
            </a:extLst>
          </p:cNvPr>
          <p:cNvSpPr txBox="1"/>
          <p:nvPr/>
        </p:nvSpPr>
        <p:spPr>
          <a:xfrm>
            <a:off x="2749013" y="3825169"/>
            <a:ext cx="1427586" cy="707886"/>
          </a:xfrm>
          <a:prstGeom prst="rect">
            <a:avLst/>
          </a:prstGeom>
          <a:noFill/>
        </p:spPr>
        <p:txBody>
          <a:bodyPr wrap="square" rtlCol="0">
            <a:spAutoFit/>
          </a:bodyPr>
          <a:lstStyle/>
          <a:p>
            <a:pPr algn="ctr"/>
            <a:r>
              <a:rPr kumimoji="1" lang="en-US" altLang="ja-JP" sz="4000" b="1" dirty="0">
                <a:solidFill>
                  <a:srgbClr val="FF0000"/>
                </a:solidFill>
              </a:rPr>
              <a:t>7%</a:t>
            </a:r>
            <a:endParaRPr kumimoji="1" lang="ja-JP" altLang="en-US" sz="4000" b="1" dirty="0">
              <a:solidFill>
                <a:srgbClr val="FF0000"/>
              </a:solidFill>
            </a:endParaRPr>
          </a:p>
        </p:txBody>
      </p:sp>
      <p:sp>
        <p:nvSpPr>
          <p:cNvPr id="6" name="テキスト ボックス 5">
            <a:extLst>
              <a:ext uri="{FF2B5EF4-FFF2-40B4-BE49-F238E27FC236}">
                <a16:creationId xmlns:a16="http://schemas.microsoft.com/office/drawing/2014/main" id="{A8CE8FFA-1E5C-D4BA-432E-5C76C620FC67}"/>
              </a:ext>
            </a:extLst>
          </p:cNvPr>
          <p:cNvSpPr txBox="1"/>
          <p:nvPr/>
        </p:nvSpPr>
        <p:spPr>
          <a:xfrm>
            <a:off x="4982661" y="3464192"/>
            <a:ext cx="1203649" cy="646331"/>
          </a:xfrm>
          <a:prstGeom prst="rect">
            <a:avLst/>
          </a:prstGeom>
          <a:noFill/>
        </p:spPr>
        <p:txBody>
          <a:bodyPr wrap="square" rtlCol="0">
            <a:spAutoFit/>
          </a:bodyPr>
          <a:lstStyle/>
          <a:p>
            <a:pPr algn="ctr"/>
            <a:r>
              <a:rPr kumimoji="1" lang="ja-JP" altLang="en-US" sz="3600" dirty="0"/>
              <a:t>↑</a:t>
            </a:r>
            <a:endParaRPr kumimoji="1" lang="en-US" altLang="ja-JP" sz="3600" dirty="0"/>
          </a:p>
        </p:txBody>
      </p:sp>
      <p:sp>
        <p:nvSpPr>
          <p:cNvPr id="7" name="テキスト ボックス 6">
            <a:extLst>
              <a:ext uri="{FF2B5EF4-FFF2-40B4-BE49-F238E27FC236}">
                <a16:creationId xmlns:a16="http://schemas.microsoft.com/office/drawing/2014/main" id="{D086635F-8F4F-E0EA-315A-A6589135D106}"/>
              </a:ext>
            </a:extLst>
          </p:cNvPr>
          <p:cNvSpPr txBox="1"/>
          <p:nvPr/>
        </p:nvSpPr>
        <p:spPr>
          <a:xfrm>
            <a:off x="4876151" y="3848912"/>
            <a:ext cx="1427586" cy="707886"/>
          </a:xfrm>
          <a:prstGeom prst="rect">
            <a:avLst/>
          </a:prstGeom>
          <a:noFill/>
        </p:spPr>
        <p:txBody>
          <a:bodyPr wrap="square" rtlCol="0">
            <a:spAutoFit/>
          </a:bodyPr>
          <a:lstStyle/>
          <a:p>
            <a:pPr algn="ctr"/>
            <a:r>
              <a:rPr kumimoji="1" lang="en-US" altLang="ja-JP" sz="4000" b="1" dirty="0">
                <a:solidFill>
                  <a:srgbClr val="FF0000"/>
                </a:solidFill>
              </a:rPr>
              <a:t>45%</a:t>
            </a:r>
            <a:endParaRPr kumimoji="1" lang="ja-JP" altLang="en-US" sz="4000" b="1" dirty="0">
              <a:solidFill>
                <a:srgbClr val="FF0000"/>
              </a:solidFill>
            </a:endParaRPr>
          </a:p>
        </p:txBody>
      </p:sp>
      <p:sp>
        <p:nvSpPr>
          <p:cNvPr id="8" name="テキスト ボックス 7">
            <a:extLst>
              <a:ext uri="{FF2B5EF4-FFF2-40B4-BE49-F238E27FC236}">
                <a16:creationId xmlns:a16="http://schemas.microsoft.com/office/drawing/2014/main" id="{DC37D990-A917-FC43-45CE-3E06A6B0C0C2}"/>
              </a:ext>
            </a:extLst>
          </p:cNvPr>
          <p:cNvSpPr txBox="1"/>
          <p:nvPr/>
        </p:nvSpPr>
        <p:spPr>
          <a:xfrm>
            <a:off x="7181757" y="3440449"/>
            <a:ext cx="1203649" cy="646331"/>
          </a:xfrm>
          <a:prstGeom prst="rect">
            <a:avLst/>
          </a:prstGeom>
          <a:noFill/>
        </p:spPr>
        <p:txBody>
          <a:bodyPr wrap="square" rtlCol="0">
            <a:spAutoFit/>
          </a:bodyPr>
          <a:lstStyle/>
          <a:p>
            <a:pPr algn="ctr"/>
            <a:r>
              <a:rPr kumimoji="1" lang="ja-JP" altLang="en-US" sz="3600" dirty="0"/>
              <a:t>↑</a:t>
            </a:r>
            <a:endParaRPr kumimoji="1" lang="en-US" altLang="ja-JP" sz="3600" dirty="0"/>
          </a:p>
        </p:txBody>
      </p:sp>
      <p:sp>
        <p:nvSpPr>
          <p:cNvPr id="9" name="テキスト ボックス 8">
            <a:extLst>
              <a:ext uri="{FF2B5EF4-FFF2-40B4-BE49-F238E27FC236}">
                <a16:creationId xmlns:a16="http://schemas.microsoft.com/office/drawing/2014/main" id="{FCC24067-88E5-FABA-579C-A9252978AB97}"/>
              </a:ext>
            </a:extLst>
          </p:cNvPr>
          <p:cNvSpPr txBox="1"/>
          <p:nvPr/>
        </p:nvSpPr>
        <p:spPr>
          <a:xfrm>
            <a:off x="7075247" y="3825169"/>
            <a:ext cx="1427586" cy="707886"/>
          </a:xfrm>
          <a:prstGeom prst="rect">
            <a:avLst/>
          </a:prstGeom>
          <a:noFill/>
        </p:spPr>
        <p:txBody>
          <a:bodyPr wrap="square" rtlCol="0">
            <a:spAutoFit/>
          </a:bodyPr>
          <a:lstStyle/>
          <a:p>
            <a:pPr algn="ctr"/>
            <a:r>
              <a:rPr kumimoji="1" lang="en-US" altLang="ja-JP" sz="4000" b="1" dirty="0">
                <a:solidFill>
                  <a:srgbClr val="FF0000"/>
                </a:solidFill>
              </a:rPr>
              <a:t>96%</a:t>
            </a:r>
            <a:endParaRPr kumimoji="1" lang="ja-JP" altLang="en-US" sz="4000" b="1" dirty="0">
              <a:solidFill>
                <a:srgbClr val="FF0000"/>
              </a:solidFill>
            </a:endParaRPr>
          </a:p>
        </p:txBody>
      </p:sp>
      <p:graphicFrame>
        <p:nvGraphicFramePr>
          <p:cNvPr id="19" name="グラフ 18">
            <a:extLst>
              <a:ext uri="{FF2B5EF4-FFF2-40B4-BE49-F238E27FC236}">
                <a16:creationId xmlns:a16="http://schemas.microsoft.com/office/drawing/2014/main" id="{1BDCFD68-12A3-D1FD-2EFC-C92324123280}"/>
              </a:ext>
            </a:extLst>
          </p:cNvPr>
          <p:cNvGraphicFramePr/>
          <p:nvPr>
            <p:extLst>
              <p:ext uri="{D42A27DB-BD31-4B8C-83A1-F6EECF244321}">
                <p14:modId xmlns:p14="http://schemas.microsoft.com/office/powerpoint/2010/main" val="755410592"/>
              </p:ext>
            </p:extLst>
          </p:nvPr>
        </p:nvGraphicFramePr>
        <p:xfrm>
          <a:off x="1834175" y="4668219"/>
          <a:ext cx="6668658" cy="1946981"/>
        </p:xfrm>
        <a:graphic>
          <a:graphicData uri="http://schemas.openxmlformats.org/drawingml/2006/chart">
            <c:chart xmlns:c="http://schemas.openxmlformats.org/drawingml/2006/chart" xmlns:r="http://schemas.openxmlformats.org/officeDocument/2006/relationships" r:id="rId5"/>
          </a:graphicData>
        </a:graphic>
      </p:graphicFrame>
      <p:sp>
        <p:nvSpPr>
          <p:cNvPr id="22" name="テキスト ボックス 21">
            <a:extLst>
              <a:ext uri="{FF2B5EF4-FFF2-40B4-BE49-F238E27FC236}">
                <a16:creationId xmlns:a16="http://schemas.microsoft.com/office/drawing/2014/main" id="{7F080446-1248-D0EF-10FF-E7CD487FEDA8}"/>
              </a:ext>
            </a:extLst>
          </p:cNvPr>
          <p:cNvSpPr txBox="1"/>
          <p:nvPr/>
        </p:nvSpPr>
        <p:spPr>
          <a:xfrm>
            <a:off x="2514517" y="6245868"/>
            <a:ext cx="470404" cy="369332"/>
          </a:xfrm>
          <a:prstGeom prst="rect">
            <a:avLst/>
          </a:prstGeom>
          <a:noFill/>
        </p:spPr>
        <p:txBody>
          <a:bodyPr wrap="square" rtlCol="0">
            <a:spAutoFit/>
          </a:bodyPr>
          <a:lstStyle/>
          <a:p>
            <a:r>
              <a:rPr kumimoji="1" lang="en-US" altLang="ja-JP" dirty="0"/>
              <a:t>7%</a:t>
            </a:r>
            <a:endParaRPr kumimoji="1" lang="ja-JP" altLang="en-US" dirty="0"/>
          </a:p>
        </p:txBody>
      </p:sp>
      <p:cxnSp>
        <p:nvCxnSpPr>
          <p:cNvPr id="24" name="直線コネクタ 23">
            <a:extLst>
              <a:ext uri="{FF2B5EF4-FFF2-40B4-BE49-F238E27FC236}">
                <a16:creationId xmlns:a16="http://schemas.microsoft.com/office/drawing/2014/main" id="{81F1BEBE-86E7-5AA8-DB83-657A56F72299}"/>
              </a:ext>
            </a:extLst>
          </p:cNvPr>
          <p:cNvCxnSpPr>
            <a:cxnSpLocks/>
          </p:cNvCxnSpPr>
          <p:nvPr/>
        </p:nvCxnSpPr>
        <p:spPr>
          <a:xfrm flipH="1">
            <a:off x="3084906" y="4829175"/>
            <a:ext cx="1032544" cy="1543050"/>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直線コネクタ 31">
            <a:extLst>
              <a:ext uri="{FF2B5EF4-FFF2-40B4-BE49-F238E27FC236}">
                <a16:creationId xmlns:a16="http://schemas.microsoft.com/office/drawing/2014/main" id="{447E3666-F969-5BF5-018E-5207AF0FC73D}"/>
              </a:ext>
            </a:extLst>
          </p:cNvPr>
          <p:cNvCxnSpPr>
            <a:cxnSpLocks/>
          </p:cNvCxnSpPr>
          <p:nvPr/>
        </p:nvCxnSpPr>
        <p:spPr>
          <a:xfrm>
            <a:off x="3107925" y="6483350"/>
            <a:ext cx="1009525" cy="0"/>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直線コネクタ 39">
            <a:extLst>
              <a:ext uri="{FF2B5EF4-FFF2-40B4-BE49-F238E27FC236}">
                <a16:creationId xmlns:a16="http://schemas.microsoft.com/office/drawing/2014/main" id="{7D634352-8653-1BEA-C2B3-FD7752BA46C3}"/>
              </a:ext>
            </a:extLst>
          </p:cNvPr>
          <p:cNvCxnSpPr>
            <a:cxnSpLocks/>
          </p:cNvCxnSpPr>
          <p:nvPr/>
        </p:nvCxnSpPr>
        <p:spPr>
          <a:xfrm>
            <a:off x="4831332" y="6483350"/>
            <a:ext cx="1009525" cy="0"/>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2" name="テキスト ボックス 41">
            <a:extLst>
              <a:ext uri="{FF2B5EF4-FFF2-40B4-BE49-F238E27FC236}">
                <a16:creationId xmlns:a16="http://schemas.microsoft.com/office/drawing/2014/main" id="{419C9CA9-2148-9132-DEFC-A25532E56500}"/>
              </a:ext>
            </a:extLst>
          </p:cNvPr>
          <p:cNvSpPr txBox="1"/>
          <p:nvPr/>
        </p:nvSpPr>
        <p:spPr>
          <a:xfrm>
            <a:off x="5900566" y="5499216"/>
            <a:ext cx="615820" cy="369332"/>
          </a:xfrm>
          <a:prstGeom prst="rect">
            <a:avLst/>
          </a:prstGeom>
          <a:noFill/>
        </p:spPr>
        <p:txBody>
          <a:bodyPr wrap="square" rtlCol="0">
            <a:spAutoFit/>
          </a:bodyPr>
          <a:lstStyle/>
          <a:p>
            <a:pPr algn="ctr"/>
            <a:r>
              <a:rPr kumimoji="1" lang="en-US" altLang="ja-JP" dirty="0"/>
              <a:t>96%</a:t>
            </a:r>
            <a:endParaRPr kumimoji="1" lang="ja-JP" altLang="en-US" dirty="0"/>
          </a:p>
        </p:txBody>
      </p:sp>
      <p:sp>
        <p:nvSpPr>
          <p:cNvPr id="43" name="テキスト ボックス 42">
            <a:extLst>
              <a:ext uri="{FF2B5EF4-FFF2-40B4-BE49-F238E27FC236}">
                <a16:creationId xmlns:a16="http://schemas.microsoft.com/office/drawing/2014/main" id="{85054948-3E8B-0E62-5F99-EDD8994B5375}"/>
              </a:ext>
            </a:extLst>
          </p:cNvPr>
          <p:cNvSpPr txBox="1"/>
          <p:nvPr/>
        </p:nvSpPr>
        <p:spPr>
          <a:xfrm>
            <a:off x="6767597" y="5446379"/>
            <a:ext cx="1266693" cy="523220"/>
          </a:xfrm>
          <a:prstGeom prst="rect">
            <a:avLst/>
          </a:prstGeom>
          <a:noFill/>
        </p:spPr>
        <p:txBody>
          <a:bodyPr wrap="none" rtlCol="0">
            <a:spAutoFit/>
          </a:bodyPr>
          <a:lstStyle/>
          <a:p>
            <a:r>
              <a:rPr kumimoji="1" lang="en-US" altLang="ja-JP" sz="2800" b="1" dirty="0"/>
              <a:t>‥‥‥</a:t>
            </a:r>
            <a:endParaRPr kumimoji="1" lang="ja-JP" altLang="en-US" sz="2800" b="1" dirty="0"/>
          </a:p>
        </p:txBody>
      </p:sp>
      <p:sp>
        <p:nvSpPr>
          <p:cNvPr id="44" name="テキスト ボックス 43">
            <a:extLst>
              <a:ext uri="{FF2B5EF4-FFF2-40B4-BE49-F238E27FC236}">
                <a16:creationId xmlns:a16="http://schemas.microsoft.com/office/drawing/2014/main" id="{C4DBCE4B-9C37-0861-F420-FF20BB99266C}"/>
              </a:ext>
            </a:extLst>
          </p:cNvPr>
          <p:cNvSpPr txBox="1"/>
          <p:nvPr/>
        </p:nvSpPr>
        <p:spPr>
          <a:xfrm>
            <a:off x="7832567" y="4388769"/>
            <a:ext cx="4478959" cy="923330"/>
          </a:xfrm>
          <a:prstGeom prst="rect">
            <a:avLst/>
          </a:prstGeom>
          <a:noFill/>
        </p:spPr>
        <p:txBody>
          <a:bodyPr wrap="square" rtlCol="0">
            <a:spAutoFit/>
          </a:bodyPr>
          <a:lstStyle/>
          <a:p>
            <a:r>
              <a:rPr kumimoji="1" lang="ja-JP" altLang="en-US" sz="5400" b="1" dirty="0"/>
              <a:t>最終内定率</a:t>
            </a:r>
          </a:p>
        </p:txBody>
      </p:sp>
      <p:sp>
        <p:nvSpPr>
          <p:cNvPr id="45" name="テキスト ボックス 44">
            <a:extLst>
              <a:ext uri="{FF2B5EF4-FFF2-40B4-BE49-F238E27FC236}">
                <a16:creationId xmlns:a16="http://schemas.microsoft.com/office/drawing/2014/main" id="{CB7BEA5A-5739-3196-0F5C-66EF3FB1DA76}"/>
              </a:ext>
            </a:extLst>
          </p:cNvPr>
          <p:cNvSpPr txBox="1"/>
          <p:nvPr/>
        </p:nvSpPr>
        <p:spPr>
          <a:xfrm>
            <a:off x="8573075" y="4744650"/>
            <a:ext cx="3016607" cy="2215991"/>
          </a:xfrm>
          <a:prstGeom prst="rect">
            <a:avLst/>
          </a:prstGeom>
          <a:noFill/>
        </p:spPr>
        <p:txBody>
          <a:bodyPr wrap="square" rtlCol="0">
            <a:spAutoFit/>
          </a:bodyPr>
          <a:lstStyle/>
          <a:p>
            <a:r>
              <a:rPr kumimoji="1" lang="en-US" altLang="ja-JP" sz="13800" b="1" dirty="0">
                <a:solidFill>
                  <a:srgbClr val="FF0000"/>
                </a:solidFill>
              </a:rPr>
              <a:t>3%</a:t>
            </a:r>
            <a:endParaRPr kumimoji="1" lang="ja-JP" altLang="en-US" sz="13800" b="1" dirty="0">
              <a:solidFill>
                <a:srgbClr val="FF0000"/>
              </a:solidFill>
            </a:endParaRPr>
          </a:p>
        </p:txBody>
      </p:sp>
      <p:cxnSp>
        <p:nvCxnSpPr>
          <p:cNvPr id="47" name="直線コネクタ 46">
            <a:extLst>
              <a:ext uri="{FF2B5EF4-FFF2-40B4-BE49-F238E27FC236}">
                <a16:creationId xmlns:a16="http://schemas.microsoft.com/office/drawing/2014/main" id="{C1F4B651-C66A-7F2F-9B12-DCE7A1F7505A}"/>
              </a:ext>
            </a:extLst>
          </p:cNvPr>
          <p:cNvCxnSpPr>
            <a:cxnSpLocks/>
          </p:cNvCxnSpPr>
          <p:nvPr/>
        </p:nvCxnSpPr>
        <p:spPr>
          <a:xfrm>
            <a:off x="2396725" y="4829175"/>
            <a:ext cx="682107" cy="153774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49" name="直線コネクタ 48">
            <a:extLst>
              <a:ext uri="{FF2B5EF4-FFF2-40B4-BE49-F238E27FC236}">
                <a16:creationId xmlns:a16="http://schemas.microsoft.com/office/drawing/2014/main" id="{D0B87D1A-30BF-8607-548F-BF5B6B68B9A8}"/>
              </a:ext>
            </a:extLst>
          </p:cNvPr>
          <p:cNvCxnSpPr>
            <a:cxnSpLocks/>
          </p:cNvCxnSpPr>
          <p:nvPr/>
        </p:nvCxnSpPr>
        <p:spPr>
          <a:xfrm flipH="1">
            <a:off x="2390651" y="4823874"/>
            <a:ext cx="683758" cy="154305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20" name="テキスト ボックス 19">
            <a:extLst>
              <a:ext uri="{FF2B5EF4-FFF2-40B4-BE49-F238E27FC236}">
                <a16:creationId xmlns:a16="http://schemas.microsoft.com/office/drawing/2014/main" id="{F6DF9752-7DA2-EE27-BA78-5E6A55312647}"/>
              </a:ext>
            </a:extLst>
          </p:cNvPr>
          <p:cNvSpPr txBox="1"/>
          <p:nvPr/>
        </p:nvSpPr>
        <p:spPr>
          <a:xfrm>
            <a:off x="2441809" y="5404098"/>
            <a:ext cx="615820" cy="369332"/>
          </a:xfrm>
          <a:prstGeom prst="rect">
            <a:avLst/>
          </a:prstGeom>
          <a:noFill/>
        </p:spPr>
        <p:txBody>
          <a:bodyPr wrap="square" rtlCol="0">
            <a:spAutoFit/>
          </a:bodyPr>
          <a:lstStyle/>
          <a:p>
            <a:pPr algn="ctr"/>
            <a:r>
              <a:rPr kumimoji="1" lang="en-US" altLang="ja-JP" dirty="0"/>
              <a:t>93%</a:t>
            </a:r>
            <a:endParaRPr kumimoji="1" lang="ja-JP" altLang="en-US" dirty="0"/>
          </a:p>
        </p:txBody>
      </p:sp>
      <p:cxnSp>
        <p:nvCxnSpPr>
          <p:cNvPr id="52" name="直線コネクタ 51">
            <a:extLst>
              <a:ext uri="{FF2B5EF4-FFF2-40B4-BE49-F238E27FC236}">
                <a16:creationId xmlns:a16="http://schemas.microsoft.com/office/drawing/2014/main" id="{F3A88B80-1299-A78D-14DC-4A9DC2B52826}"/>
              </a:ext>
            </a:extLst>
          </p:cNvPr>
          <p:cNvCxnSpPr>
            <a:cxnSpLocks/>
          </p:cNvCxnSpPr>
          <p:nvPr/>
        </p:nvCxnSpPr>
        <p:spPr>
          <a:xfrm>
            <a:off x="4130333" y="4829175"/>
            <a:ext cx="688917" cy="904875"/>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53" name="直線コネクタ 52">
            <a:extLst>
              <a:ext uri="{FF2B5EF4-FFF2-40B4-BE49-F238E27FC236}">
                <a16:creationId xmlns:a16="http://schemas.microsoft.com/office/drawing/2014/main" id="{48AD203B-FA0E-094C-2BF9-CA4B50C554A9}"/>
              </a:ext>
            </a:extLst>
          </p:cNvPr>
          <p:cNvCxnSpPr>
            <a:cxnSpLocks/>
          </p:cNvCxnSpPr>
          <p:nvPr/>
        </p:nvCxnSpPr>
        <p:spPr>
          <a:xfrm flipH="1">
            <a:off x="4127947" y="4823874"/>
            <a:ext cx="680070" cy="910176"/>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36" name="テキスト ボックス 35">
            <a:extLst>
              <a:ext uri="{FF2B5EF4-FFF2-40B4-BE49-F238E27FC236}">
                <a16:creationId xmlns:a16="http://schemas.microsoft.com/office/drawing/2014/main" id="{32368CBF-A26C-1757-0B98-30831B981AAC}"/>
              </a:ext>
            </a:extLst>
          </p:cNvPr>
          <p:cNvSpPr txBox="1"/>
          <p:nvPr/>
        </p:nvSpPr>
        <p:spPr>
          <a:xfrm>
            <a:off x="4176322" y="5077047"/>
            <a:ext cx="615820" cy="369332"/>
          </a:xfrm>
          <a:prstGeom prst="rect">
            <a:avLst/>
          </a:prstGeom>
          <a:noFill/>
        </p:spPr>
        <p:txBody>
          <a:bodyPr wrap="square" rtlCol="0">
            <a:spAutoFit/>
          </a:bodyPr>
          <a:lstStyle/>
          <a:p>
            <a:pPr algn="ctr"/>
            <a:r>
              <a:rPr kumimoji="1" lang="en-US" altLang="ja-JP" dirty="0"/>
              <a:t>55%</a:t>
            </a:r>
            <a:endParaRPr kumimoji="1" lang="ja-JP" altLang="en-US" dirty="0"/>
          </a:p>
        </p:txBody>
      </p:sp>
      <p:cxnSp>
        <p:nvCxnSpPr>
          <p:cNvPr id="58" name="直線コネクタ 57">
            <a:extLst>
              <a:ext uri="{FF2B5EF4-FFF2-40B4-BE49-F238E27FC236}">
                <a16:creationId xmlns:a16="http://schemas.microsoft.com/office/drawing/2014/main" id="{97DE9717-30F0-2256-9F9F-8AFAA948B627}"/>
              </a:ext>
            </a:extLst>
          </p:cNvPr>
          <p:cNvCxnSpPr>
            <a:cxnSpLocks/>
          </p:cNvCxnSpPr>
          <p:nvPr/>
        </p:nvCxnSpPr>
        <p:spPr>
          <a:xfrm>
            <a:off x="5861555" y="4829175"/>
            <a:ext cx="685689" cy="4781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59" name="直線コネクタ 58">
            <a:extLst>
              <a:ext uri="{FF2B5EF4-FFF2-40B4-BE49-F238E27FC236}">
                <a16:creationId xmlns:a16="http://schemas.microsoft.com/office/drawing/2014/main" id="{54E161EE-EB46-3902-50D3-905936D618FF}"/>
              </a:ext>
            </a:extLst>
          </p:cNvPr>
          <p:cNvCxnSpPr>
            <a:cxnSpLocks/>
          </p:cNvCxnSpPr>
          <p:nvPr/>
        </p:nvCxnSpPr>
        <p:spPr>
          <a:xfrm flipH="1">
            <a:off x="5861555" y="4823874"/>
            <a:ext cx="677684" cy="5312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41" name="テキスト ボックス 40">
            <a:extLst>
              <a:ext uri="{FF2B5EF4-FFF2-40B4-BE49-F238E27FC236}">
                <a16:creationId xmlns:a16="http://schemas.microsoft.com/office/drawing/2014/main" id="{C12A2FDC-C3F5-2B35-194C-45A5F5912DD9}"/>
              </a:ext>
            </a:extLst>
          </p:cNvPr>
          <p:cNvSpPr txBox="1"/>
          <p:nvPr/>
        </p:nvSpPr>
        <p:spPr>
          <a:xfrm>
            <a:off x="5900566" y="4668219"/>
            <a:ext cx="615820" cy="369332"/>
          </a:xfrm>
          <a:prstGeom prst="rect">
            <a:avLst/>
          </a:prstGeom>
          <a:noFill/>
        </p:spPr>
        <p:txBody>
          <a:bodyPr wrap="square" rtlCol="0">
            <a:spAutoFit/>
          </a:bodyPr>
          <a:lstStyle/>
          <a:p>
            <a:pPr algn="ctr"/>
            <a:r>
              <a:rPr kumimoji="1" lang="en-US" altLang="ja-JP" dirty="0"/>
              <a:t>4%</a:t>
            </a:r>
            <a:endParaRPr kumimoji="1" lang="ja-JP" altLang="en-US" dirty="0"/>
          </a:p>
        </p:txBody>
      </p:sp>
      <p:cxnSp>
        <p:nvCxnSpPr>
          <p:cNvPr id="38" name="直線コネクタ 37">
            <a:extLst>
              <a:ext uri="{FF2B5EF4-FFF2-40B4-BE49-F238E27FC236}">
                <a16:creationId xmlns:a16="http://schemas.microsoft.com/office/drawing/2014/main" id="{21CDCB76-7DA4-3057-1C15-8FDEEAD096CD}"/>
              </a:ext>
            </a:extLst>
          </p:cNvPr>
          <p:cNvCxnSpPr>
            <a:cxnSpLocks/>
          </p:cNvCxnSpPr>
          <p:nvPr/>
        </p:nvCxnSpPr>
        <p:spPr>
          <a:xfrm flipV="1">
            <a:off x="4819250" y="4829175"/>
            <a:ext cx="1033691" cy="904875"/>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71662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50" fill="hold"/>
                                        <p:tgtEl>
                                          <p:spTgt spid="5"/>
                                        </p:tgtEl>
                                        <p:attrNameLst>
                                          <p:attrName>ppt_w</p:attrName>
                                        </p:attrNameLst>
                                      </p:cBhvr>
                                      <p:tavLst>
                                        <p:tav tm="0">
                                          <p:val>
                                            <p:fltVal val="0"/>
                                          </p:val>
                                        </p:tav>
                                        <p:tav tm="100000">
                                          <p:val>
                                            <p:strVal val="#ppt_w"/>
                                          </p:val>
                                        </p:tav>
                                      </p:tavLst>
                                    </p:anim>
                                    <p:anim calcmode="lin" valueType="num">
                                      <p:cBhvr>
                                        <p:cTn id="8" dur="250" fill="hold"/>
                                        <p:tgtEl>
                                          <p:spTgt spid="5"/>
                                        </p:tgtEl>
                                        <p:attrNameLst>
                                          <p:attrName>ppt_h</p:attrName>
                                        </p:attrNameLst>
                                      </p:cBhvr>
                                      <p:tavLst>
                                        <p:tav tm="0">
                                          <p:val>
                                            <p:fltVal val="0"/>
                                          </p:val>
                                        </p:tav>
                                        <p:tav tm="100000">
                                          <p:val>
                                            <p:strVal val="#ppt_h"/>
                                          </p:val>
                                        </p:tav>
                                      </p:tavLst>
                                    </p:anim>
                                    <p:animEffect transition="in" filter="fade">
                                      <p:cBhvr>
                                        <p:cTn id="9" dur="25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250" fill="hold"/>
                                        <p:tgtEl>
                                          <p:spTgt spid="7"/>
                                        </p:tgtEl>
                                        <p:attrNameLst>
                                          <p:attrName>ppt_w</p:attrName>
                                        </p:attrNameLst>
                                      </p:cBhvr>
                                      <p:tavLst>
                                        <p:tav tm="0">
                                          <p:val>
                                            <p:fltVal val="0"/>
                                          </p:val>
                                        </p:tav>
                                        <p:tav tm="100000">
                                          <p:val>
                                            <p:strVal val="#ppt_w"/>
                                          </p:val>
                                        </p:tav>
                                      </p:tavLst>
                                    </p:anim>
                                    <p:anim calcmode="lin" valueType="num">
                                      <p:cBhvr>
                                        <p:cTn id="13" dur="250" fill="hold"/>
                                        <p:tgtEl>
                                          <p:spTgt spid="7"/>
                                        </p:tgtEl>
                                        <p:attrNameLst>
                                          <p:attrName>ppt_h</p:attrName>
                                        </p:attrNameLst>
                                      </p:cBhvr>
                                      <p:tavLst>
                                        <p:tav tm="0">
                                          <p:val>
                                            <p:fltVal val="0"/>
                                          </p:val>
                                        </p:tav>
                                        <p:tav tm="100000">
                                          <p:val>
                                            <p:strVal val="#ppt_h"/>
                                          </p:val>
                                        </p:tav>
                                      </p:tavLst>
                                    </p:anim>
                                    <p:animEffect transition="in" filter="fade">
                                      <p:cBhvr>
                                        <p:cTn id="14" dur="25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250" fill="hold"/>
                                        <p:tgtEl>
                                          <p:spTgt spid="9"/>
                                        </p:tgtEl>
                                        <p:attrNameLst>
                                          <p:attrName>ppt_w</p:attrName>
                                        </p:attrNameLst>
                                      </p:cBhvr>
                                      <p:tavLst>
                                        <p:tav tm="0">
                                          <p:val>
                                            <p:fltVal val="0"/>
                                          </p:val>
                                        </p:tav>
                                        <p:tav tm="100000">
                                          <p:val>
                                            <p:strVal val="#ppt_w"/>
                                          </p:val>
                                        </p:tav>
                                      </p:tavLst>
                                    </p:anim>
                                    <p:anim calcmode="lin" valueType="num">
                                      <p:cBhvr>
                                        <p:cTn id="18" dur="250" fill="hold"/>
                                        <p:tgtEl>
                                          <p:spTgt spid="9"/>
                                        </p:tgtEl>
                                        <p:attrNameLst>
                                          <p:attrName>ppt_h</p:attrName>
                                        </p:attrNameLst>
                                      </p:cBhvr>
                                      <p:tavLst>
                                        <p:tav tm="0">
                                          <p:val>
                                            <p:fltVal val="0"/>
                                          </p:val>
                                        </p:tav>
                                        <p:tav tm="100000">
                                          <p:val>
                                            <p:strVal val="#ppt_h"/>
                                          </p:val>
                                        </p:tav>
                                      </p:tavLst>
                                    </p:anim>
                                    <p:animEffect transition="in" filter="fade">
                                      <p:cBhvr>
                                        <p:cTn id="19" dur="250"/>
                                        <p:tgtEl>
                                          <p:spTgt spid="9"/>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anim calcmode="lin" valueType="num">
                                      <p:cBhvr>
                                        <p:cTn id="23" dur="500" fill="hold"/>
                                        <p:tgtEl>
                                          <p:spTgt spid="19"/>
                                        </p:tgtEl>
                                        <p:attrNameLst>
                                          <p:attrName>ppt_x</p:attrName>
                                        </p:attrNameLst>
                                      </p:cBhvr>
                                      <p:tavLst>
                                        <p:tav tm="0">
                                          <p:val>
                                            <p:strVal val="#ppt_x"/>
                                          </p:val>
                                        </p:tav>
                                        <p:tav tm="100000">
                                          <p:val>
                                            <p:strVal val="#ppt_x"/>
                                          </p:val>
                                        </p:tav>
                                      </p:tavLst>
                                    </p:anim>
                                    <p:anim calcmode="lin" valueType="num">
                                      <p:cBhvr>
                                        <p:cTn id="24" dur="500" fill="hold"/>
                                        <p:tgtEl>
                                          <p:spTgt spid="1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anim calcmode="lin" valueType="num">
                                      <p:cBhvr>
                                        <p:cTn id="28" dur="500" fill="hold"/>
                                        <p:tgtEl>
                                          <p:spTgt spid="22"/>
                                        </p:tgtEl>
                                        <p:attrNameLst>
                                          <p:attrName>ppt_x</p:attrName>
                                        </p:attrNameLst>
                                      </p:cBhvr>
                                      <p:tavLst>
                                        <p:tav tm="0">
                                          <p:val>
                                            <p:strVal val="#ppt_x"/>
                                          </p:val>
                                        </p:tav>
                                        <p:tav tm="100000">
                                          <p:val>
                                            <p:strVal val="#ppt_x"/>
                                          </p:val>
                                        </p:tav>
                                      </p:tavLst>
                                    </p:anim>
                                    <p:anim calcmode="lin" valueType="num">
                                      <p:cBhvr>
                                        <p:cTn id="29" dur="500" fill="hold"/>
                                        <p:tgtEl>
                                          <p:spTgt spid="22"/>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anim calcmode="lin" valueType="num">
                                      <p:cBhvr>
                                        <p:cTn id="33" dur="500" fill="hold"/>
                                        <p:tgtEl>
                                          <p:spTgt spid="24"/>
                                        </p:tgtEl>
                                        <p:attrNameLst>
                                          <p:attrName>ppt_x</p:attrName>
                                        </p:attrNameLst>
                                      </p:cBhvr>
                                      <p:tavLst>
                                        <p:tav tm="0">
                                          <p:val>
                                            <p:strVal val="#ppt_x"/>
                                          </p:val>
                                        </p:tav>
                                        <p:tav tm="100000">
                                          <p:val>
                                            <p:strVal val="#ppt_x"/>
                                          </p:val>
                                        </p:tav>
                                      </p:tavLst>
                                    </p:anim>
                                    <p:anim calcmode="lin" valueType="num">
                                      <p:cBhvr>
                                        <p:cTn id="34" dur="500" fill="hold"/>
                                        <p:tgtEl>
                                          <p:spTgt spid="24"/>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anim calcmode="lin" valueType="num">
                                      <p:cBhvr>
                                        <p:cTn id="38" dur="500" fill="hold"/>
                                        <p:tgtEl>
                                          <p:spTgt spid="32"/>
                                        </p:tgtEl>
                                        <p:attrNameLst>
                                          <p:attrName>ppt_x</p:attrName>
                                        </p:attrNameLst>
                                      </p:cBhvr>
                                      <p:tavLst>
                                        <p:tav tm="0">
                                          <p:val>
                                            <p:strVal val="#ppt_x"/>
                                          </p:val>
                                        </p:tav>
                                        <p:tav tm="100000">
                                          <p:val>
                                            <p:strVal val="#ppt_x"/>
                                          </p:val>
                                        </p:tav>
                                      </p:tavLst>
                                    </p:anim>
                                    <p:anim calcmode="lin" valueType="num">
                                      <p:cBhvr>
                                        <p:cTn id="39" dur="500" fill="hold"/>
                                        <p:tgtEl>
                                          <p:spTgt spid="3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anim calcmode="lin" valueType="num">
                                      <p:cBhvr>
                                        <p:cTn id="43" dur="500" fill="hold"/>
                                        <p:tgtEl>
                                          <p:spTgt spid="40"/>
                                        </p:tgtEl>
                                        <p:attrNameLst>
                                          <p:attrName>ppt_x</p:attrName>
                                        </p:attrNameLst>
                                      </p:cBhvr>
                                      <p:tavLst>
                                        <p:tav tm="0">
                                          <p:val>
                                            <p:strVal val="#ppt_x"/>
                                          </p:val>
                                        </p:tav>
                                        <p:tav tm="100000">
                                          <p:val>
                                            <p:strVal val="#ppt_x"/>
                                          </p:val>
                                        </p:tav>
                                      </p:tavLst>
                                    </p:anim>
                                    <p:anim calcmode="lin" valueType="num">
                                      <p:cBhvr>
                                        <p:cTn id="44" dur="500" fill="hold"/>
                                        <p:tgtEl>
                                          <p:spTgt spid="4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anim calcmode="lin" valueType="num">
                                      <p:cBhvr>
                                        <p:cTn id="48" dur="500" fill="hold"/>
                                        <p:tgtEl>
                                          <p:spTgt spid="42"/>
                                        </p:tgtEl>
                                        <p:attrNameLst>
                                          <p:attrName>ppt_x</p:attrName>
                                        </p:attrNameLst>
                                      </p:cBhvr>
                                      <p:tavLst>
                                        <p:tav tm="0">
                                          <p:val>
                                            <p:strVal val="#ppt_x"/>
                                          </p:val>
                                        </p:tav>
                                        <p:tav tm="100000">
                                          <p:val>
                                            <p:strVal val="#ppt_x"/>
                                          </p:val>
                                        </p:tav>
                                      </p:tavLst>
                                    </p:anim>
                                    <p:anim calcmode="lin" valueType="num">
                                      <p:cBhvr>
                                        <p:cTn id="49" dur="500" fill="hold"/>
                                        <p:tgtEl>
                                          <p:spTgt spid="4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anim calcmode="lin" valueType="num">
                                      <p:cBhvr>
                                        <p:cTn id="53" dur="500" fill="hold"/>
                                        <p:tgtEl>
                                          <p:spTgt spid="47"/>
                                        </p:tgtEl>
                                        <p:attrNameLst>
                                          <p:attrName>ppt_x</p:attrName>
                                        </p:attrNameLst>
                                      </p:cBhvr>
                                      <p:tavLst>
                                        <p:tav tm="0">
                                          <p:val>
                                            <p:strVal val="#ppt_x"/>
                                          </p:val>
                                        </p:tav>
                                        <p:tav tm="100000">
                                          <p:val>
                                            <p:strVal val="#ppt_x"/>
                                          </p:val>
                                        </p:tav>
                                      </p:tavLst>
                                    </p:anim>
                                    <p:anim calcmode="lin" valueType="num">
                                      <p:cBhvr>
                                        <p:cTn id="54" dur="500" fill="hold"/>
                                        <p:tgtEl>
                                          <p:spTgt spid="47"/>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anim calcmode="lin" valueType="num">
                                      <p:cBhvr>
                                        <p:cTn id="58" dur="500" fill="hold"/>
                                        <p:tgtEl>
                                          <p:spTgt spid="49"/>
                                        </p:tgtEl>
                                        <p:attrNameLst>
                                          <p:attrName>ppt_x</p:attrName>
                                        </p:attrNameLst>
                                      </p:cBhvr>
                                      <p:tavLst>
                                        <p:tav tm="0">
                                          <p:val>
                                            <p:strVal val="#ppt_x"/>
                                          </p:val>
                                        </p:tav>
                                        <p:tav tm="100000">
                                          <p:val>
                                            <p:strVal val="#ppt_x"/>
                                          </p:val>
                                        </p:tav>
                                      </p:tavLst>
                                    </p:anim>
                                    <p:anim calcmode="lin" valueType="num">
                                      <p:cBhvr>
                                        <p:cTn id="59" dur="500" fill="hold"/>
                                        <p:tgtEl>
                                          <p:spTgt spid="4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anim calcmode="lin" valueType="num">
                                      <p:cBhvr>
                                        <p:cTn id="63" dur="500" fill="hold"/>
                                        <p:tgtEl>
                                          <p:spTgt spid="20"/>
                                        </p:tgtEl>
                                        <p:attrNameLst>
                                          <p:attrName>ppt_x</p:attrName>
                                        </p:attrNameLst>
                                      </p:cBhvr>
                                      <p:tavLst>
                                        <p:tav tm="0">
                                          <p:val>
                                            <p:strVal val="#ppt_x"/>
                                          </p:val>
                                        </p:tav>
                                        <p:tav tm="100000">
                                          <p:val>
                                            <p:strVal val="#ppt_x"/>
                                          </p:val>
                                        </p:tav>
                                      </p:tavLst>
                                    </p:anim>
                                    <p:anim calcmode="lin" valueType="num">
                                      <p:cBhvr>
                                        <p:cTn id="64" dur="500" fill="hold"/>
                                        <p:tgtEl>
                                          <p:spTgt spid="20"/>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500"/>
                                        <p:tgtEl>
                                          <p:spTgt spid="52"/>
                                        </p:tgtEl>
                                      </p:cBhvr>
                                    </p:animEffect>
                                    <p:anim calcmode="lin" valueType="num">
                                      <p:cBhvr>
                                        <p:cTn id="68" dur="500" fill="hold"/>
                                        <p:tgtEl>
                                          <p:spTgt spid="52"/>
                                        </p:tgtEl>
                                        <p:attrNameLst>
                                          <p:attrName>ppt_x</p:attrName>
                                        </p:attrNameLst>
                                      </p:cBhvr>
                                      <p:tavLst>
                                        <p:tav tm="0">
                                          <p:val>
                                            <p:strVal val="#ppt_x"/>
                                          </p:val>
                                        </p:tav>
                                        <p:tav tm="100000">
                                          <p:val>
                                            <p:strVal val="#ppt_x"/>
                                          </p:val>
                                        </p:tav>
                                      </p:tavLst>
                                    </p:anim>
                                    <p:anim calcmode="lin" valueType="num">
                                      <p:cBhvr>
                                        <p:cTn id="69" dur="500" fill="hold"/>
                                        <p:tgtEl>
                                          <p:spTgt spid="52"/>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53"/>
                                        </p:tgtEl>
                                        <p:attrNameLst>
                                          <p:attrName>style.visibility</p:attrName>
                                        </p:attrNameLst>
                                      </p:cBhvr>
                                      <p:to>
                                        <p:strVal val="visible"/>
                                      </p:to>
                                    </p:set>
                                    <p:animEffect transition="in" filter="fade">
                                      <p:cBhvr>
                                        <p:cTn id="72" dur="500"/>
                                        <p:tgtEl>
                                          <p:spTgt spid="53"/>
                                        </p:tgtEl>
                                      </p:cBhvr>
                                    </p:animEffect>
                                    <p:anim calcmode="lin" valueType="num">
                                      <p:cBhvr>
                                        <p:cTn id="73" dur="500" fill="hold"/>
                                        <p:tgtEl>
                                          <p:spTgt spid="53"/>
                                        </p:tgtEl>
                                        <p:attrNameLst>
                                          <p:attrName>ppt_x</p:attrName>
                                        </p:attrNameLst>
                                      </p:cBhvr>
                                      <p:tavLst>
                                        <p:tav tm="0">
                                          <p:val>
                                            <p:strVal val="#ppt_x"/>
                                          </p:val>
                                        </p:tav>
                                        <p:tav tm="100000">
                                          <p:val>
                                            <p:strVal val="#ppt_x"/>
                                          </p:val>
                                        </p:tav>
                                      </p:tavLst>
                                    </p:anim>
                                    <p:anim calcmode="lin" valueType="num">
                                      <p:cBhvr>
                                        <p:cTn id="74" dur="500" fill="hold"/>
                                        <p:tgtEl>
                                          <p:spTgt spid="5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00"/>
                                        <p:tgtEl>
                                          <p:spTgt spid="36"/>
                                        </p:tgtEl>
                                      </p:cBhvr>
                                    </p:animEffect>
                                    <p:anim calcmode="lin" valueType="num">
                                      <p:cBhvr>
                                        <p:cTn id="78" dur="500" fill="hold"/>
                                        <p:tgtEl>
                                          <p:spTgt spid="36"/>
                                        </p:tgtEl>
                                        <p:attrNameLst>
                                          <p:attrName>ppt_x</p:attrName>
                                        </p:attrNameLst>
                                      </p:cBhvr>
                                      <p:tavLst>
                                        <p:tav tm="0">
                                          <p:val>
                                            <p:strVal val="#ppt_x"/>
                                          </p:val>
                                        </p:tav>
                                        <p:tav tm="100000">
                                          <p:val>
                                            <p:strVal val="#ppt_x"/>
                                          </p:val>
                                        </p:tav>
                                      </p:tavLst>
                                    </p:anim>
                                    <p:anim calcmode="lin" valueType="num">
                                      <p:cBhvr>
                                        <p:cTn id="79" dur="500" fill="hold"/>
                                        <p:tgtEl>
                                          <p:spTgt spid="3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500"/>
                                        <p:tgtEl>
                                          <p:spTgt spid="58"/>
                                        </p:tgtEl>
                                      </p:cBhvr>
                                    </p:animEffect>
                                    <p:anim calcmode="lin" valueType="num">
                                      <p:cBhvr>
                                        <p:cTn id="83" dur="500" fill="hold"/>
                                        <p:tgtEl>
                                          <p:spTgt spid="58"/>
                                        </p:tgtEl>
                                        <p:attrNameLst>
                                          <p:attrName>ppt_x</p:attrName>
                                        </p:attrNameLst>
                                      </p:cBhvr>
                                      <p:tavLst>
                                        <p:tav tm="0">
                                          <p:val>
                                            <p:strVal val="#ppt_x"/>
                                          </p:val>
                                        </p:tav>
                                        <p:tav tm="100000">
                                          <p:val>
                                            <p:strVal val="#ppt_x"/>
                                          </p:val>
                                        </p:tav>
                                      </p:tavLst>
                                    </p:anim>
                                    <p:anim calcmode="lin" valueType="num">
                                      <p:cBhvr>
                                        <p:cTn id="84" dur="500" fill="hold"/>
                                        <p:tgtEl>
                                          <p:spTgt spid="5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59"/>
                                        </p:tgtEl>
                                        <p:attrNameLst>
                                          <p:attrName>style.visibility</p:attrName>
                                        </p:attrNameLst>
                                      </p:cBhvr>
                                      <p:to>
                                        <p:strVal val="visible"/>
                                      </p:to>
                                    </p:set>
                                    <p:animEffect transition="in" filter="fade">
                                      <p:cBhvr>
                                        <p:cTn id="87" dur="500"/>
                                        <p:tgtEl>
                                          <p:spTgt spid="59"/>
                                        </p:tgtEl>
                                      </p:cBhvr>
                                    </p:animEffect>
                                    <p:anim calcmode="lin" valueType="num">
                                      <p:cBhvr>
                                        <p:cTn id="88" dur="500" fill="hold"/>
                                        <p:tgtEl>
                                          <p:spTgt spid="59"/>
                                        </p:tgtEl>
                                        <p:attrNameLst>
                                          <p:attrName>ppt_x</p:attrName>
                                        </p:attrNameLst>
                                      </p:cBhvr>
                                      <p:tavLst>
                                        <p:tav tm="0">
                                          <p:val>
                                            <p:strVal val="#ppt_x"/>
                                          </p:val>
                                        </p:tav>
                                        <p:tav tm="100000">
                                          <p:val>
                                            <p:strVal val="#ppt_x"/>
                                          </p:val>
                                        </p:tav>
                                      </p:tavLst>
                                    </p:anim>
                                    <p:anim calcmode="lin" valueType="num">
                                      <p:cBhvr>
                                        <p:cTn id="89" dur="500" fill="hold"/>
                                        <p:tgtEl>
                                          <p:spTgt spid="59"/>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500"/>
                                        <p:tgtEl>
                                          <p:spTgt spid="41"/>
                                        </p:tgtEl>
                                      </p:cBhvr>
                                    </p:animEffect>
                                    <p:anim calcmode="lin" valueType="num">
                                      <p:cBhvr>
                                        <p:cTn id="93" dur="500" fill="hold"/>
                                        <p:tgtEl>
                                          <p:spTgt spid="41"/>
                                        </p:tgtEl>
                                        <p:attrNameLst>
                                          <p:attrName>ppt_x</p:attrName>
                                        </p:attrNameLst>
                                      </p:cBhvr>
                                      <p:tavLst>
                                        <p:tav tm="0">
                                          <p:val>
                                            <p:strVal val="#ppt_x"/>
                                          </p:val>
                                        </p:tav>
                                        <p:tav tm="100000">
                                          <p:val>
                                            <p:strVal val="#ppt_x"/>
                                          </p:val>
                                        </p:tav>
                                      </p:tavLst>
                                    </p:anim>
                                    <p:anim calcmode="lin" valueType="num">
                                      <p:cBhvr>
                                        <p:cTn id="94" dur="500" fill="hold"/>
                                        <p:tgtEl>
                                          <p:spTgt spid="41"/>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500"/>
                                        <p:tgtEl>
                                          <p:spTgt spid="38"/>
                                        </p:tgtEl>
                                      </p:cBhvr>
                                    </p:animEffect>
                                    <p:anim calcmode="lin" valueType="num">
                                      <p:cBhvr>
                                        <p:cTn id="98" dur="500" fill="hold"/>
                                        <p:tgtEl>
                                          <p:spTgt spid="38"/>
                                        </p:tgtEl>
                                        <p:attrNameLst>
                                          <p:attrName>ppt_x</p:attrName>
                                        </p:attrNameLst>
                                      </p:cBhvr>
                                      <p:tavLst>
                                        <p:tav tm="0">
                                          <p:val>
                                            <p:strVal val="#ppt_x"/>
                                          </p:val>
                                        </p:tav>
                                        <p:tav tm="100000">
                                          <p:val>
                                            <p:strVal val="#ppt_x"/>
                                          </p:val>
                                        </p:tav>
                                      </p:tavLst>
                                    </p:anim>
                                    <p:anim calcmode="lin" valueType="num">
                                      <p:cBhvr>
                                        <p:cTn id="99"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45"/>
                                        </p:tgtEl>
                                        <p:attrNameLst>
                                          <p:attrName>style.visibility</p:attrName>
                                        </p:attrNameLst>
                                      </p:cBhvr>
                                      <p:to>
                                        <p:strVal val="visible"/>
                                      </p:to>
                                    </p:set>
                                    <p:anim calcmode="lin" valueType="num">
                                      <p:cBhvr>
                                        <p:cTn id="104" dur="250" fill="hold"/>
                                        <p:tgtEl>
                                          <p:spTgt spid="45"/>
                                        </p:tgtEl>
                                        <p:attrNameLst>
                                          <p:attrName>ppt_w</p:attrName>
                                        </p:attrNameLst>
                                      </p:cBhvr>
                                      <p:tavLst>
                                        <p:tav tm="0">
                                          <p:val>
                                            <p:fltVal val="0"/>
                                          </p:val>
                                        </p:tav>
                                        <p:tav tm="100000">
                                          <p:val>
                                            <p:strVal val="#ppt_w"/>
                                          </p:val>
                                        </p:tav>
                                      </p:tavLst>
                                    </p:anim>
                                    <p:anim calcmode="lin" valueType="num">
                                      <p:cBhvr>
                                        <p:cTn id="105" dur="250" fill="hold"/>
                                        <p:tgtEl>
                                          <p:spTgt spid="45"/>
                                        </p:tgtEl>
                                        <p:attrNameLst>
                                          <p:attrName>ppt_h</p:attrName>
                                        </p:attrNameLst>
                                      </p:cBhvr>
                                      <p:tavLst>
                                        <p:tav tm="0">
                                          <p:val>
                                            <p:fltVal val="0"/>
                                          </p:val>
                                        </p:tav>
                                        <p:tav tm="100000">
                                          <p:val>
                                            <p:strVal val="#ppt_h"/>
                                          </p:val>
                                        </p:tav>
                                      </p:tavLst>
                                    </p:anim>
                                    <p:animEffect transition="in" filter="fade">
                                      <p:cBhvr>
                                        <p:cTn id="106" dur="250"/>
                                        <p:tgtEl>
                                          <p:spTgt spid="45"/>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44"/>
                                        </p:tgtEl>
                                        <p:attrNameLst>
                                          <p:attrName>style.visibility</p:attrName>
                                        </p:attrNameLst>
                                      </p:cBhvr>
                                      <p:to>
                                        <p:strVal val="visible"/>
                                      </p:to>
                                    </p:set>
                                    <p:anim calcmode="lin" valueType="num">
                                      <p:cBhvr>
                                        <p:cTn id="109" dur="250" fill="hold"/>
                                        <p:tgtEl>
                                          <p:spTgt spid="44"/>
                                        </p:tgtEl>
                                        <p:attrNameLst>
                                          <p:attrName>ppt_w</p:attrName>
                                        </p:attrNameLst>
                                      </p:cBhvr>
                                      <p:tavLst>
                                        <p:tav tm="0">
                                          <p:val>
                                            <p:fltVal val="0"/>
                                          </p:val>
                                        </p:tav>
                                        <p:tav tm="100000">
                                          <p:val>
                                            <p:strVal val="#ppt_w"/>
                                          </p:val>
                                        </p:tav>
                                      </p:tavLst>
                                    </p:anim>
                                    <p:anim calcmode="lin" valueType="num">
                                      <p:cBhvr>
                                        <p:cTn id="110" dur="250" fill="hold"/>
                                        <p:tgtEl>
                                          <p:spTgt spid="44"/>
                                        </p:tgtEl>
                                        <p:attrNameLst>
                                          <p:attrName>ppt_h</p:attrName>
                                        </p:attrNameLst>
                                      </p:cBhvr>
                                      <p:tavLst>
                                        <p:tav tm="0">
                                          <p:val>
                                            <p:fltVal val="0"/>
                                          </p:val>
                                        </p:tav>
                                        <p:tav tm="100000">
                                          <p:val>
                                            <p:strVal val="#ppt_h"/>
                                          </p:val>
                                        </p:tav>
                                      </p:tavLst>
                                    </p:anim>
                                    <p:animEffect transition="in" filter="fade">
                                      <p:cBhvr>
                                        <p:cTn id="111" dur="2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Graphic spid="19" grpId="0">
        <p:bldAsOne/>
      </p:bldGraphic>
      <p:bldP spid="22" grpId="0"/>
      <p:bldP spid="42" grpId="0"/>
      <p:bldP spid="44" grpId="0"/>
      <p:bldP spid="45" grpId="0"/>
      <p:bldP spid="20" grpId="0"/>
      <p:bldP spid="36"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36CA3D6-D210-4822-5AE9-D569091E5A9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6F75DAC-3CD1-3376-3D91-B86021BEE663}"/>
              </a:ext>
            </a:extLst>
          </p:cNvPr>
          <p:cNvSpPr txBox="1"/>
          <p:nvPr/>
        </p:nvSpPr>
        <p:spPr>
          <a:xfrm>
            <a:off x="265186" y="82314"/>
            <a:ext cx="5830814"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どうしてゲーム業界を目指したか？</a:t>
            </a:r>
          </a:p>
        </p:txBody>
      </p:sp>
      <p:pic>
        <p:nvPicPr>
          <p:cNvPr id="2" name="Picture 2" descr="将来のことを考える人のイラスト（男性）">
            <a:extLst>
              <a:ext uri="{FF2B5EF4-FFF2-40B4-BE49-F238E27FC236}">
                <a16:creationId xmlns:a16="http://schemas.microsoft.com/office/drawing/2014/main" id="{F7D48232-E4E7-14C8-F3B4-F7D0418343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097" y="2380107"/>
            <a:ext cx="3810000" cy="3524250"/>
          </a:xfrm>
          <a:prstGeom prst="rect">
            <a:avLst/>
          </a:prstGeom>
          <a:noFill/>
          <a:extLst>
            <a:ext uri="{909E8E84-426E-40DD-AFC4-6F175D3DCCD1}">
              <a14:hiddenFill xmlns:a14="http://schemas.microsoft.com/office/drawing/2010/main">
                <a:solidFill>
                  <a:srgbClr val="FFFFFF"/>
                </a:solidFill>
              </a14:hiddenFill>
            </a:ext>
          </a:extLst>
        </p:spPr>
      </p:pic>
      <p:sp>
        <p:nvSpPr>
          <p:cNvPr id="10" name="思考の吹き出し: 雲形 9">
            <a:extLst>
              <a:ext uri="{FF2B5EF4-FFF2-40B4-BE49-F238E27FC236}">
                <a16:creationId xmlns:a16="http://schemas.microsoft.com/office/drawing/2014/main" id="{5A7CA5F5-B040-321F-F150-FCB28EAD51CD}"/>
              </a:ext>
            </a:extLst>
          </p:cNvPr>
          <p:cNvSpPr/>
          <p:nvPr/>
        </p:nvSpPr>
        <p:spPr>
          <a:xfrm>
            <a:off x="5364477" y="1099607"/>
            <a:ext cx="3483864" cy="201146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ゲーム作りたいな～</a:t>
            </a:r>
          </a:p>
        </p:txBody>
      </p:sp>
      <p:sp>
        <p:nvSpPr>
          <p:cNvPr id="11" name="思考の吹き出し: 雲形 10">
            <a:extLst>
              <a:ext uri="{FF2B5EF4-FFF2-40B4-BE49-F238E27FC236}">
                <a16:creationId xmlns:a16="http://schemas.microsoft.com/office/drawing/2014/main" id="{AB0267DA-BD96-8AB7-F05D-1EB9DBF2C209}"/>
              </a:ext>
            </a:extLst>
          </p:cNvPr>
          <p:cNvSpPr/>
          <p:nvPr/>
        </p:nvSpPr>
        <p:spPr>
          <a:xfrm>
            <a:off x="8305800" y="2749176"/>
            <a:ext cx="3587496" cy="2071303"/>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感動届けたいな～</a:t>
            </a:r>
          </a:p>
        </p:txBody>
      </p:sp>
      <p:sp>
        <p:nvSpPr>
          <p:cNvPr id="13" name="思考の吹き出し: 雲形 12">
            <a:extLst>
              <a:ext uri="{FF2B5EF4-FFF2-40B4-BE49-F238E27FC236}">
                <a16:creationId xmlns:a16="http://schemas.microsoft.com/office/drawing/2014/main" id="{F7726FA4-9F76-C3D0-5901-5E3B08C3B864}"/>
              </a:ext>
            </a:extLst>
          </p:cNvPr>
          <p:cNvSpPr/>
          <p:nvPr/>
        </p:nvSpPr>
        <p:spPr>
          <a:xfrm>
            <a:off x="5364477" y="4458578"/>
            <a:ext cx="3041899" cy="1756293"/>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なんか楽しそうだな～</a:t>
            </a:r>
          </a:p>
        </p:txBody>
      </p:sp>
    </p:spTree>
    <p:extLst>
      <p:ext uri="{BB962C8B-B14F-4D97-AF65-F5344CB8AC3E}">
        <p14:creationId xmlns:p14="http://schemas.microsoft.com/office/powerpoint/2010/main" val="368176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C81579C-5270-2268-943A-E0FFF55AD67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FB3A91D-AE8B-948F-F0D5-A170B2C37AF8}"/>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就活に向けて準備したこと</a:t>
            </a:r>
          </a:p>
        </p:txBody>
      </p:sp>
      <p:pic>
        <p:nvPicPr>
          <p:cNvPr id="8" name="図 7" descr="グラフィカル ユーザー インターフェイス が含まれている画像&#10;&#10;AI 生成コンテンツは誤りを含む可能性があります。">
            <a:extLst>
              <a:ext uri="{FF2B5EF4-FFF2-40B4-BE49-F238E27FC236}">
                <a16:creationId xmlns:a16="http://schemas.microsoft.com/office/drawing/2014/main" id="{89369785-E43E-2C55-4182-86345BDD1B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4891" y="1048242"/>
            <a:ext cx="3324225" cy="2667691"/>
          </a:xfrm>
          <a:prstGeom prst="rect">
            <a:avLst/>
          </a:prstGeom>
        </p:spPr>
      </p:pic>
      <p:pic>
        <p:nvPicPr>
          <p:cNvPr id="14" name="図 13" descr="食品, 部屋 が含まれている画像&#10;&#10;AI 生成コンテンツは誤りを含む可能性があります。">
            <a:extLst>
              <a:ext uri="{FF2B5EF4-FFF2-40B4-BE49-F238E27FC236}">
                <a16:creationId xmlns:a16="http://schemas.microsoft.com/office/drawing/2014/main" id="{A213B2A8-5F19-A1F0-0C11-8BEFB5F9B8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97269" y="3890246"/>
            <a:ext cx="2795788" cy="2530188"/>
          </a:xfrm>
          <a:prstGeom prst="rect">
            <a:avLst/>
          </a:prstGeom>
        </p:spPr>
      </p:pic>
      <p:pic>
        <p:nvPicPr>
          <p:cNvPr id="4098" name="Picture 2" descr="履歴書を書いている人のイラスト（女性）">
            <a:extLst>
              <a:ext uri="{FF2B5EF4-FFF2-40B4-BE49-F238E27FC236}">
                <a16:creationId xmlns:a16="http://schemas.microsoft.com/office/drawing/2014/main" id="{80D53DED-A315-D739-D7D4-25B306F071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2886" y="873932"/>
            <a:ext cx="2782549" cy="3016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227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anim calcmode="lin" valueType="num">
                                      <p:cBhvr>
                                        <p:cTn id="15" dur="500" fill="hold"/>
                                        <p:tgtEl>
                                          <p:spTgt spid="14"/>
                                        </p:tgtEl>
                                        <p:attrNameLst>
                                          <p:attrName>ppt_x</p:attrName>
                                        </p:attrNameLst>
                                      </p:cBhvr>
                                      <p:tavLst>
                                        <p:tav tm="0">
                                          <p:val>
                                            <p:strVal val="#ppt_x"/>
                                          </p:val>
                                        </p:tav>
                                        <p:tav tm="100000">
                                          <p:val>
                                            <p:strVal val="#ppt_x"/>
                                          </p:val>
                                        </p:tav>
                                      </p:tavLst>
                                    </p:anim>
                                    <p:anim calcmode="lin" valueType="num">
                                      <p:cBhvr>
                                        <p:cTn id="16"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098"/>
                                        </p:tgtEl>
                                        <p:attrNameLst>
                                          <p:attrName>style.visibility</p:attrName>
                                        </p:attrNameLst>
                                      </p:cBhvr>
                                      <p:to>
                                        <p:strVal val="visible"/>
                                      </p:to>
                                    </p:set>
                                    <p:animEffect transition="in" filter="fade">
                                      <p:cBhvr>
                                        <p:cTn id="21" dur="1000"/>
                                        <p:tgtEl>
                                          <p:spTgt spid="4098"/>
                                        </p:tgtEl>
                                      </p:cBhvr>
                                    </p:animEffect>
                                    <p:anim calcmode="lin" valueType="num">
                                      <p:cBhvr>
                                        <p:cTn id="22" dur="1000" fill="hold"/>
                                        <p:tgtEl>
                                          <p:spTgt spid="4098"/>
                                        </p:tgtEl>
                                        <p:attrNameLst>
                                          <p:attrName>ppt_x</p:attrName>
                                        </p:attrNameLst>
                                      </p:cBhvr>
                                      <p:tavLst>
                                        <p:tav tm="0">
                                          <p:val>
                                            <p:strVal val="#ppt_x"/>
                                          </p:val>
                                        </p:tav>
                                        <p:tav tm="100000">
                                          <p:val>
                                            <p:strVal val="#ppt_x"/>
                                          </p:val>
                                        </p:tav>
                                      </p:tavLst>
                                    </p:anim>
                                    <p:anim calcmode="lin" valueType="num">
                                      <p:cBhvr>
                                        <p:cTn id="23"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4D51846-8597-EE41-894D-5FD352169CF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9222DEC-14D7-9097-ACF9-7B7A8CD09A21}"/>
              </a:ext>
            </a:extLst>
          </p:cNvPr>
          <p:cNvSpPr txBox="1"/>
          <p:nvPr/>
        </p:nvSpPr>
        <p:spPr>
          <a:xfrm>
            <a:off x="265185" y="82314"/>
            <a:ext cx="8216341"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今のうちからできること</a:t>
            </a:r>
          </a:p>
        </p:txBody>
      </p:sp>
      <p:pic>
        <p:nvPicPr>
          <p:cNvPr id="3074" name="Picture 2" descr="頭を抱えて悩んでいる人のイラスト（男性）">
            <a:extLst>
              <a:ext uri="{FF2B5EF4-FFF2-40B4-BE49-F238E27FC236}">
                <a16:creationId xmlns:a16="http://schemas.microsoft.com/office/drawing/2014/main" id="{73E80221-6ECF-1CD4-90EB-3B06288F28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8551" y="2965686"/>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思考の吹き出し: 雲形 2">
            <a:extLst>
              <a:ext uri="{FF2B5EF4-FFF2-40B4-BE49-F238E27FC236}">
                <a16:creationId xmlns:a16="http://schemas.microsoft.com/office/drawing/2014/main" id="{D783DB77-6034-45EF-B026-CEDD8A23D438}"/>
              </a:ext>
            </a:extLst>
          </p:cNvPr>
          <p:cNvSpPr/>
          <p:nvPr/>
        </p:nvSpPr>
        <p:spPr>
          <a:xfrm>
            <a:off x="8578457" y="1488906"/>
            <a:ext cx="3483864" cy="201146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何をすればいいか</a:t>
            </a:r>
            <a:endParaRPr kumimoji="1" lang="en-US" altLang="ja-JP" dirty="0"/>
          </a:p>
          <a:p>
            <a:pPr algn="ctr"/>
            <a:r>
              <a:rPr kumimoji="1" lang="ja-JP" altLang="en-US" dirty="0"/>
              <a:t>分からない！！</a:t>
            </a:r>
          </a:p>
        </p:txBody>
      </p:sp>
      <p:pic>
        <p:nvPicPr>
          <p:cNvPr id="3076" name="Picture 4" descr="ガッツポーズのイラスト（会社員）">
            <a:extLst>
              <a:ext uri="{FF2B5EF4-FFF2-40B4-BE49-F238E27FC236}">
                <a16:creationId xmlns:a16="http://schemas.microsoft.com/office/drawing/2014/main" id="{B7D3B2B0-7532-373F-F387-75678BD8B1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668" y="1488906"/>
            <a:ext cx="4771930" cy="466456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グループ化 9">
            <a:extLst>
              <a:ext uri="{FF2B5EF4-FFF2-40B4-BE49-F238E27FC236}">
                <a16:creationId xmlns:a16="http://schemas.microsoft.com/office/drawing/2014/main" id="{2B62682E-6D70-321A-4379-5762DCFE5B67}"/>
              </a:ext>
            </a:extLst>
          </p:cNvPr>
          <p:cNvGrpSpPr/>
          <p:nvPr/>
        </p:nvGrpSpPr>
        <p:grpSpPr>
          <a:xfrm rot="1985180">
            <a:off x="4433639" y="911000"/>
            <a:ext cx="3737460" cy="2361479"/>
            <a:chOff x="1856175" y="3975533"/>
            <a:chExt cx="3737460" cy="2361479"/>
          </a:xfrm>
        </p:grpSpPr>
        <p:sp>
          <p:nvSpPr>
            <p:cNvPr id="11" name="爆発: 14 pt 10">
              <a:extLst>
                <a:ext uri="{FF2B5EF4-FFF2-40B4-BE49-F238E27FC236}">
                  <a16:creationId xmlns:a16="http://schemas.microsoft.com/office/drawing/2014/main" id="{79173D34-2BBA-FC99-5E28-C353D2C97807}"/>
                </a:ext>
              </a:extLst>
            </p:cNvPr>
            <p:cNvSpPr/>
            <p:nvPr/>
          </p:nvSpPr>
          <p:spPr>
            <a:xfrm>
              <a:off x="1856175" y="3975533"/>
              <a:ext cx="3737460" cy="2361479"/>
            </a:xfrm>
            <a:prstGeom prst="irregularSeal2">
              <a:avLst/>
            </a:prstGeom>
            <a:solidFill>
              <a:schemeClr val="accent4"/>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6B44D64F-8938-BE7F-8F4E-B533E41FC51D}"/>
                </a:ext>
              </a:extLst>
            </p:cNvPr>
            <p:cNvSpPr txBox="1"/>
            <p:nvPr/>
          </p:nvSpPr>
          <p:spPr>
            <a:xfrm rot="20366606">
              <a:off x="2310271" y="4849298"/>
              <a:ext cx="2893220" cy="712104"/>
            </a:xfrm>
            <a:prstGeom prst="rect">
              <a:avLst/>
            </a:prstGeom>
            <a:noFill/>
          </p:spPr>
          <p:txBody>
            <a:bodyPr wrap="square" rtlCol="0">
              <a:spAutoFit/>
            </a:bodyPr>
            <a:lstStyle/>
            <a:p>
              <a:r>
                <a:rPr kumimoji="1" lang="ja-JP" altLang="en-US" sz="4000" b="1" dirty="0">
                  <a:solidFill>
                    <a:schemeClr val="bg1"/>
                  </a:solidFill>
                  <a:effectLst>
                    <a:outerShdw blurRad="38100" dist="38100" dir="2700000" algn="tl">
                      <a:srgbClr val="000000">
                        <a:alpha val="43137"/>
                      </a:srgbClr>
                    </a:outerShdw>
                  </a:effectLst>
                </a:rPr>
                <a:t>頑張るぞ！</a:t>
              </a:r>
            </a:p>
          </p:txBody>
        </p:sp>
      </p:grpSp>
    </p:spTree>
    <p:extLst>
      <p:ext uri="{BB962C8B-B14F-4D97-AF65-F5344CB8AC3E}">
        <p14:creationId xmlns:p14="http://schemas.microsoft.com/office/powerpoint/2010/main" val="31856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10"/>
                                        </p:tgtEl>
                                        <p:attrNameLst>
                                          <p:attrName>r</p:attrName>
                                        </p:attrNameLst>
                                      </p:cBhvr>
                                    </p:animRot>
                                    <p:animRot by="-240000">
                                      <p:cBhvr>
                                        <p:cTn id="7" dur="200" fill="hold">
                                          <p:stCondLst>
                                            <p:cond delay="200"/>
                                          </p:stCondLst>
                                        </p:cTn>
                                        <p:tgtEl>
                                          <p:spTgt spid="10"/>
                                        </p:tgtEl>
                                        <p:attrNameLst>
                                          <p:attrName>r</p:attrName>
                                        </p:attrNameLst>
                                      </p:cBhvr>
                                    </p:animRot>
                                    <p:animRot by="240000">
                                      <p:cBhvr>
                                        <p:cTn id="8" dur="200" fill="hold">
                                          <p:stCondLst>
                                            <p:cond delay="400"/>
                                          </p:stCondLst>
                                        </p:cTn>
                                        <p:tgtEl>
                                          <p:spTgt spid="10"/>
                                        </p:tgtEl>
                                        <p:attrNameLst>
                                          <p:attrName>r</p:attrName>
                                        </p:attrNameLst>
                                      </p:cBhvr>
                                    </p:animRot>
                                    <p:animRot by="-240000">
                                      <p:cBhvr>
                                        <p:cTn id="9" dur="200" fill="hold">
                                          <p:stCondLst>
                                            <p:cond delay="600"/>
                                          </p:stCondLst>
                                        </p:cTn>
                                        <p:tgtEl>
                                          <p:spTgt spid="10"/>
                                        </p:tgtEl>
                                        <p:attrNameLst>
                                          <p:attrName>r</p:attrName>
                                        </p:attrNameLst>
                                      </p:cBhvr>
                                    </p:animRot>
                                    <p:animRot by="120000">
                                      <p:cBhvr>
                                        <p:cTn id="10" dur="200" fill="hold">
                                          <p:stCondLst>
                                            <p:cond delay="800"/>
                                          </p:stCondLst>
                                        </p:cTn>
                                        <p:tgtEl>
                                          <p:spTgt spid="10"/>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randombar(horizontal)">
                                      <p:cBhvr>
                                        <p:cTn id="15" dur="500"/>
                                        <p:tgtEl>
                                          <p:spTgt spid="3074"/>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randombar(horizontal)">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29E46F0-B2FB-4C42-595F-564503AC749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8FBB22E-1A3C-DEB3-17DC-8050C0D8D972}"/>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学校選びが大切</a:t>
            </a:r>
          </a:p>
        </p:txBody>
      </p:sp>
      <p:graphicFrame>
        <p:nvGraphicFramePr>
          <p:cNvPr id="8" name="グラフ 7">
            <a:extLst>
              <a:ext uri="{FF2B5EF4-FFF2-40B4-BE49-F238E27FC236}">
                <a16:creationId xmlns:a16="http://schemas.microsoft.com/office/drawing/2014/main" id="{3D0BD308-AA17-1B0F-4F52-CAA5CF5BCB8C}"/>
              </a:ext>
            </a:extLst>
          </p:cNvPr>
          <p:cNvGraphicFramePr/>
          <p:nvPr>
            <p:extLst>
              <p:ext uri="{D42A27DB-BD31-4B8C-83A1-F6EECF244321}">
                <p14:modId xmlns:p14="http://schemas.microsoft.com/office/powerpoint/2010/main" val="277337697"/>
              </p:ext>
            </p:extLst>
          </p:nvPr>
        </p:nvGraphicFramePr>
        <p:xfrm>
          <a:off x="5244767" y="1355271"/>
          <a:ext cx="6732570" cy="4809542"/>
        </p:xfrm>
        <a:graphic>
          <a:graphicData uri="http://schemas.openxmlformats.org/drawingml/2006/chart">
            <c:chart xmlns:c="http://schemas.openxmlformats.org/drawingml/2006/chart" xmlns:r="http://schemas.openxmlformats.org/officeDocument/2006/relationships" r:id="rId4"/>
          </a:graphicData>
        </a:graphic>
      </p:graphicFrame>
      <p:sp>
        <p:nvSpPr>
          <p:cNvPr id="9" name="テキスト ボックス 8">
            <a:extLst>
              <a:ext uri="{FF2B5EF4-FFF2-40B4-BE49-F238E27FC236}">
                <a16:creationId xmlns:a16="http://schemas.microsoft.com/office/drawing/2014/main" id="{3AAEFEEE-0931-5C3E-43EE-DC436B8CD82C}"/>
              </a:ext>
            </a:extLst>
          </p:cNvPr>
          <p:cNvSpPr txBox="1"/>
          <p:nvPr/>
        </p:nvSpPr>
        <p:spPr>
          <a:xfrm rot="20940389">
            <a:off x="5718355" y="2233059"/>
            <a:ext cx="5828027" cy="3073021"/>
          </a:xfrm>
          <a:prstGeom prst="rect">
            <a:avLst/>
          </a:prstGeom>
          <a:noFill/>
        </p:spPr>
        <p:txBody>
          <a:bodyPr wrap="square" rtlCol="0">
            <a:spAutoFit/>
          </a:bodyPr>
          <a:lstStyle/>
          <a:p>
            <a:pPr>
              <a:lnSpc>
                <a:spcPts val="11200"/>
              </a:lnSpc>
            </a:pPr>
            <a:r>
              <a:rPr kumimoji="1" lang="ja-JP" altLang="en-US" sz="6000" b="1" dirty="0">
                <a:ln w="19050">
                  <a:solidFill>
                    <a:schemeClr val="tx1"/>
                  </a:solidFill>
                </a:ln>
                <a:solidFill>
                  <a:srgbClr val="FF0000"/>
                </a:solidFill>
              </a:rPr>
              <a:t>就職率</a:t>
            </a:r>
            <a:r>
              <a:rPr kumimoji="1" lang="en-US" altLang="ja-JP" sz="13800" b="1" dirty="0">
                <a:ln w="19050">
                  <a:solidFill>
                    <a:schemeClr val="tx1"/>
                  </a:solidFill>
                </a:ln>
                <a:solidFill>
                  <a:srgbClr val="FF0000"/>
                </a:solidFill>
              </a:rPr>
              <a:t>99.6%!!</a:t>
            </a:r>
          </a:p>
        </p:txBody>
      </p:sp>
      <p:pic>
        <p:nvPicPr>
          <p:cNvPr id="1028" name="Picture 4" descr="やる気に燃える人のイラスト（男性）">
            <a:extLst>
              <a:ext uri="{FF2B5EF4-FFF2-40B4-BE49-F238E27FC236}">
                <a16:creationId xmlns:a16="http://schemas.microsoft.com/office/drawing/2014/main" id="{BD5F5563-9CE3-3EAE-E90C-C9D5072884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4231" y="2965154"/>
            <a:ext cx="2833336" cy="31050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上を目指す人のイラスト（男性）">
            <a:extLst>
              <a:ext uri="{FF2B5EF4-FFF2-40B4-BE49-F238E27FC236}">
                <a16:creationId xmlns:a16="http://schemas.microsoft.com/office/drawing/2014/main" id="{6DF7C645-53A0-6B55-15D1-FF4179DBD1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7639" y="2195713"/>
            <a:ext cx="2007118" cy="3345197"/>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84446EBC-EB5D-8854-4704-B4F6D5E48683}"/>
              </a:ext>
            </a:extLst>
          </p:cNvPr>
          <p:cNvSpPr txBox="1"/>
          <p:nvPr/>
        </p:nvSpPr>
        <p:spPr>
          <a:xfrm>
            <a:off x="1155295" y="1426272"/>
            <a:ext cx="3385911" cy="769441"/>
          </a:xfrm>
          <a:prstGeom prst="rect">
            <a:avLst/>
          </a:prstGeom>
          <a:noFill/>
        </p:spPr>
        <p:txBody>
          <a:bodyPr wrap="square" rtlCol="0">
            <a:spAutoFit/>
          </a:bodyPr>
          <a:lstStyle/>
          <a:p>
            <a:r>
              <a:rPr kumimoji="1" lang="ja-JP" altLang="en-US" sz="4400" b="1" dirty="0">
                <a:ln>
                  <a:solidFill>
                    <a:schemeClr val="tx1"/>
                  </a:solidFill>
                </a:ln>
                <a:solidFill>
                  <a:srgbClr val="FF0000"/>
                </a:solidFill>
                <a:effectLst>
                  <a:outerShdw dist="25400" dir="2700000" algn="t" rotWithShape="0">
                    <a:prstClr val="black">
                      <a:alpha val="70000"/>
                    </a:prstClr>
                  </a:outerShdw>
                </a:effectLst>
              </a:rPr>
              <a:t>ゲーム業界</a:t>
            </a:r>
          </a:p>
        </p:txBody>
      </p:sp>
      <p:pic>
        <p:nvPicPr>
          <p:cNvPr id="6" name="図 5" descr="時計 が含まれている画像&#10;&#10;AI 生成コンテンツは誤りを含む可能性があります。">
            <a:extLst>
              <a:ext uri="{FF2B5EF4-FFF2-40B4-BE49-F238E27FC236}">
                <a16:creationId xmlns:a16="http://schemas.microsoft.com/office/drawing/2014/main" id="{A165418A-35A4-E49E-1029-99EA4019A1A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6996" y="2195713"/>
            <a:ext cx="1927082" cy="4736893"/>
          </a:xfrm>
          <a:prstGeom prst="rect">
            <a:avLst/>
          </a:prstGeom>
        </p:spPr>
      </p:pic>
    </p:spTree>
    <p:extLst>
      <p:ext uri="{BB962C8B-B14F-4D97-AF65-F5344CB8AC3E}">
        <p14:creationId xmlns:p14="http://schemas.microsoft.com/office/powerpoint/2010/main" val="326654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p:cTn id="15" dur="500" fill="hold"/>
                                        <p:tgtEl>
                                          <p:spTgt spid="6"/>
                                        </p:tgtEl>
                                        <p:attrNameLst>
                                          <p:attrName>ppt_x</p:attrName>
                                        </p:attrNameLst>
                                      </p:cBhvr>
                                      <p:tavLst>
                                        <p:tav tm="0">
                                          <p:val>
                                            <p:strVal val="#ppt_x"/>
                                          </p:val>
                                        </p:tav>
                                        <p:tav tm="100000">
                                          <p:val>
                                            <p:strVal val="#ppt_x"/>
                                          </p:val>
                                        </p:tav>
                                      </p:tavLst>
                                    </p:anim>
                                    <p:anim calcmode="lin" valueType="num">
                                      <p:cBhvr>
                                        <p:cTn id="1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30"/>
                                        </p:tgtEl>
                                        <p:attrNameLst>
                                          <p:attrName>style.visibility</p:attrName>
                                        </p:attrNameLst>
                                      </p:cBhvr>
                                      <p:to>
                                        <p:strVal val="visible"/>
                                      </p:to>
                                    </p:set>
                                    <p:animEffect transition="in" filter="fade">
                                      <p:cBhvr>
                                        <p:cTn id="21" dur="500"/>
                                        <p:tgtEl>
                                          <p:spTgt spid="1030"/>
                                        </p:tgtEl>
                                      </p:cBhvr>
                                    </p:animEffect>
                                    <p:anim calcmode="lin" valueType="num">
                                      <p:cBhvr>
                                        <p:cTn id="22" dur="500" fill="hold"/>
                                        <p:tgtEl>
                                          <p:spTgt spid="1030"/>
                                        </p:tgtEl>
                                        <p:attrNameLst>
                                          <p:attrName>ppt_x</p:attrName>
                                        </p:attrNameLst>
                                      </p:cBhvr>
                                      <p:tavLst>
                                        <p:tav tm="0">
                                          <p:val>
                                            <p:strVal val="#ppt_x"/>
                                          </p:val>
                                        </p:tav>
                                        <p:tav tm="100000">
                                          <p:val>
                                            <p:strVal val="#ppt_x"/>
                                          </p:val>
                                        </p:tav>
                                      </p:tavLst>
                                    </p:anim>
                                    <p:anim calcmode="lin" valueType="num">
                                      <p:cBhvr>
                                        <p:cTn id="23" dur="500" fill="hold"/>
                                        <p:tgtEl>
                                          <p:spTgt spid="103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28"/>
                                        </p:tgtEl>
                                        <p:attrNameLst>
                                          <p:attrName>style.visibility</p:attrName>
                                        </p:attrNameLst>
                                      </p:cBhvr>
                                      <p:to>
                                        <p:strVal val="visible"/>
                                      </p:to>
                                    </p:set>
                                    <p:animEffect transition="in" filter="fade">
                                      <p:cBhvr>
                                        <p:cTn id="28" dur="500"/>
                                        <p:tgtEl>
                                          <p:spTgt spid="1028"/>
                                        </p:tgtEl>
                                      </p:cBhvr>
                                    </p:animEffect>
                                    <p:anim calcmode="lin" valueType="num">
                                      <p:cBhvr>
                                        <p:cTn id="29" dur="500" fill="hold"/>
                                        <p:tgtEl>
                                          <p:spTgt spid="1028"/>
                                        </p:tgtEl>
                                        <p:attrNameLst>
                                          <p:attrName>ppt_x</p:attrName>
                                        </p:attrNameLst>
                                      </p:cBhvr>
                                      <p:tavLst>
                                        <p:tav tm="0">
                                          <p:val>
                                            <p:strVal val="#ppt_x"/>
                                          </p:val>
                                        </p:tav>
                                        <p:tav tm="100000">
                                          <p:val>
                                            <p:strVal val="#ppt_x"/>
                                          </p:val>
                                        </p:tav>
                                      </p:tavLst>
                                    </p:anim>
                                    <p:anim calcmode="lin" valueType="num">
                                      <p:cBhvr>
                                        <p:cTn id="30" dur="500" fill="hold"/>
                                        <p:tgtEl>
                                          <p:spTgt spid="1028"/>
                                        </p:tgtEl>
                                        <p:attrNameLst>
                                          <p:attrName>ppt_y</p:attrName>
                                        </p:attrNameLst>
                                      </p:cBhvr>
                                      <p:tavLst>
                                        <p:tav tm="0">
                                          <p:val>
                                            <p:strVal val="#ppt_y+.1"/>
                                          </p:val>
                                        </p:tav>
                                        <p:tav tm="100000">
                                          <p:val>
                                            <p:strVal val="#ppt_y"/>
                                          </p:val>
                                        </p:tav>
                                      </p:tavLst>
                                    </p:anim>
                                  </p:childTnLst>
                                </p:cTn>
                              </p:par>
                              <p:par>
                                <p:cTn id="31" presetID="1" presetClass="exit" presetSubtype="0" fill="hold" nodeType="withEffect">
                                  <p:stCondLst>
                                    <p:cond delay="0"/>
                                  </p:stCondLst>
                                  <p:childTnLst>
                                    <p:set>
                                      <p:cBhvr>
                                        <p:cTn id="32" dur="1" fill="hold">
                                          <p:stCondLst>
                                            <p:cond delay="0"/>
                                          </p:stCondLst>
                                        </p:cTn>
                                        <p:tgtEl>
                                          <p:spTgt spid="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250" fill="hold"/>
                                        <p:tgtEl>
                                          <p:spTgt spid="8"/>
                                        </p:tgtEl>
                                        <p:attrNameLst>
                                          <p:attrName>ppt_w</p:attrName>
                                        </p:attrNameLst>
                                      </p:cBhvr>
                                      <p:tavLst>
                                        <p:tav tm="0">
                                          <p:val>
                                            <p:fltVal val="0"/>
                                          </p:val>
                                        </p:tav>
                                        <p:tav tm="100000">
                                          <p:val>
                                            <p:strVal val="#ppt_w"/>
                                          </p:val>
                                        </p:tav>
                                      </p:tavLst>
                                    </p:anim>
                                    <p:anim calcmode="lin" valueType="num">
                                      <p:cBhvr>
                                        <p:cTn id="38" dur="250" fill="hold"/>
                                        <p:tgtEl>
                                          <p:spTgt spid="8"/>
                                        </p:tgtEl>
                                        <p:attrNameLst>
                                          <p:attrName>ppt_h</p:attrName>
                                        </p:attrNameLst>
                                      </p:cBhvr>
                                      <p:tavLst>
                                        <p:tav tm="0">
                                          <p:val>
                                            <p:fltVal val="0"/>
                                          </p:val>
                                        </p:tav>
                                        <p:tav tm="100000">
                                          <p:val>
                                            <p:strVal val="#ppt_h"/>
                                          </p:val>
                                        </p:tav>
                                      </p:tavLst>
                                    </p:anim>
                                    <p:animEffect transition="in" filter="fade">
                                      <p:cBhvr>
                                        <p:cTn id="39" dur="250"/>
                                        <p:tgtEl>
                                          <p:spTgt spid="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250" fill="hold"/>
                                        <p:tgtEl>
                                          <p:spTgt spid="9"/>
                                        </p:tgtEl>
                                        <p:attrNameLst>
                                          <p:attrName>ppt_w</p:attrName>
                                        </p:attrNameLst>
                                      </p:cBhvr>
                                      <p:tavLst>
                                        <p:tav tm="0">
                                          <p:val>
                                            <p:fltVal val="0"/>
                                          </p:val>
                                        </p:tav>
                                        <p:tav tm="100000">
                                          <p:val>
                                            <p:strVal val="#ppt_w"/>
                                          </p:val>
                                        </p:tav>
                                      </p:tavLst>
                                    </p:anim>
                                    <p:anim calcmode="lin" valueType="num">
                                      <p:cBhvr>
                                        <p:cTn id="43" dur="250" fill="hold"/>
                                        <p:tgtEl>
                                          <p:spTgt spid="9"/>
                                        </p:tgtEl>
                                        <p:attrNameLst>
                                          <p:attrName>ppt_h</p:attrName>
                                        </p:attrNameLst>
                                      </p:cBhvr>
                                      <p:tavLst>
                                        <p:tav tm="0">
                                          <p:val>
                                            <p:fltVal val="0"/>
                                          </p:val>
                                        </p:tav>
                                        <p:tav tm="100000">
                                          <p:val>
                                            <p:strVal val="#ppt_h"/>
                                          </p:val>
                                        </p:tav>
                                      </p:tavLst>
                                    </p:anim>
                                    <p:animEffect transition="in" filter="fade">
                                      <p:cBhvr>
                                        <p:cTn id="44"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P spid="9"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847CB30-198C-502B-3F7B-2055C8139F8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2789E44-5529-163E-9196-F7C84D333FF1}"/>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質疑応答</a:t>
            </a:r>
          </a:p>
        </p:txBody>
      </p:sp>
      <p:sp>
        <p:nvSpPr>
          <p:cNvPr id="2" name="テキスト ボックス 1">
            <a:extLst>
              <a:ext uri="{FF2B5EF4-FFF2-40B4-BE49-F238E27FC236}">
                <a16:creationId xmlns:a16="http://schemas.microsoft.com/office/drawing/2014/main" id="{45E4FDCC-D00D-58C5-6509-10D95C9BD85D}"/>
              </a:ext>
            </a:extLst>
          </p:cNvPr>
          <p:cNvSpPr txBox="1"/>
          <p:nvPr/>
        </p:nvSpPr>
        <p:spPr>
          <a:xfrm>
            <a:off x="0" y="1952625"/>
            <a:ext cx="12444432" cy="3770263"/>
          </a:xfrm>
          <a:prstGeom prst="rect">
            <a:avLst/>
          </a:prstGeom>
          <a:noFill/>
        </p:spPr>
        <p:txBody>
          <a:bodyPr wrap="none" rtlCol="0">
            <a:spAutoFit/>
          </a:bodyPr>
          <a:lstStyle/>
          <a:p>
            <a:r>
              <a:rPr kumimoji="1" lang="ja-JP" altLang="en-US" sz="23900" b="1" dirty="0">
                <a:ln w="50800">
                  <a:solidFill>
                    <a:schemeClr val="tx1"/>
                  </a:solidFill>
                </a:ln>
                <a:solidFill>
                  <a:srgbClr val="FF0000"/>
                </a:solidFill>
              </a:rPr>
              <a:t>質疑応答</a:t>
            </a:r>
          </a:p>
        </p:txBody>
      </p:sp>
    </p:spTree>
    <p:extLst>
      <p:ext uri="{BB962C8B-B14F-4D97-AF65-F5344CB8AC3E}">
        <p14:creationId xmlns:p14="http://schemas.microsoft.com/office/powerpoint/2010/main" val="465846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25CEA1C-E982-7985-16E9-FEDFF452F38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1AA3368-DB1F-30D9-5294-C04A59C45D03}"/>
              </a:ext>
            </a:extLst>
          </p:cNvPr>
          <p:cNvSpPr txBox="1"/>
          <p:nvPr/>
        </p:nvSpPr>
        <p:spPr>
          <a:xfrm>
            <a:off x="265186" y="82314"/>
            <a:ext cx="5240638" cy="523220"/>
          </a:xfrm>
          <a:prstGeom prst="rect">
            <a:avLst/>
          </a:prstGeom>
          <a:noFill/>
        </p:spPr>
        <p:txBody>
          <a:bodyPr wrap="square" rtlCol="0">
            <a:spAutoFit/>
          </a:bodyPr>
          <a:lstStyle/>
          <a:p>
            <a:r>
              <a:rPr lang="ja-JP" altLang="en-US" sz="2800" b="1" dirty="0">
                <a:solidFill>
                  <a:schemeClr val="bg1"/>
                </a:solidFill>
                <a:latin typeface="BIZ UDPゴシック" panose="020B0400000000000000" pitchFamily="50" charset="-128"/>
                <a:ea typeface="BIZ UDPゴシック" panose="020B0400000000000000" pitchFamily="50" charset="-128"/>
              </a:rPr>
              <a:t>学校選びが大切</a:t>
            </a:r>
          </a:p>
        </p:txBody>
      </p:sp>
      <p:graphicFrame>
        <p:nvGraphicFramePr>
          <p:cNvPr id="5" name="グラフ 4">
            <a:extLst>
              <a:ext uri="{FF2B5EF4-FFF2-40B4-BE49-F238E27FC236}">
                <a16:creationId xmlns:a16="http://schemas.microsoft.com/office/drawing/2014/main" id="{7F0CC6C1-E92C-938A-9F38-2136A88BEF3A}"/>
              </a:ext>
            </a:extLst>
          </p:cNvPr>
          <p:cNvGraphicFramePr/>
          <p:nvPr>
            <p:extLst>
              <p:ext uri="{D42A27DB-BD31-4B8C-83A1-F6EECF244321}">
                <p14:modId xmlns:p14="http://schemas.microsoft.com/office/powerpoint/2010/main" val="2444795799"/>
              </p:ext>
            </p:extLst>
          </p:nvPr>
        </p:nvGraphicFramePr>
        <p:xfrm>
          <a:off x="265186" y="1552962"/>
          <a:ext cx="5510462" cy="4073397"/>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DF763C69-C4B1-F890-022C-B0E23D24E2BF}"/>
              </a:ext>
            </a:extLst>
          </p:cNvPr>
          <p:cNvSpPr txBox="1"/>
          <p:nvPr/>
        </p:nvSpPr>
        <p:spPr>
          <a:xfrm>
            <a:off x="5279634" y="2620164"/>
            <a:ext cx="7344985" cy="1938992"/>
          </a:xfrm>
          <a:prstGeom prst="rect">
            <a:avLst/>
          </a:prstGeom>
          <a:noFill/>
        </p:spPr>
        <p:txBody>
          <a:bodyPr wrap="square" rtlCol="0">
            <a:spAutoFit/>
          </a:bodyPr>
          <a:lstStyle/>
          <a:p>
            <a:r>
              <a:rPr kumimoji="1" lang="ja-JP" altLang="en-US" sz="6000" b="1" dirty="0">
                <a:ln w="19050">
                  <a:solidFill>
                    <a:schemeClr val="tx1"/>
                  </a:solidFill>
                </a:ln>
                <a:solidFill>
                  <a:srgbClr val="FF0000"/>
                </a:solidFill>
              </a:rPr>
              <a:t>ゲーム業界内定率</a:t>
            </a:r>
            <a:r>
              <a:rPr kumimoji="1" lang="en-US" altLang="ja-JP" sz="6000" b="1" dirty="0">
                <a:ln w="19050">
                  <a:solidFill>
                    <a:schemeClr val="tx1"/>
                  </a:solidFill>
                </a:ln>
                <a:solidFill>
                  <a:srgbClr val="FF0000"/>
                </a:solidFill>
              </a:rPr>
              <a:t>70</a:t>
            </a:r>
            <a:r>
              <a:rPr kumimoji="1" lang="ja-JP" altLang="en-US" sz="6000" b="1" dirty="0">
                <a:ln w="19050">
                  <a:solidFill>
                    <a:schemeClr val="tx1"/>
                  </a:solidFill>
                </a:ln>
                <a:solidFill>
                  <a:srgbClr val="FF0000"/>
                </a:solidFill>
              </a:rPr>
              <a:t>％以上</a:t>
            </a:r>
            <a:r>
              <a:rPr kumimoji="1" lang="en-US" altLang="ja-JP" sz="6000" b="1" dirty="0">
                <a:ln w="19050">
                  <a:solidFill>
                    <a:schemeClr val="tx1"/>
                  </a:solidFill>
                </a:ln>
                <a:solidFill>
                  <a:srgbClr val="FF0000"/>
                </a:solidFill>
              </a:rPr>
              <a:t>!!</a:t>
            </a:r>
            <a:endParaRPr kumimoji="1" lang="ja-JP" altLang="en-US" sz="6000" b="1" dirty="0">
              <a:ln w="19050">
                <a:solidFill>
                  <a:schemeClr val="tx1"/>
                </a:solidFill>
              </a:ln>
              <a:solidFill>
                <a:srgbClr val="FF0000"/>
              </a:solidFill>
            </a:endParaRPr>
          </a:p>
        </p:txBody>
      </p:sp>
    </p:spTree>
    <p:extLst>
      <p:ext uri="{BB962C8B-B14F-4D97-AF65-F5344CB8AC3E}">
        <p14:creationId xmlns:p14="http://schemas.microsoft.com/office/powerpoint/2010/main" val="342666518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1d16a54-6b99-4e72-9d59-4aa1935d6251">
      <Terms xmlns="http://schemas.microsoft.com/office/infopath/2007/PartnerControls"/>
    </lcf76f155ced4ddcb4097134ff3c332f>
    <TaxCatchAll xmlns="998dca7c-f85f-43ed-bd68-84d6b5b100b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F75ABB9BB4E406418C9185DF0ED26645" ma:contentTypeVersion="11" ma:contentTypeDescription="新しいドキュメントを作成します。" ma:contentTypeScope="" ma:versionID="fed243a3ca20aebc9eac115e2d85769a">
  <xsd:schema xmlns:xsd="http://www.w3.org/2001/XMLSchema" xmlns:xs="http://www.w3.org/2001/XMLSchema" xmlns:p="http://schemas.microsoft.com/office/2006/metadata/properties" xmlns:ns2="a1d16a54-6b99-4e72-9d59-4aa1935d6251" xmlns:ns3="998dca7c-f85f-43ed-bd68-84d6b5b100b9" targetNamespace="http://schemas.microsoft.com/office/2006/metadata/properties" ma:root="true" ma:fieldsID="5806919387b7ea463763c61cb2d89293" ns2:_="" ns3:_="">
    <xsd:import namespace="a1d16a54-6b99-4e72-9d59-4aa1935d6251"/>
    <xsd:import namespace="998dca7c-f85f-43ed-bd68-84d6b5b100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d16a54-6b99-4e72-9d59-4aa1935d62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画像タグ" ma:readOnly="false" ma:fieldId="{5cf76f15-5ced-4ddc-b409-7134ff3c332f}" ma:taxonomyMulti="true" ma:sspId="c7b788f1-635f-435b-a825-11a9aec0b64e"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98dca7c-f85f-43ed-bd68-84d6b5b100b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954f62c5-75e9-412d-8462-94bbb017295a}" ma:internalName="TaxCatchAll" ma:showField="CatchAllData" ma:web="998dca7c-f85f-43ed-bd68-84d6b5b100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94A896-47DE-483F-B6A0-A49B00105000}">
  <ds:schemaRefs>
    <ds:schemaRef ds:uri="2375ff3d-7478-428d-abec-7e54612c050b"/>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elements/1.1/"/>
    <ds:schemaRef ds:uri="a1d16a54-6b99-4e72-9d59-4aa1935d6251"/>
    <ds:schemaRef ds:uri="998dca7c-f85f-43ed-bd68-84d6b5b100b9"/>
  </ds:schemaRefs>
</ds:datastoreItem>
</file>

<file path=customXml/itemProps2.xml><?xml version="1.0" encoding="utf-8"?>
<ds:datastoreItem xmlns:ds="http://schemas.openxmlformats.org/officeDocument/2006/customXml" ds:itemID="{B50B9D36-0719-403C-9EDE-45E29A557E09}">
  <ds:schemaRefs>
    <ds:schemaRef ds:uri="http://schemas.microsoft.com/sharepoint/v3/contenttype/forms"/>
  </ds:schemaRefs>
</ds:datastoreItem>
</file>

<file path=customXml/itemProps3.xml><?xml version="1.0" encoding="utf-8"?>
<ds:datastoreItem xmlns:ds="http://schemas.openxmlformats.org/officeDocument/2006/customXml" ds:itemID="{BA94539E-F984-48BC-9EF3-685C1F6F12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d16a54-6b99-4e72-9d59-4aa1935d6251"/>
    <ds:schemaRef ds:uri="998dca7c-f85f-43ed-bd68-84d6b5b100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21174</TotalTime>
  <Words>1352</Words>
  <Application>Microsoft Office PowerPoint</Application>
  <PresentationFormat>ワイド画面</PresentationFormat>
  <Paragraphs>157</Paragraphs>
  <Slides>15</Slides>
  <Notes>15</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15</vt:i4>
      </vt:variant>
    </vt:vector>
  </HeadingPairs>
  <TitlesOfParts>
    <vt:vector size="22" baseType="lpstr">
      <vt:lpstr>HGP創英角ｺﾞｼｯｸUB</vt:lpstr>
      <vt:lpstr>Calibri Light</vt:lpstr>
      <vt:lpstr>BIZ UDPゴシック</vt:lpstr>
      <vt:lpstr>Arial Black</vt:lpstr>
      <vt:lpstr>Calibri</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学校法人　大原学園</dc:title>
  <dc:creator>杉山 雅信</dc:creator>
  <cp:lastModifiedBy>田代　昂汰</cp:lastModifiedBy>
  <cp:revision>698</cp:revision>
  <cp:lastPrinted>2018-05-10T02:47:00Z</cp:lastPrinted>
  <dcterms:created xsi:type="dcterms:W3CDTF">2018-03-20T07:27:55Z</dcterms:created>
  <dcterms:modified xsi:type="dcterms:W3CDTF">2025-12-16T12:59:15Z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0x010100F75ABB9BB4E406418C9185DF0ED26645</vt:lpwstr>
  </property>
  <property fmtid="{D5CDD505-2E9C-101B-9397-08002B2CF9AE}" pid="3" name="MediaServiceImageTags">
    <vt:lpwstr/>
  </property>
</Properties>
</file>