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6" r:id="rId4"/>
  </p:sldMasterIdLst>
  <p:notesMasterIdLst>
    <p:notesMasterId r:id="rId20"/>
  </p:notesMasterIdLst>
  <p:handoutMasterIdLst>
    <p:handoutMasterId r:id="rId21"/>
  </p:handoutMasterIdLst>
  <p:sldIdLst>
    <p:sldId id="548" r:id="rId5"/>
    <p:sldId id="406" r:id="rId6"/>
    <p:sldId id="567" r:id="rId7"/>
    <p:sldId id="593" r:id="rId8"/>
    <p:sldId id="569" r:id="rId9"/>
    <p:sldId id="570" r:id="rId10"/>
    <p:sldId id="571" r:id="rId11"/>
    <p:sldId id="577" r:id="rId12"/>
    <p:sldId id="596" r:id="rId13"/>
    <p:sldId id="595" r:id="rId14"/>
    <p:sldId id="572" r:id="rId15"/>
    <p:sldId id="582" r:id="rId16"/>
    <p:sldId id="592" r:id="rId17"/>
    <p:sldId id="588" r:id="rId18"/>
    <p:sldId id="590" r:id="rId19"/>
  </p:sldIdLst>
  <p:sldSz cx="12192000" cy="6858000"/>
  <p:notesSz cx="7104063" cy="10234613"/>
  <p:embeddedFontLst>
    <p:embeddedFont>
      <p:font typeface="Arial Black" panose="020B0A04020102020204" pitchFamily="34" charset="0"/>
      <p:bold r:id="rId22"/>
    </p:embeddedFont>
    <p:embeddedFont>
      <p:font typeface="BIZ UDPゴシック" panose="020B0400000000000000" pitchFamily="50" charset="-128"/>
      <p:regular r:id="rId23"/>
      <p:bold r:id="rId24"/>
    </p:embeddedFont>
    <p:embeddedFont>
      <p:font typeface="HGP創英角ｺﾞｼｯｸUB" panose="020B0900000000000000" pitchFamily="50" charset="-128"/>
      <p:regular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7469" userDrawn="1">
          <p15:clr>
            <a:srgbClr val="A4A3A4"/>
          </p15:clr>
        </p15:guide>
        <p15:guide id="7" orient="horz" pos="2564" userDrawn="1">
          <p15:clr>
            <a:srgbClr val="A4A3A4"/>
          </p15:clr>
        </p15:guide>
        <p15:guide id="8" pos="3840" userDrawn="1">
          <p15:clr>
            <a:srgbClr val="A4A3A4"/>
          </p15:clr>
        </p15:guide>
      </p15:sldGuideLst>
    </p:ext>
    <p:ext uri="{2D200454-40CA-4A62-9FC3-DE9A4176ACB9}">
      <p15:notesGuideLst xmlns:p15="http://schemas.microsoft.com/office/powerpoint/2012/main">
        <p15:guide id="1" orient="horz" pos="3225"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DA04"/>
    <a:srgbClr val="FFFFFF"/>
    <a:srgbClr val="D6F329"/>
    <a:srgbClr val="FC8CAC"/>
    <a:srgbClr val="18DA79"/>
    <a:srgbClr val="F69800"/>
    <a:srgbClr val="002D68"/>
    <a:srgbClr val="06ECA5"/>
    <a:srgbClr val="F9F07B"/>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3367" autoAdjust="0"/>
  </p:normalViewPr>
  <p:slideViewPr>
    <p:cSldViewPr snapToGrid="0" showGuides="1">
      <p:cViewPr varScale="1">
        <p:scale>
          <a:sx n="103" d="100"/>
          <a:sy n="103" d="100"/>
        </p:scale>
        <p:origin x="894" y="108"/>
      </p:cViewPr>
      <p:guideLst>
        <p:guide pos="7469"/>
        <p:guide orient="horz" pos="2564"/>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howGuides="1">
      <p:cViewPr varScale="1">
        <p:scale>
          <a:sx n="82" d="100"/>
          <a:sy n="82" d="100"/>
        </p:scale>
        <p:origin x="3984" y="96"/>
      </p:cViewPr>
      <p:guideLst>
        <p:guide orient="horz" pos="3225"/>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列1</c:v>
                </c:pt>
              </c:strCache>
            </c:strRef>
          </c:tx>
          <c:spPr>
            <a:solidFill>
              <a:srgbClr val="FFC000"/>
            </a:solidFill>
          </c:spPr>
          <c:dPt>
            <c:idx val="0"/>
            <c:bubble3D val="0"/>
            <c:spPr>
              <a:solidFill>
                <a:srgbClr val="FFC000"/>
              </a:solidFill>
              <a:ln w="19050">
                <a:solidFill>
                  <a:schemeClr val="lt1"/>
                </a:solidFill>
              </a:ln>
              <a:effectLst/>
            </c:spPr>
            <c:extLst>
              <c:ext xmlns:c16="http://schemas.microsoft.com/office/drawing/2014/chart" uri="{C3380CC4-5D6E-409C-BE32-E72D297353CC}">
                <c16:uniqueId val="{00000001-F88F-44CB-BD30-5E21719B6A1C}"/>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1-ED5E-4FF8-A68B-B628765C835A}"/>
              </c:ext>
            </c:extLst>
          </c:dPt>
          <c:cat>
            <c:numRef>
              <c:f>Sheet1!$A$2:$A$3</c:f>
              <c:numCache>
                <c:formatCode>General</c:formatCode>
                <c:ptCount val="2"/>
              </c:numCache>
            </c:numRef>
          </c:cat>
          <c:val>
            <c:numRef>
              <c:f>Sheet1!$B$2:$B$3</c:f>
              <c:numCache>
                <c:formatCode>General</c:formatCode>
                <c:ptCount val="2"/>
                <c:pt idx="0">
                  <c:v>99.6</c:v>
                </c:pt>
                <c:pt idx="1">
                  <c:v>0.4</c:v>
                </c:pt>
              </c:numCache>
            </c:numRef>
          </c:val>
          <c:extLst>
            <c:ext xmlns:c16="http://schemas.microsoft.com/office/drawing/2014/chart" uri="{C3380CC4-5D6E-409C-BE32-E72D297353CC}">
              <c16:uniqueId val="{00000000-ED5E-4FF8-A68B-B628765C835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r>
              <a:rPr lang="ja-JP" altLang="en-US" sz="2000" b="1" dirty="0"/>
              <a:t>内定者割合</a:t>
            </a:r>
            <a:endParaRPr lang="en-US" altLang="ja-JP" sz="2000" b="1" dirty="0"/>
          </a:p>
        </c:rich>
      </c:tx>
      <c:overlay val="1"/>
      <c:spPr>
        <a:noFill/>
        <a:ln>
          <a:noFill/>
        </a:ln>
        <a:effectLst/>
      </c:spPr>
      <c:txPr>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endParaRPr lang="en-US" altLang="ja-JP"/>
        </a:p>
      </c:txPr>
    </c:title>
    <c:autoTitleDeleted val="0"/>
    <c:plotArea>
      <c:layout>
        <c:manualLayout>
          <c:layoutTarget val="inner"/>
          <c:xMode val="edge"/>
          <c:yMode val="edge"/>
          <c:x val="0.18801200334926546"/>
          <c:y val="0.1247116350309091"/>
          <c:w val="0.621671467836998"/>
          <c:h val="0.84099266533559081"/>
        </c:manualLayout>
      </c:layout>
      <c:pieChart>
        <c:varyColors val="1"/>
        <c:ser>
          <c:idx val="0"/>
          <c:order val="0"/>
          <c:tx>
            <c:strRef>
              <c:f>Sheet1!$B$1</c:f>
              <c:strCache>
                <c:ptCount val="1"/>
                <c:pt idx="0">
                  <c:v>列1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B9E-408E-8AF6-4ACB10F7DC1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AB9E-408E-8AF6-4ACB10F7DC1F}"/>
              </c:ext>
            </c:extLst>
          </c:dPt>
          <c:dLbls>
            <c:dLbl>
              <c:idx val="0"/>
              <c:layout>
                <c:manualLayout>
                  <c:x val="-0.13252064890384871"/>
                  <c:y val="-0.17222652248234091"/>
                </c:manualLayout>
              </c:layout>
              <c:tx>
                <c:rich>
                  <a:bodyPr/>
                  <a:lstStyle/>
                  <a:p>
                    <a:fld id="{2FB6F147-B8F9-48B0-98BF-4791FB6F29E2}" type="CATEGORYNAME">
                      <a:rPr lang="ja-JP" altLang="en-US" sz="4000" b="1" smtClean="0">
                        <a:solidFill>
                          <a:schemeClr val="tx1"/>
                        </a:solidFill>
                      </a:rPr>
                      <a:pPr/>
                      <a:t>[分類名]</a:t>
                    </a:fld>
                    <a:r>
                      <a:rPr lang="ja-JP" altLang="en-US" sz="4000" b="1" dirty="0">
                        <a:solidFill>
                          <a:schemeClr val="tx1"/>
                        </a:solidFill>
                      </a:rPr>
                      <a:t>業界</a:t>
                    </a:r>
                  </a:p>
                </c:rich>
              </c:tx>
              <c:showLegendKey val="0"/>
              <c:showVal val="0"/>
              <c:showCatName val="1"/>
              <c:showSerName val="0"/>
              <c:showPercent val="0"/>
              <c:showBubbleSize val="0"/>
              <c:extLst>
                <c:ext xmlns:c15="http://schemas.microsoft.com/office/drawing/2012/chart" uri="{CE6537A1-D6FC-4f65-9D91-7224C49458BB}">
                  <c15:layout>
                    <c:manualLayout>
                      <c:w val="0.67988854655018038"/>
                      <c:h val="0.17537573676221591"/>
                    </c:manualLayout>
                  </c15:layout>
                  <c15:dlblFieldTable/>
                  <c15:showDataLabelsRange val="0"/>
                </c:ext>
                <c:ext xmlns:c16="http://schemas.microsoft.com/office/drawing/2014/chart" uri="{C3380CC4-5D6E-409C-BE32-E72D297353CC}">
                  <c16:uniqueId val="{00000001-AB9E-408E-8AF6-4ACB10F7DC1F}"/>
                </c:ext>
              </c:extLst>
            </c:dLbl>
            <c:dLbl>
              <c:idx val="1"/>
              <c:layout>
                <c:manualLayout>
                  <c:x val="0.17976714112174255"/>
                  <c:y val="0.16406355678074105"/>
                </c:manualLayout>
              </c:layout>
              <c:tx>
                <c:rich>
                  <a:bodyPr/>
                  <a:lstStyle/>
                  <a:p>
                    <a:fld id="{68AB4FE6-8314-4449-8F2B-9738C68B3E5C}" type="CATEGORYNAME">
                      <a:rPr lang="en-US" altLang="ja-JP" sz="5400" b="1">
                        <a:solidFill>
                          <a:schemeClr val="tx1"/>
                        </a:solidFill>
                      </a:rPr>
                      <a:pPr/>
                      <a:t>[分類名]</a:t>
                    </a:fld>
                    <a:endParaRPr lang="ja-JP" altLang="en-US"/>
                  </a:p>
                </c:rich>
              </c:tx>
              <c:showLegendKey val="0"/>
              <c:showVal val="0"/>
              <c:showCatName val="1"/>
              <c:showSerName val="0"/>
              <c:showPercent val="0"/>
              <c:showBubbleSize val="0"/>
              <c:extLst>
                <c:ext xmlns:c15="http://schemas.microsoft.com/office/drawing/2012/chart" uri="{CE6537A1-D6FC-4f65-9D91-7224C49458BB}">
                  <c15:layout>
                    <c:manualLayout>
                      <c:w val="0.12963976523202592"/>
                      <c:h val="5.6899683482852272E-2"/>
                    </c:manualLayout>
                  </c15:layout>
                  <c15:dlblFieldTable/>
                  <c15:showDataLabelsRange val="0"/>
                </c:ext>
                <c:ext xmlns:c16="http://schemas.microsoft.com/office/drawing/2014/chart" uri="{C3380CC4-5D6E-409C-BE32-E72D297353CC}">
                  <c16:uniqueId val="{00000002-AB9E-408E-8AF6-4ACB10F7DC1F}"/>
                </c:ext>
              </c:extLst>
            </c:dLbl>
            <c:spPr>
              <a:noFill/>
              <a:ln>
                <a:noFill/>
              </a:ln>
              <a:effectLst/>
            </c:spPr>
            <c:txPr>
              <a:bodyPr rot="0" spcFirstLastPara="1" vertOverflow="overflow" horzOverflow="overflow" vert="horz" wrap="square" lIns="38100" tIns="19050" rIns="38100" bIns="19050" anchor="ctr" anchorCtr="1">
                <a:noAutofit/>
              </a:bodyPr>
              <a:lstStyle/>
              <a:p>
                <a:pPr>
                  <a:defRPr lang="ja-JP" sz="1197" b="0" i="0" u="none" strike="noStrike" kern="1200" baseline="0">
                    <a:ln>
                      <a:noFill/>
                    </a:ln>
                    <a:solidFill>
                      <a:schemeClr val="tx1">
                        <a:lumMod val="75000"/>
                        <a:lumOff val="25000"/>
                      </a:schemeClr>
                    </a:solidFill>
                    <a:latin typeface="+mn-lt"/>
                    <a:ea typeface="+mn-ea"/>
                    <a:cs typeface="+mn-cs"/>
                  </a:defRPr>
                </a:pPr>
                <a:endParaRPr lang="ja-JP"/>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ゲーム</c:v>
                </c:pt>
                <c:pt idx="1">
                  <c:v>IT</c:v>
                </c:pt>
              </c:strCache>
            </c:strRef>
          </c:cat>
          <c:val>
            <c:numRef>
              <c:f>Sheet1!$B$2:$B$3</c:f>
              <c:numCache>
                <c:formatCode>General</c:formatCode>
                <c:ptCount val="2"/>
                <c:pt idx="0">
                  <c:v>7</c:v>
                </c:pt>
                <c:pt idx="1">
                  <c:v>3</c:v>
                </c:pt>
              </c:numCache>
            </c:numRef>
          </c:val>
          <c:extLst>
            <c:ext xmlns:c16="http://schemas.microsoft.com/office/drawing/2014/chart" uri="{C3380CC4-5D6E-409C-BE32-E72D297353CC}">
              <c16:uniqueId val="{00000000-AB9E-408E-8AF6-4ACB10F7DC1F}"/>
            </c:ext>
          </c:extLst>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3078163" cy="512763"/>
          </a:xfrm>
          <a:prstGeom prst="rect">
            <a:avLst/>
          </a:prstGeom>
        </p:spPr>
        <p:txBody>
          <a:bodyPr vert="horz" lIns="91433" tIns="45716" rIns="91433" bIns="45716" rtlCol="0"/>
          <a:lstStyle>
            <a:lvl1pPr algn="l">
              <a:defRPr sz="1100"/>
            </a:lvl1pPr>
          </a:lstStyle>
          <a:p>
            <a:endParaRPr kumimoji="1" lang="ja-JP" altLang="en-US"/>
          </a:p>
        </p:txBody>
      </p:sp>
      <p:sp>
        <p:nvSpPr>
          <p:cNvPr id="3" name="日付プレースホルダー 2"/>
          <p:cNvSpPr>
            <a:spLocks noGrp="1"/>
          </p:cNvSpPr>
          <p:nvPr>
            <p:ph type="dt" sz="quarter" idx="1"/>
          </p:nvPr>
        </p:nvSpPr>
        <p:spPr>
          <a:xfrm>
            <a:off x="4024313" y="1"/>
            <a:ext cx="3078162" cy="512763"/>
          </a:xfrm>
          <a:prstGeom prst="rect">
            <a:avLst/>
          </a:prstGeom>
        </p:spPr>
        <p:txBody>
          <a:bodyPr vert="horz" lIns="91433" tIns="45716" rIns="91433" bIns="45716" rtlCol="0"/>
          <a:lstStyle>
            <a:lvl1pPr algn="r">
              <a:defRPr sz="1100"/>
            </a:lvl1pPr>
          </a:lstStyle>
          <a:p>
            <a:fld id="{073CDBED-D89A-465C-93F6-2AD6BE0AC3FD}" type="datetimeFigureOut">
              <a:rPr kumimoji="1" lang="ja-JP" altLang="en-US" smtClean="0"/>
              <a:t>2026/4/14</a:t>
            </a:fld>
            <a:endParaRPr kumimoji="1" lang="ja-JP" altLang="en-US"/>
          </a:p>
        </p:txBody>
      </p:sp>
      <p:sp>
        <p:nvSpPr>
          <p:cNvPr id="4" name="フッター プレースホルダー 3"/>
          <p:cNvSpPr>
            <a:spLocks noGrp="1"/>
          </p:cNvSpPr>
          <p:nvPr>
            <p:ph type="ftr" sz="quarter" idx="2"/>
          </p:nvPr>
        </p:nvSpPr>
        <p:spPr>
          <a:xfrm>
            <a:off x="0" y="9721851"/>
            <a:ext cx="3078163" cy="512763"/>
          </a:xfrm>
          <a:prstGeom prst="rect">
            <a:avLst/>
          </a:prstGeom>
        </p:spPr>
        <p:txBody>
          <a:bodyPr vert="horz" lIns="91433" tIns="45716" rIns="91433" bIns="45716" rtlCol="0" anchor="b"/>
          <a:lstStyle>
            <a:lvl1pPr algn="l">
              <a:defRPr sz="1100"/>
            </a:lvl1pPr>
          </a:lstStyle>
          <a:p>
            <a:endParaRPr kumimoji="1" lang="ja-JP" altLang="en-US"/>
          </a:p>
        </p:txBody>
      </p:sp>
      <p:sp>
        <p:nvSpPr>
          <p:cNvPr id="5" name="スライド番号プレースホルダー 4"/>
          <p:cNvSpPr>
            <a:spLocks noGrp="1"/>
          </p:cNvSpPr>
          <p:nvPr>
            <p:ph type="sldNum" sz="quarter" idx="3"/>
          </p:nvPr>
        </p:nvSpPr>
        <p:spPr>
          <a:xfrm>
            <a:off x="4024313" y="9721851"/>
            <a:ext cx="3078162" cy="512763"/>
          </a:xfrm>
          <a:prstGeom prst="rect">
            <a:avLst/>
          </a:prstGeom>
        </p:spPr>
        <p:txBody>
          <a:bodyPr vert="horz" lIns="91433" tIns="45716" rIns="91433" bIns="45716" rtlCol="0" anchor="b"/>
          <a:lstStyle>
            <a:lvl1pPr algn="r">
              <a:defRPr sz="1100"/>
            </a:lvl1pPr>
          </a:lstStyle>
          <a:p>
            <a:fld id="{6EABEA20-51ED-4C22-B68D-4D1604AA637D}" type="slidenum">
              <a:rPr kumimoji="1" lang="ja-JP" altLang="en-US" smtClean="0"/>
              <a:t>‹#›</a:t>
            </a:fld>
            <a:endParaRPr kumimoji="1" lang="ja-JP" altLang="en-US"/>
          </a:p>
        </p:txBody>
      </p:sp>
    </p:spTree>
    <p:extLst>
      <p:ext uri="{BB962C8B-B14F-4D97-AF65-F5344CB8AC3E}">
        <p14:creationId xmlns:p14="http://schemas.microsoft.com/office/powerpoint/2010/main" val="6995302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3078428" cy="513508"/>
          </a:xfrm>
          <a:prstGeom prst="rect">
            <a:avLst/>
          </a:prstGeom>
        </p:spPr>
        <p:txBody>
          <a:bodyPr vert="horz" lIns="95464" tIns="47732" rIns="95464" bIns="47732" rtlCol="0"/>
          <a:lstStyle>
            <a:lvl1pPr algn="l">
              <a:defRPr sz="1100"/>
            </a:lvl1pPr>
          </a:lstStyle>
          <a:p>
            <a:endParaRPr kumimoji="1" lang="ja-JP" altLang="en-US"/>
          </a:p>
        </p:txBody>
      </p:sp>
      <p:sp>
        <p:nvSpPr>
          <p:cNvPr id="3" name="日付プレースホルダー 2"/>
          <p:cNvSpPr>
            <a:spLocks noGrp="1"/>
          </p:cNvSpPr>
          <p:nvPr>
            <p:ph type="dt" idx="1"/>
          </p:nvPr>
        </p:nvSpPr>
        <p:spPr>
          <a:xfrm>
            <a:off x="4023992" y="2"/>
            <a:ext cx="3078428" cy="513508"/>
          </a:xfrm>
          <a:prstGeom prst="rect">
            <a:avLst/>
          </a:prstGeom>
        </p:spPr>
        <p:txBody>
          <a:bodyPr vert="horz" lIns="95464" tIns="47732" rIns="95464" bIns="47732" rtlCol="0"/>
          <a:lstStyle>
            <a:lvl1pPr algn="r">
              <a:defRPr sz="1100"/>
            </a:lvl1pPr>
          </a:lstStyle>
          <a:p>
            <a:fld id="{B00DB4F0-D4B0-4FB8-9261-41772518FF32}" type="datetimeFigureOut">
              <a:rPr kumimoji="1" lang="ja-JP" altLang="en-US" smtClean="0"/>
              <a:t>2026/4/14</a:t>
            </a:fld>
            <a:endParaRPr kumimoji="1" lang="ja-JP" altLang="en-US"/>
          </a:p>
        </p:txBody>
      </p:sp>
      <p:sp>
        <p:nvSpPr>
          <p:cNvPr id="4" name="スライド イメージ プレースホルダー 3"/>
          <p:cNvSpPr>
            <a:spLocks noGrp="1" noRot="1" noChangeAspect="1"/>
          </p:cNvSpPr>
          <p:nvPr>
            <p:ph type="sldImg" idx="2"/>
          </p:nvPr>
        </p:nvSpPr>
        <p:spPr>
          <a:xfrm>
            <a:off x="482600" y="1279525"/>
            <a:ext cx="6138863" cy="3454400"/>
          </a:xfrm>
          <a:prstGeom prst="rect">
            <a:avLst/>
          </a:prstGeom>
          <a:noFill/>
          <a:ln w="12700">
            <a:solidFill>
              <a:prstClr val="black"/>
            </a:solidFill>
          </a:ln>
        </p:spPr>
        <p:txBody>
          <a:bodyPr vert="horz" lIns="95464" tIns="47732" rIns="95464" bIns="47732" rtlCol="0" anchor="ctr"/>
          <a:lstStyle/>
          <a:p>
            <a:endParaRPr lang="ja-JP" altLang="en-US"/>
          </a:p>
        </p:txBody>
      </p:sp>
      <p:sp>
        <p:nvSpPr>
          <p:cNvPr id="5" name="ノート プレースホルダー 4"/>
          <p:cNvSpPr>
            <a:spLocks noGrp="1"/>
          </p:cNvSpPr>
          <p:nvPr>
            <p:ph type="body" sz="quarter" idx="3"/>
          </p:nvPr>
        </p:nvSpPr>
        <p:spPr>
          <a:xfrm>
            <a:off x="710408" y="4925410"/>
            <a:ext cx="5683250" cy="4029880"/>
          </a:xfrm>
          <a:prstGeom prst="rect">
            <a:avLst/>
          </a:prstGeom>
        </p:spPr>
        <p:txBody>
          <a:bodyPr vert="horz" lIns="95464" tIns="47732" rIns="95464" bIns="47732"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721107"/>
            <a:ext cx="3078428" cy="513507"/>
          </a:xfrm>
          <a:prstGeom prst="rect">
            <a:avLst/>
          </a:prstGeom>
        </p:spPr>
        <p:txBody>
          <a:bodyPr vert="horz" lIns="95464" tIns="47732" rIns="95464" bIns="47732" rtlCol="0" anchor="b"/>
          <a:lstStyle>
            <a:lvl1pPr algn="l">
              <a:defRPr sz="11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8" cy="513507"/>
          </a:xfrm>
          <a:prstGeom prst="rect">
            <a:avLst/>
          </a:prstGeom>
        </p:spPr>
        <p:txBody>
          <a:bodyPr vert="horz" lIns="95464" tIns="47732" rIns="95464" bIns="47732" rtlCol="0" anchor="b"/>
          <a:lstStyle>
            <a:lvl1pPr algn="r">
              <a:defRPr sz="1100"/>
            </a:lvl1pPr>
          </a:lstStyle>
          <a:p>
            <a:fld id="{CE66CADE-3FFD-420C-BDFF-C58106D168D0}" type="slidenum">
              <a:rPr kumimoji="1" lang="ja-JP" altLang="en-US" smtClean="0"/>
              <a:t>‹#›</a:t>
            </a:fld>
            <a:endParaRPr kumimoji="1" lang="ja-JP" altLang="en-US"/>
          </a:p>
        </p:txBody>
      </p:sp>
    </p:spTree>
    <p:extLst>
      <p:ext uri="{BB962C8B-B14F-4D97-AF65-F5344CB8AC3E}">
        <p14:creationId xmlns:p14="http://schemas.microsoft.com/office/powerpoint/2010/main" val="20391803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r>
              <a:rPr lang="ja-JP" altLang="en-US" dirty="0"/>
              <a:t>今回は自分がどんな部分を頑張ってゲーム業界に入ったのかを話していきたいと思います。</a:t>
            </a:r>
            <a:endParaRPr lang="en-US" altLang="ja-JP" dirty="0"/>
          </a:p>
          <a:p>
            <a:endParaRPr lang="en-US" altLang="ja-JP" dirty="0"/>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a:t>
            </a:fld>
            <a:endParaRPr kumimoji="1" lang="ja-JP" altLang="en-US"/>
          </a:p>
        </p:txBody>
      </p:sp>
    </p:spTree>
    <p:extLst>
      <p:ext uri="{BB962C8B-B14F-4D97-AF65-F5344CB8AC3E}">
        <p14:creationId xmlns:p14="http://schemas.microsoft.com/office/powerpoint/2010/main" val="1533504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今回の目次です。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最初にゲーム業界がどんな業界なのかを説明して、その次にどうやって入るのか、何があれば入れるのかなどを説明していきたいと思います。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上から</a:t>
            </a:r>
            <a:endParaRPr kumimoji="1" lang="en-US" altLang="ja-JP" sz="1200" kern="1200" dirty="0">
              <a:solidFill>
                <a:schemeClr val="tx1"/>
              </a:solidFill>
              <a:effectLst/>
              <a:latin typeface="+mn-lt"/>
              <a:ea typeface="+mn-ea"/>
              <a:cs typeface="+mn-cs"/>
            </a:endParaRPr>
          </a:p>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a:t>
            </a:fld>
            <a:endParaRPr kumimoji="1" lang="ja-JP" altLang="en-US"/>
          </a:p>
        </p:txBody>
      </p:sp>
    </p:spTree>
    <p:extLst>
      <p:ext uri="{BB962C8B-B14F-4D97-AF65-F5344CB8AC3E}">
        <p14:creationId xmlns:p14="http://schemas.microsoft.com/office/powerpoint/2010/main" val="759968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A2EF-3DCD-4B4C-3456-0C0474D1C3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4D7D35-3727-0F71-0ED0-BF0910534B7F}"/>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2AFA21F1-32D8-EAC7-1F61-04CBC4062C15}"/>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まず私の自己紹介をしようと思います。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中平悠希と申します本日はよろしくお願いします。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趣味はカラオケです。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暇があったらカラオケ行ってます。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好きなゲームはモンスターファームです。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EF77F3D-90BE-87CB-355D-8E3FE11C3272}"/>
              </a:ext>
            </a:extLst>
          </p:cNvPr>
          <p:cNvSpPr>
            <a:spLocks noGrp="1"/>
          </p:cNvSpPr>
          <p:nvPr>
            <p:ph type="sldNum" sz="quarter" idx="10"/>
          </p:nvPr>
        </p:nvSpPr>
        <p:spPr/>
        <p:txBody>
          <a:bodyPr/>
          <a:lstStyle/>
          <a:p>
            <a:fld id="{CE66CADE-3FFD-420C-BDFF-C58106D168D0}" type="slidenum">
              <a:rPr kumimoji="1" lang="ja-JP" altLang="en-US" smtClean="0"/>
              <a:t>3</a:t>
            </a:fld>
            <a:endParaRPr kumimoji="1" lang="ja-JP" altLang="en-US"/>
          </a:p>
        </p:txBody>
      </p:sp>
    </p:spTree>
    <p:extLst>
      <p:ext uri="{BB962C8B-B14F-4D97-AF65-F5344CB8AC3E}">
        <p14:creationId xmlns:p14="http://schemas.microsoft.com/office/powerpoint/2010/main" val="2433407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A2EF-3DCD-4B4C-3456-0C0474D1C3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4D7D35-3727-0F71-0ED0-BF0910534B7F}"/>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2AFA21F1-32D8-EAC7-1F61-04CBC4062C15}"/>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まず私の自己紹介をしようと思います。</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EF77F3D-90BE-87CB-355D-8E3FE11C3272}"/>
              </a:ext>
            </a:extLst>
          </p:cNvPr>
          <p:cNvSpPr>
            <a:spLocks noGrp="1"/>
          </p:cNvSpPr>
          <p:nvPr>
            <p:ph type="sldNum" sz="quarter" idx="10"/>
          </p:nvPr>
        </p:nvSpPr>
        <p:spPr/>
        <p:txBody>
          <a:bodyPr/>
          <a:lstStyle/>
          <a:p>
            <a:fld id="{CE66CADE-3FFD-420C-BDFF-C58106D168D0}" type="slidenum">
              <a:rPr kumimoji="1" lang="ja-JP" altLang="en-US" smtClean="0"/>
              <a:t>4</a:t>
            </a:fld>
            <a:endParaRPr kumimoji="1" lang="ja-JP" altLang="en-US"/>
          </a:p>
        </p:txBody>
      </p:sp>
    </p:spTree>
    <p:extLst>
      <p:ext uri="{BB962C8B-B14F-4D97-AF65-F5344CB8AC3E}">
        <p14:creationId xmlns:p14="http://schemas.microsoft.com/office/powerpoint/2010/main" val="1727726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E733F-1CE5-DB74-7548-D1A546F824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B53D47-3BCC-3F67-E80B-CDE2F2F1E05E}"/>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DDC1E392-4D93-7D84-347F-9B3CA4FF893E}"/>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まずゲーム業界について説明していきたいと思います。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まず最初に自分の周囲の人たちから聞いた入学当初のゲーム業界の印象なのですが、まずブラック、そしてやりがい搾取されて賃金があまり高くないという印象が多かったです。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ですが、実際には多くの企業でホワイト化が進んでおり、賃金なども最近上昇傾向にあります。</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3ECB2142-039B-3464-AAE1-627A59C2A349}"/>
              </a:ext>
            </a:extLst>
          </p:cNvPr>
          <p:cNvSpPr>
            <a:spLocks noGrp="1"/>
          </p:cNvSpPr>
          <p:nvPr>
            <p:ph type="sldNum" sz="quarter" idx="10"/>
          </p:nvPr>
        </p:nvSpPr>
        <p:spPr/>
        <p:txBody>
          <a:bodyPr/>
          <a:lstStyle/>
          <a:p>
            <a:fld id="{CE66CADE-3FFD-420C-BDFF-C58106D168D0}" type="slidenum">
              <a:rPr kumimoji="1" lang="ja-JP" altLang="en-US" smtClean="0"/>
              <a:t>5</a:t>
            </a:fld>
            <a:endParaRPr kumimoji="1" lang="ja-JP" altLang="en-US"/>
          </a:p>
        </p:txBody>
      </p:sp>
    </p:spTree>
    <p:extLst>
      <p:ext uri="{BB962C8B-B14F-4D97-AF65-F5344CB8AC3E}">
        <p14:creationId xmlns:p14="http://schemas.microsoft.com/office/powerpoint/2010/main" val="1552916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F83A8-394D-8FF6-BFDD-7044AE46EF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67E62A-FF48-0E81-42AD-F3AB2F23720D}"/>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8B93800C-6941-DB93-7FA5-7F3E4734852C}"/>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代表的な例を挙げていくのですが、</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ホワイト化の代表的な例だと</a:t>
            </a:r>
            <a:r>
              <a:rPr kumimoji="1" lang="en-US" altLang="ja-JP" sz="1200" kern="1200" dirty="0">
                <a:solidFill>
                  <a:schemeClr val="tx1"/>
                </a:solidFill>
                <a:effectLst/>
                <a:latin typeface="+mn-lt"/>
                <a:ea typeface="+mn-ea"/>
                <a:cs typeface="+mn-cs"/>
              </a:rPr>
              <a:t>SEGA</a:t>
            </a:r>
            <a:r>
              <a:rPr kumimoji="1" lang="ja-JP" altLang="en-US" sz="1200" kern="1200" dirty="0">
                <a:solidFill>
                  <a:schemeClr val="tx1"/>
                </a:solidFill>
                <a:effectLst/>
                <a:latin typeface="+mn-lt"/>
                <a:ea typeface="+mn-ea"/>
                <a:cs typeface="+mn-cs"/>
              </a:rPr>
              <a:t>様ですね、ぷよぷよとかソニック、龍が如くなんかを作っている会社なんですが、この会社は休日日数が多く、なんと</a:t>
            </a:r>
            <a:r>
              <a:rPr kumimoji="1" lang="en-US" altLang="ja-JP" sz="1200" kern="1200" dirty="0">
                <a:solidFill>
                  <a:schemeClr val="tx1"/>
                </a:solidFill>
                <a:effectLst/>
                <a:latin typeface="+mn-lt"/>
                <a:ea typeface="+mn-ea"/>
                <a:cs typeface="+mn-cs"/>
              </a:rPr>
              <a:t>130</a:t>
            </a:r>
            <a:r>
              <a:rPr kumimoji="1" lang="ja-JP" altLang="en-US" sz="1200" kern="1200" dirty="0">
                <a:solidFill>
                  <a:schemeClr val="tx1"/>
                </a:solidFill>
                <a:effectLst/>
                <a:latin typeface="+mn-lt"/>
                <a:ea typeface="+mn-ea"/>
                <a:cs typeface="+mn-cs"/>
              </a:rPr>
              <a:t>日もあります。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大体ホワイト企業といわれるのが</a:t>
            </a:r>
            <a:r>
              <a:rPr kumimoji="1" lang="en-US" altLang="ja-JP" sz="1200" kern="1200" dirty="0">
                <a:solidFill>
                  <a:schemeClr val="tx1"/>
                </a:solidFill>
                <a:effectLst/>
                <a:latin typeface="+mn-lt"/>
                <a:ea typeface="+mn-ea"/>
                <a:cs typeface="+mn-cs"/>
              </a:rPr>
              <a:t>120</a:t>
            </a:r>
            <a:r>
              <a:rPr kumimoji="1" lang="ja-JP" altLang="en-US" sz="1200" kern="1200" dirty="0">
                <a:solidFill>
                  <a:schemeClr val="tx1"/>
                </a:solidFill>
                <a:effectLst/>
                <a:latin typeface="+mn-lt"/>
                <a:ea typeface="+mn-ea"/>
                <a:cs typeface="+mn-cs"/>
              </a:rPr>
              <a:t>日以上くらいからなので、かなり多めの数字ということがわかります。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次に賃金の代表的な例だと</a:t>
            </a:r>
            <a:r>
              <a:rPr kumimoji="1" lang="en-US" altLang="ja-JP" sz="1200" kern="1200" dirty="0">
                <a:solidFill>
                  <a:schemeClr val="tx1"/>
                </a:solidFill>
                <a:effectLst/>
                <a:latin typeface="+mn-lt"/>
                <a:ea typeface="+mn-ea"/>
                <a:cs typeface="+mn-cs"/>
              </a:rPr>
              <a:t>CAPCOM</a:t>
            </a:r>
            <a:r>
              <a:rPr kumimoji="1" lang="ja-JP" altLang="en-US" sz="1200" kern="1200" dirty="0">
                <a:solidFill>
                  <a:schemeClr val="tx1"/>
                </a:solidFill>
                <a:effectLst/>
                <a:latin typeface="+mn-lt"/>
                <a:ea typeface="+mn-ea"/>
                <a:cs typeface="+mn-cs"/>
              </a:rPr>
              <a:t>様ですね、モンハンとかストリートファイターとかを作っている会社です。この会社は賃金が高く、初任給から</a:t>
            </a:r>
            <a:r>
              <a:rPr kumimoji="1" lang="en-US" altLang="ja-JP" sz="1200" kern="1200" dirty="0">
                <a:solidFill>
                  <a:schemeClr val="tx1"/>
                </a:solidFill>
                <a:effectLst/>
                <a:latin typeface="+mn-lt"/>
                <a:ea typeface="+mn-ea"/>
                <a:cs typeface="+mn-cs"/>
              </a:rPr>
              <a:t>30</a:t>
            </a:r>
            <a:r>
              <a:rPr kumimoji="1" lang="ja-JP" altLang="en-US" sz="1200" kern="1200" dirty="0">
                <a:solidFill>
                  <a:schemeClr val="tx1"/>
                </a:solidFill>
                <a:effectLst/>
                <a:latin typeface="+mn-lt"/>
                <a:ea typeface="+mn-ea"/>
                <a:cs typeface="+mn-cs"/>
              </a:rPr>
              <a:t>万円以上もらうことができます。さらに休日日数もしっかり多く、</a:t>
            </a:r>
            <a:r>
              <a:rPr kumimoji="1" lang="en-US" altLang="ja-JP" sz="1200" kern="1200" dirty="0">
                <a:solidFill>
                  <a:schemeClr val="tx1"/>
                </a:solidFill>
                <a:effectLst/>
                <a:latin typeface="+mn-lt"/>
                <a:ea typeface="+mn-ea"/>
                <a:cs typeface="+mn-cs"/>
              </a:rPr>
              <a:t>123</a:t>
            </a:r>
            <a:r>
              <a:rPr kumimoji="1" lang="ja-JP" altLang="en-US" sz="1200" kern="1200" dirty="0">
                <a:solidFill>
                  <a:schemeClr val="tx1"/>
                </a:solidFill>
                <a:effectLst/>
                <a:latin typeface="+mn-lt"/>
                <a:ea typeface="+mn-ea"/>
                <a:cs typeface="+mn-cs"/>
              </a:rPr>
              <a:t>日くらいあるんで休日日数もしっかり多いです。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8F843176-DAEE-FA6F-037F-B3F744A74BC5}"/>
              </a:ext>
            </a:extLst>
          </p:cNvPr>
          <p:cNvSpPr>
            <a:spLocks noGrp="1"/>
          </p:cNvSpPr>
          <p:nvPr>
            <p:ph type="sldNum" sz="quarter" idx="10"/>
          </p:nvPr>
        </p:nvSpPr>
        <p:spPr/>
        <p:txBody>
          <a:bodyPr/>
          <a:lstStyle/>
          <a:p>
            <a:fld id="{CE66CADE-3FFD-420C-BDFF-C58106D168D0}" type="slidenum">
              <a:rPr kumimoji="1" lang="ja-JP" altLang="en-US" smtClean="0"/>
              <a:t>6</a:t>
            </a:fld>
            <a:endParaRPr kumimoji="1" lang="ja-JP" altLang="en-US"/>
          </a:p>
        </p:txBody>
      </p:sp>
    </p:spTree>
    <p:extLst>
      <p:ext uri="{BB962C8B-B14F-4D97-AF65-F5344CB8AC3E}">
        <p14:creationId xmlns:p14="http://schemas.microsoft.com/office/powerpoint/2010/main" val="4151131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2477-2EF9-CEF7-FAA1-54BD4238EA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D9A585-76A2-A323-EBF2-105C68309F60}"/>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64676490-9D4E-9828-08E5-B89DE21F3532}"/>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先ほどまで説明した通り、しっかりホワイト化が進んでいて、賃金も上昇傾向にあり、そして大好きなゲームに仕事でかかわれるということでやはり人気な業界になっています。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なので合格率はかなり低めになっています。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これは福岡のゲーム会社の</a:t>
            </a:r>
            <a:r>
              <a:rPr kumimoji="1" lang="en-US" altLang="ja-JP" sz="1200" kern="1200" dirty="0">
                <a:solidFill>
                  <a:schemeClr val="tx1"/>
                </a:solidFill>
                <a:effectLst/>
                <a:latin typeface="+mn-lt"/>
                <a:ea typeface="+mn-ea"/>
                <a:cs typeface="+mn-cs"/>
              </a:rPr>
              <a:t>CC</a:t>
            </a:r>
            <a:r>
              <a:rPr kumimoji="1" lang="ja-JP" altLang="en-US" sz="1200" kern="1200" dirty="0">
                <a:solidFill>
                  <a:schemeClr val="tx1"/>
                </a:solidFill>
                <a:effectLst/>
                <a:latin typeface="+mn-lt"/>
                <a:ea typeface="+mn-ea"/>
                <a:cs typeface="+mn-cs"/>
              </a:rPr>
              <a:t>２様が公開していたのですが、ゲーム業界に入れる確率は</a:t>
            </a:r>
            <a:r>
              <a:rPr kumimoji="1" lang="en-US" altLang="ja-JP" sz="1200" kern="1200" dirty="0">
                <a:solidFill>
                  <a:schemeClr val="tx1"/>
                </a:solidFill>
                <a:effectLst/>
                <a:latin typeface="+mn-lt"/>
                <a:ea typeface="+mn-ea"/>
                <a:cs typeface="+mn-cs"/>
              </a:rPr>
              <a:t>1.9</a:t>
            </a:r>
            <a:r>
              <a:rPr kumimoji="1" lang="ja-JP" altLang="en-US" sz="1200" kern="1200" dirty="0">
                <a:solidFill>
                  <a:schemeClr val="tx1"/>
                </a:solidFill>
                <a:effectLst/>
                <a:latin typeface="+mn-lt"/>
                <a:ea typeface="+mn-ea"/>
                <a:cs typeface="+mn-cs"/>
              </a:rPr>
              <a:t>％以下だといわれています。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D40DCA01-B143-628B-0EE2-96FE78CBB7B6}"/>
              </a:ext>
            </a:extLst>
          </p:cNvPr>
          <p:cNvSpPr>
            <a:spLocks noGrp="1"/>
          </p:cNvSpPr>
          <p:nvPr>
            <p:ph type="sldNum" sz="quarter" idx="10"/>
          </p:nvPr>
        </p:nvSpPr>
        <p:spPr/>
        <p:txBody>
          <a:bodyPr/>
          <a:lstStyle/>
          <a:p>
            <a:fld id="{CE66CADE-3FFD-420C-BDFF-C58106D168D0}" type="slidenum">
              <a:rPr kumimoji="1" lang="ja-JP" altLang="en-US" smtClean="0"/>
              <a:t>7</a:t>
            </a:fld>
            <a:endParaRPr kumimoji="1" lang="ja-JP" altLang="en-US"/>
          </a:p>
        </p:txBody>
      </p:sp>
    </p:spTree>
    <p:extLst>
      <p:ext uri="{BB962C8B-B14F-4D97-AF65-F5344CB8AC3E}">
        <p14:creationId xmlns:p14="http://schemas.microsoft.com/office/powerpoint/2010/main" val="1407060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26029-E84B-6662-AC24-04AEFB9357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C751A6-8F58-A5DF-89C1-2A33F5188E31}"/>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68EA0261-4AC4-924F-7685-D3FD7068802E}"/>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これもサイバーコネクトツー様が公開していた情報なのですが、</a:t>
            </a:r>
            <a:r>
              <a:rPr kumimoji="1" lang="en-US" altLang="ja-JP" sz="1200" kern="1200" dirty="0">
                <a:solidFill>
                  <a:schemeClr val="tx1"/>
                </a:solidFill>
                <a:effectLst/>
                <a:latin typeface="+mn-lt"/>
                <a:ea typeface="+mn-ea"/>
                <a:cs typeface="+mn-cs"/>
              </a:rPr>
              <a:t>6000</a:t>
            </a:r>
            <a:r>
              <a:rPr kumimoji="1" lang="ja-JP" altLang="en-US" sz="1200" kern="1200" dirty="0">
                <a:solidFill>
                  <a:schemeClr val="tx1"/>
                </a:solidFill>
                <a:effectLst/>
                <a:latin typeface="+mn-lt"/>
                <a:ea typeface="+mn-ea"/>
                <a:cs typeface="+mn-cs"/>
              </a:rPr>
              <a:t>件越えの応募があったとして</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すべての選考フローを突破して合格できた人は全体の</a:t>
            </a:r>
            <a:r>
              <a:rPr kumimoji="1" lang="en-US" altLang="ja-JP" sz="1200" kern="1200" dirty="0">
                <a:solidFill>
                  <a:schemeClr val="tx1"/>
                </a:solidFill>
                <a:effectLst/>
                <a:latin typeface="+mn-lt"/>
                <a:ea typeface="+mn-ea"/>
                <a:cs typeface="+mn-cs"/>
              </a:rPr>
              <a:t>1.9</a:t>
            </a:r>
            <a:r>
              <a:rPr kumimoji="1" lang="ja-JP" altLang="en-US" sz="1200" kern="1200" dirty="0">
                <a:solidFill>
                  <a:schemeClr val="tx1"/>
                </a:solidFill>
                <a:effectLst/>
                <a:latin typeface="+mn-lt"/>
                <a:ea typeface="+mn-ea"/>
                <a:cs typeface="+mn-cs"/>
              </a:rPr>
              <a:t>％だそうです。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このようにゲーム業界に入るにはかなりの努力が必要になります。</a:t>
            </a:r>
            <a:endParaRPr kumimoji="1" lang="en-US" altLang="ja-JP" sz="1200" kern="1200" dirty="0">
              <a:solidFill>
                <a:schemeClr val="tx1"/>
              </a:solidFill>
              <a:effectLst/>
              <a:latin typeface="+mn-lt"/>
              <a:ea typeface="+mn-ea"/>
              <a:cs typeface="+mn-cs"/>
            </a:endParaRPr>
          </a:p>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E370B6C3-1CE8-0897-7BEF-5FC87A08E5B0}"/>
              </a:ext>
            </a:extLst>
          </p:cNvPr>
          <p:cNvSpPr>
            <a:spLocks noGrp="1"/>
          </p:cNvSpPr>
          <p:nvPr>
            <p:ph type="sldNum" sz="quarter" idx="10"/>
          </p:nvPr>
        </p:nvSpPr>
        <p:spPr/>
        <p:txBody>
          <a:bodyPr/>
          <a:lstStyle/>
          <a:p>
            <a:fld id="{CE66CADE-3FFD-420C-BDFF-C58106D168D0}" type="slidenum">
              <a:rPr kumimoji="1" lang="ja-JP" altLang="en-US" smtClean="0"/>
              <a:t>8</a:t>
            </a:fld>
            <a:endParaRPr kumimoji="1" lang="ja-JP" altLang="en-US"/>
          </a:p>
        </p:txBody>
      </p:sp>
    </p:spTree>
    <p:extLst>
      <p:ext uri="{BB962C8B-B14F-4D97-AF65-F5344CB8AC3E}">
        <p14:creationId xmlns:p14="http://schemas.microsoft.com/office/powerpoint/2010/main" val="3763147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22AD1-D8BE-2D77-90EC-8F2BB413293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35B623-37A5-7BF3-CD19-B15171F542B0}"/>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7D07B1DD-721B-3203-C43F-AF13E75CF565}"/>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何でここまで合格率が低いのかを簡単にまとめると</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こちらの</a:t>
            </a:r>
            <a:r>
              <a:rPr kumimoji="1" lang="en-US" altLang="ja-JP" sz="1200" kern="1200" dirty="0">
                <a:solidFill>
                  <a:schemeClr val="tx1"/>
                </a:solidFill>
                <a:effectLst/>
                <a:latin typeface="+mn-lt"/>
                <a:ea typeface="+mn-ea"/>
                <a:cs typeface="+mn-cs"/>
              </a:rPr>
              <a:t>4</a:t>
            </a:r>
            <a:r>
              <a:rPr kumimoji="1" lang="ja-JP" altLang="en-US" sz="1200" kern="1200" dirty="0">
                <a:solidFill>
                  <a:schemeClr val="tx1"/>
                </a:solidFill>
                <a:effectLst/>
                <a:latin typeface="+mn-lt"/>
                <a:ea typeface="+mn-ea"/>
                <a:cs typeface="+mn-cs"/>
              </a:rPr>
              <a:t>つの要素があります。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「志望者がめちゃくちゃ多い」</a:t>
            </a:r>
            <a:endParaRPr kumimoji="1" lang="en-US" altLang="ja-JP" sz="1200" kern="1200" dirty="0">
              <a:solidFill>
                <a:schemeClr val="tx1"/>
              </a:solidFill>
              <a:effectLst/>
              <a:latin typeface="+mn-lt"/>
              <a:ea typeface="+mn-ea"/>
              <a:cs typeface="+mn-cs"/>
            </a:endParaRPr>
          </a:p>
          <a:p>
            <a:r>
              <a:rPr lang="ja-JP" altLang="en-US" dirty="0"/>
              <a:t>ゲームは好きな人が多いので、</a:t>
            </a:r>
            <a:br>
              <a:rPr lang="ja-JP" altLang="en-US" dirty="0"/>
            </a:br>
            <a:r>
              <a:rPr lang="en-US" altLang="ja-JP" dirty="0"/>
              <a:t>1</a:t>
            </a:r>
            <a:r>
              <a:rPr lang="ja-JP" altLang="en-US" dirty="0"/>
              <a:t>つの企業に対して何百</a:t>
            </a:r>
            <a:r>
              <a:rPr lang="en-US" altLang="ja-JP" dirty="0"/>
              <a:t>〜</a:t>
            </a:r>
            <a:r>
              <a:rPr lang="ja-JP" altLang="en-US" dirty="0"/>
              <a:t>何千人も応募します。</a:t>
            </a:r>
            <a:endParaRPr lang="en-US" altLang="ja-JP" dirty="0"/>
          </a:p>
          <a:p>
            <a:r>
              <a:rPr kumimoji="1" lang="ja-JP" altLang="en-US" sz="1200" kern="1200" dirty="0">
                <a:solidFill>
                  <a:schemeClr val="tx1"/>
                </a:solidFill>
                <a:effectLst/>
                <a:latin typeface="+mn-lt"/>
                <a:ea typeface="+mn-ea"/>
                <a:cs typeface="+mn-cs"/>
              </a:rPr>
              <a:t>「好きだけでは通用しない」</a:t>
            </a:r>
            <a:endParaRPr kumimoji="1" lang="en-US" altLang="ja-JP" sz="1200" kern="1200" dirty="0">
              <a:solidFill>
                <a:schemeClr val="tx1"/>
              </a:solidFill>
              <a:effectLst/>
              <a:latin typeface="+mn-lt"/>
              <a:ea typeface="+mn-ea"/>
              <a:cs typeface="+mn-cs"/>
            </a:endParaRPr>
          </a:p>
          <a:p>
            <a:r>
              <a:rPr lang="ja-JP" altLang="en-US" dirty="0"/>
              <a:t>企業側は「ゲームが好き」な人ではなく、</a:t>
            </a:r>
            <a:br>
              <a:rPr lang="ja-JP" altLang="en-US" dirty="0"/>
            </a:br>
            <a:r>
              <a:rPr lang="ja-JP" altLang="en-US" b="0" dirty="0"/>
              <a:t>“ゲームを作れる人” </a:t>
            </a:r>
            <a:r>
              <a:rPr lang="ja-JP" altLang="en-US" dirty="0"/>
              <a:t>を求めています。</a:t>
            </a:r>
            <a:endParaRPr lang="en-US" altLang="ja-JP" dirty="0"/>
          </a:p>
          <a:p>
            <a:r>
              <a:rPr kumimoji="1" lang="ja-JP" altLang="en-US" sz="1200" kern="1200" dirty="0">
                <a:solidFill>
                  <a:schemeClr val="tx1"/>
                </a:solidFill>
                <a:effectLst/>
                <a:latin typeface="+mn-lt"/>
                <a:ea typeface="+mn-ea"/>
                <a:cs typeface="+mn-cs"/>
              </a:rPr>
              <a:t>「職種ごとの専門性が高い」</a:t>
            </a:r>
            <a:endParaRPr kumimoji="1" lang="en-US" altLang="ja-JP" sz="1200" kern="1200" dirty="0">
              <a:solidFill>
                <a:schemeClr val="tx1"/>
              </a:solidFill>
              <a:effectLst/>
              <a:latin typeface="+mn-lt"/>
              <a:ea typeface="+mn-ea"/>
              <a:cs typeface="+mn-cs"/>
            </a:endParaRPr>
          </a:p>
          <a:p>
            <a:r>
              <a:rPr lang="ja-JP" altLang="en-US" dirty="0"/>
              <a:t>プログラマー（</a:t>
            </a:r>
            <a:r>
              <a:rPr lang="en-US" altLang="ja-JP" dirty="0"/>
              <a:t>AI</a:t>
            </a:r>
            <a:r>
              <a:rPr lang="ja-JP" altLang="en-US" dirty="0"/>
              <a:t>、描画、ネットワークなど細分化） </a:t>
            </a:r>
          </a:p>
          <a:p>
            <a:r>
              <a:rPr lang="ja-JP" altLang="en-US" dirty="0"/>
              <a:t>デザイナー（</a:t>
            </a:r>
            <a:r>
              <a:rPr lang="en-US" altLang="ja-JP" dirty="0"/>
              <a:t>3D</a:t>
            </a:r>
            <a:r>
              <a:rPr lang="ja-JP" altLang="en-US" dirty="0"/>
              <a:t>、</a:t>
            </a:r>
            <a:r>
              <a:rPr lang="en-US" altLang="ja-JP" dirty="0"/>
              <a:t>UI</a:t>
            </a:r>
            <a:r>
              <a:rPr lang="ja-JP" altLang="en-US" dirty="0"/>
              <a:t>、モーションなど） </a:t>
            </a:r>
          </a:p>
          <a:p>
            <a:r>
              <a:rPr lang="ja-JP" altLang="en-US" dirty="0"/>
              <a:t>プランナー  </a:t>
            </a:r>
            <a:r>
              <a:rPr lang="en-US" altLang="ja-JP" dirty="0"/>
              <a:t>(</a:t>
            </a:r>
            <a:r>
              <a:rPr lang="ja-JP" altLang="en-US" dirty="0"/>
              <a:t>アイデア、トレンド理解</a:t>
            </a:r>
            <a:r>
              <a:rPr lang="en-US" altLang="ja-JP" dirty="0"/>
              <a:t>)</a:t>
            </a:r>
            <a:endParaRPr lang="ja-JP" altLang="en-US" dirty="0"/>
          </a:p>
          <a:p>
            <a:r>
              <a:rPr lang="en-US" altLang="ja-JP" b="0" dirty="0"/>
              <a:t>“</a:t>
            </a:r>
            <a:r>
              <a:rPr lang="ja-JP" altLang="en-US" b="0" dirty="0"/>
              <a:t>何でもできます</a:t>
            </a:r>
            <a:r>
              <a:rPr lang="en-US" altLang="ja-JP" b="0" dirty="0"/>
              <a:t>”</a:t>
            </a:r>
            <a:r>
              <a:rPr lang="ja-JP" altLang="en-US" b="0" dirty="0"/>
              <a:t>より</a:t>
            </a:r>
            <a:r>
              <a:rPr lang="en-US" altLang="ja-JP" b="0" dirty="0"/>
              <a:t>”</a:t>
            </a:r>
            <a:r>
              <a:rPr lang="ja-JP" altLang="en-US" b="0" dirty="0"/>
              <a:t>これが強い</a:t>
            </a:r>
            <a:r>
              <a:rPr lang="en-US" altLang="ja-JP" b="0" dirty="0"/>
              <a:t>”</a:t>
            </a:r>
            <a:r>
              <a:rPr lang="ja-JP" altLang="en-US" b="0" dirty="0"/>
              <a:t>が必要となってきます。</a:t>
            </a:r>
            <a:endParaRPr lang="en-US" altLang="ja-JP" b="0" dirty="0"/>
          </a:p>
          <a:p>
            <a:r>
              <a:rPr lang="ja-JP" altLang="en-US" b="0" dirty="0"/>
              <a:t>「トレンドの変化が激しい」</a:t>
            </a:r>
            <a:endParaRPr lang="en-US" altLang="ja-JP" b="0" dirty="0"/>
          </a:p>
          <a:p>
            <a:r>
              <a:rPr lang="ja-JP" altLang="en-US" b="0" dirty="0"/>
              <a:t>最近だと</a:t>
            </a:r>
            <a:r>
              <a:rPr lang="en-US" altLang="ja-JP" b="0" dirty="0"/>
              <a:t>AI</a:t>
            </a:r>
            <a:r>
              <a:rPr lang="ja-JP" altLang="en-US" b="0" dirty="0"/>
              <a:t>の話題はゲームに限らず注目されています。</a:t>
            </a:r>
            <a:endParaRPr lang="en-US" altLang="ja-JP" b="0" dirty="0"/>
          </a:p>
          <a:p>
            <a:r>
              <a:rPr lang="ja-JP" altLang="en-US" b="0" dirty="0"/>
              <a:t>常に新しいテクノロジーに目を向け勉強し続ける姿勢が大事です。</a:t>
            </a:r>
          </a:p>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6B503DA4-7DCE-D3ED-BA86-5CCFA8B702F0}"/>
              </a:ext>
            </a:extLst>
          </p:cNvPr>
          <p:cNvSpPr>
            <a:spLocks noGrp="1"/>
          </p:cNvSpPr>
          <p:nvPr>
            <p:ph type="sldNum" sz="quarter" idx="10"/>
          </p:nvPr>
        </p:nvSpPr>
        <p:spPr/>
        <p:txBody>
          <a:bodyPr/>
          <a:lstStyle/>
          <a:p>
            <a:fld id="{CE66CADE-3FFD-420C-BDFF-C58106D168D0}" type="slidenum">
              <a:rPr kumimoji="1" lang="ja-JP" altLang="en-US" smtClean="0"/>
              <a:t>9</a:t>
            </a:fld>
            <a:endParaRPr kumimoji="1" lang="ja-JP" altLang="en-US"/>
          </a:p>
        </p:txBody>
      </p:sp>
    </p:spTree>
    <p:extLst>
      <p:ext uri="{BB962C8B-B14F-4D97-AF65-F5344CB8AC3E}">
        <p14:creationId xmlns:p14="http://schemas.microsoft.com/office/powerpoint/2010/main" val="15688829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B162-1DB4-8F41-BFFF-48C506961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450102D-4C77-6630-89B7-20039590A04B}"/>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62C3793E-0FE4-AC6E-5BAC-2897C1654B11}"/>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そんなゲーム業界になんで目指そうと思ったのか、皆さんも何かしら目指そうと思ったきっかけってありますよね？</a:t>
            </a:r>
            <a:br>
              <a:rPr kumimoji="1" lang="en-US" altLang="ja-JP" sz="1200" kern="1200" dirty="0">
                <a:solidFill>
                  <a:schemeClr val="tx1"/>
                </a:solidFill>
                <a:effectLst/>
                <a:latin typeface="+mn-lt"/>
                <a:ea typeface="+mn-ea"/>
                <a:cs typeface="+mn-cs"/>
              </a:rPr>
            </a:br>
            <a:r>
              <a:rPr kumimoji="1" lang="ja-JP" altLang="en-US" sz="1200" kern="1200" dirty="0">
                <a:solidFill>
                  <a:schemeClr val="tx1"/>
                </a:solidFill>
                <a:effectLst/>
                <a:latin typeface="+mn-lt"/>
                <a:ea typeface="+mn-ea"/>
                <a:cs typeface="+mn-cs"/>
              </a:rPr>
              <a:t>今回はトークショーということもあるので、</a:t>
            </a:r>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人がなぜ目指したのかを聞いていきたいと思います。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～このスライドのまま、</a:t>
            </a:r>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人でトーク～</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4E08110-AD9D-DCE5-84BB-091D8FA5F690}"/>
              </a:ext>
            </a:extLst>
          </p:cNvPr>
          <p:cNvSpPr>
            <a:spLocks noGrp="1"/>
          </p:cNvSpPr>
          <p:nvPr>
            <p:ph type="sldNum" sz="quarter" idx="10"/>
          </p:nvPr>
        </p:nvSpPr>
        <p:spPr/>
        <p:txBody>
          <a:bodyPr/>
          <a:lstStyle/>
          <a:p>
            <a:fld id="{CE66CADE-3FFD-420C-BDFF-C58106D168D0}" type="slidenum">
              <a:rPr kumimoji="1" lang="ja-JP" altLang="en-US" smtClean="0"/>
              <a:t>10</a:t>
            </a:fld>
            <a:endParaRPr kumimoji="1" lang="ja-JP" altLang="en-US"/>
          </a:p>
        </p:txBody>
      </p:sp>
    </p:spTree>
    <p:extLst>
      <p:ext uri="{BB962C8B-B14F-4D97-AF65-F5344CB8AC3E}">
        <p14:creationId xmlns:p14="http://schemas.microsoft.com/office/powerpoint/2010/main" val="2711627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5239E-6840-467F-0B2A-CA31C8369C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ABBFAF-EB05-75EE-0CDA-F7485A0E4172}"/>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1D95C429-D2FE-3941-B76A-BBC942408F41}"/>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ただ何を努力していけばいいかわからないという人が大半だと思うので、何を努力すればいいか分からないですよね？</a:t>
            </a:r>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人がどう頑張って就職できたのか、就活に向けて準備したことを聞いていきましょう。</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～このスライドのまま、</a:t>
            </a:r>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人でトーク～</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AAD9D1E6-3E91-DB23-1C13-974B22B5DA37}"/>
              </a:ext>
            </a:extLst>
          </p:cNvPr>
          <p:cNvSpPr>
            <a:spLocks noGrp="1"/>
          </p:cNvSpPr>
          <p:nvPr>
            <p:ph type="sldNum" sz="quarter" idx="10"/>
          </p:nvPr>
        </p:nvSpPr>
        <p:spPr/>
        <p:txBody>
          <a:bodyPr/>
          <a:lstStyle/>
          <a:p>
            <a:fld id="{CE66CADE-3FFD-420C-BDFF-C58106D168D0}" type="slidenum">
              <a:rPr kumimoji="1" lang="ja-JP" altLang="en-US" smtClean="0"/>
              <a:t>11</a:t>
            </a:fld>
            <a:endParaRPr kumimoji="1" lang="ja-JP" altLang="en-US"/>
          </a:p>
        </p:txBody>
      </p:sp>
    </p:spTree>
    <p:extLst>
      <p:ext uri="{BB962C8B-B14F-4D97-AF65-F5344CB8AC3E}">
        <p14:creationId xmlns:p14="http://schemas.microsoft.com/office/powerpoint/2010/main" val="1168957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439FE-33F5-C976-D447-E6BE92AF9E8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683C18-3778-8B4A-CA02-191D0D597F21}"/>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768CDA67-9447-04AF-AB7C-42E6CCB0A2BD}"/>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では、就活に向けての準備は分かったということで、頑張るぞ！</a:t>
            </a:r>
            <a:r>
              <a:rPr kumimoji="1" lang="en-US" altLang="ja-JP" sz="1200" kern="1200" dirty="0">
                <a:solidFill>
                  <a:schemeClr val="tx1"/>
                </a:solidFill>
                <a:effectLst/>
                <a:latin typeface="+mn-lt"/>
                <a:ea typeface="+mn-ea"/>
                <a:cs typeface="+mn-cs"/>
              </a:rPr>
              <a:t>……</a:t>
            </a:r>
            <a:r>
              <a:rPr kumimoji="1" lang="ja-JP" altLang="en-US" sz="1200" kern="1200" dirty="0">
                <a:solidFill>
                  <a:schemeClr val="tx1"/>
                </a:solidFill>
                <a:effectLst/>
                <a:latin typeface="+mn-lt"/>
                <a:ea typeface="+mn-ea"/>
                <a:cs typeface="+mn-cs"/>
              </a:rPr>
              <a:t>と言いたいところですが、</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「それって出来るの専門学校入った後じゃん、今は何をしたらいいの」ってなったかもしれません。</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と言うことで今からできることって何かあります？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～このスライドのまま、</a:t>
            </a:r>
            <a:r>
              <a:rPr kumimoji="1" lang="en-US" altLang="ja-JP" sz="1200" kern="1200" dirty="0">
                <a:solidFill>
                  <a:schemeClr val="tx1"/>
                </a:solidFill>
                <a:effectLst/>
                <a:latin typeface="+mn-lt"/>
                <a:ea typeface="+mn-ea"/>
                <a:cs typeface="+mn-cs"/>
              </a:rPr>
              <a:t>2</a:t>
            </a:r>
            <a:r>
              <a:rPr kumimoji="1" lang="ja-JP" altLang="en-US" sz="1200" kern="1200" dirty="0">
                <a:solidFill>
                  <a:schemeClr val="tx1"/>
                </a:solidFill>
                <a:effectLst/>
                <a:latin typeface="+mn-lt"/>
                <a:ea typeface="+mn-ea"/>
                <a:cs typeface="+mn-cs"/>
              </a:rPr>
              <a:t>人でトーク～</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99AFCB7B-4A84-18D8-9ACC-6FBA8CA3BC8A}"/>
              </a:ext>
            </a:extLst>
          </p:cNvPr>
          <p:cNvSpPr>
            <a:spLocks noGrp="1"/>
          </p:cNvSpPr>
          <p:nvPr>
            <p:ph type="sldNum" sz="quarter" idx="10"/>
          </p:nvPr>
        </p:nvSpPr>
        <p:spPr/>
        <p:txBody>
          <a:bodyPr/>
          <a:lstStyle/>
          <a:p>
            <a:fld id="{CE66CADE-3FFD-420C-BDFF-C58106D168D0}" type="slidenum">
              <a:rPr kumimoji="1" lang="ja-JP" altLang="en-US" smtClean="0"/>
              <a:t>12</a:t>
            </a:fld>
            <a:endParaRPr kumimoji="1" lang="ja-JP" altLang="en-US"/>
          </a:p>
        </p:txBody>
      </p:sp>
    </p:spTree>
    <p:extLst>
      <p:ext uri="{BB962C8B-B14F-4D97-AF65-F5344CB8AC3E}">
        <p14:creationId xmlns:p14="http://schemas.microsoft.com/office/powerpoint/2010/main" val="30956851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D0118-459E-3C23-7262-945511D7E8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05365B-0DDE-770B-3B26-43ACE579F9A4}"/>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B5D1627B-FA57-8603-368B-2BEC9E2681A8}"/>
              </a:ext>
            </a:extLst>
          </p:cNvPr>
          <p:cNvSpPr>
            <a:spLocks noGrp="1"/>
          </p:cNvSpPr>
          <p:nvPr>
            <p:ph type="body" idx="1"/>
          </p:nvPr>
        </p:nvSpPr>
        <p:spPr/>
        <p:txBody>
          <a:bodyPr/>
          <a:lstStyle/>
          <a:p>
            <a:r>
              <a:rPr kumimoji="1" lang="ja-JP" altLang="en-US" dirty="0"/>
              <a:t>最後に学校選びが大切なことについて話していきます。</a:t>
            </a:r>
            <a:endParaRPr kumimoji="1" lang="en-US" altLang="ja-JP" dirty="0"/>
          </a:p>
          <a:p>
            <a:endParaRPr kumimoji="1" lang="en-US" altLang="ja-JP" dirty="0"/>
          </a:p>
          <a:p>
            <a:r>
              <a:rPr kumimoji="1" lang="ja-JP" altLang="en-US" dirty="0"/>
              <a:t>正直ここら辺の話は学校側からお願いされた部分ではあるんですけどちゃんと自分の考えを話していきたいと思います。</a:t>
            </a:r>
            <a:endParaRPr kumimoji="1" lang="en-US" altLang="ja-JP" dirty="0"/>
          </a:p>
          <a:p>
            <a:r>
              <a:rPr kumimoji="1" lang="ja-JP" altLang="en-US" dirty="0"/>
              <a:t>これまで話したようにゲーム業界に入るのはめちゃくちゃ大変です。</a:t>
            </a:r>
            <a:endParaRPr kumimoji="1" lang="en-US" altLang="ja-JP" dirty="0"/>
          </a:p>
          <a:p>
            <a:r>
              <a:rPr kumimoji="1" lang="ja-JP" altLang="en-US" dirty="0"/>
              <a:t>なので、ちゃんとゲーム業界に向けて努力していかないといけません。ただやっていくとほんとにこの方向性で努力していいのかって心配になるときがあります。そんな時にしっかり頼れる先生がいればしっかり努力の方向性を整えてくれてやる気ＭＡＸで努力できる環境があることは大事なので学校選びはちゃんとし他方がいいです。</a:t>
            </a:r>
            <a:endParaRPr kumimoji="1" lang="en-US" altLang="ja-JP" dirty="0"/>
          </a:p>
          <a:p>
            <a:r>
              <a:rPr kumimoji="1" lang="ja-JP" altLang="en-US" dirty="0"/>
              <a:t>自分は心の底からこの学校に入学してよかったと思っているのでお勧めです。</a:t>
            </a:r>
            <a:endParaRPr kumimoji="1" lang="en-US" altLang="ja-JP" dirty="0"/>
          </a:p>
          <a:p>
            <a:endParaRPr kumimoji="1" lang="en-US" altLang="ja-JP" dirty="0"/>
          </a:p>
          <a:p>
            <a:r>
              <a:rPr kumimoji="1" lang="ja-JP" altLang="en-US" dirty="0"/>
              <a:t>ちょっと適当に付け加えてしまうんですけど</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大原学園の学校は専門課程の就職率</a:t>
            </a:r>
            <a:r>
              <a:rPr kumimoji="1" lang="en-US" altLang="ja-JP" dirty="0"/>
              <a:t>99.6</a:t>
            </a:r>
            <a:r>
              <a:rPr kumimoji="1" lang="ja-JP" altLang="en-US" dirty="0"/>
              <a:t>％</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なんで安心して進学していいと思います。</a:t>
            </a:r>
            <a:endParaRPr kumimoji="1" lang="en-US" altLang="ja-JP" dirty="0"/>
          </a:p>
          <a:p>
            <a:endParaRPr kumimoji="1" lang="en-US" altLang="ja-JP" dirty="0"/>
          </a:p>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A925F8EA-7157-D4EE-21E2-ED6D8F80922B}"/>
              </a:ext>
            </a:extLst>
          </p:cNvPr>
          <p:cNvSpPr>
            <a:spLocks noGrp="1"/>
          </p:cNvSpPr>
          <p:nvPr>
            <p:ph type="sldNum" sz="quarter" idx="10"/>
          </p:nvPr>
        </p:nvSpPr>
        <p:spPr/>
        <p:txBody>
          <a:bodyPr/>
          <a:lstStyle/>
          <a:p>
            <a:fld id="{CE66CADE-3FFD-420C-BDFF-C58106D168D0}" type="slidenum">
              <a:rPr kumimoji="1" lang="ja-JP" altLang="en-US" smtClean="0"/>
              <a:t>13</a:t>
            </a:fld>
            <a:endParaRPr kumimoji="1" lang="ja-JP" altLang="en-US"/>
          </a:p>
        </p:txBody>
      </p:sp>
    </p:spTree>
    <p:extLst>
      <p:ext uri="{BB962C8B-B14F-4D97-AF65-F5344CB8AC3E}">
        <p14:creationId xmlns:p14="http://schemas.microsoft.com/office/powerpoint/2010/main" val="1461915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D441-3105-3C75-839F-416CB53A73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0DA852-350F-CF85-69E2-EF8BFF6B77A7}"/>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E18CB408-CBFB-03D9-2277-E380D700E200}"/>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ご清聴ありがとうございました！</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では今から質疑応答に移ります。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何か質問はありませんか。</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89D429F0-6CF7-5AB2-ED3D-421232ADF994}"/>
              </a:ext>
            </a:extLst>
          </p:cNvPr>
          <p:cNvSpPr>
            <a:spLocks noGrp="1"/>
          </p:cNvSpPr>
          <p:nvPr>
            <p:ph type="sldNum" sz="quarter" idx="10"/>
          </p:nvPr>
        </p:nvSpPr>
        <p:spPr/>
        <p:txBody>
          <a:bodyPr/>
          <a:lstStyle/>
          <a:p>
            <a:fld id="{CE66CADE-3FFD-420C-BDFF-C58106D168D0}" type="slidenum">
              <a:rPr kumimoji="1" lang="ja-JP" altLang="en-US" smtClean="0"/>
              <a:t>14</a:t>
            </a:fld>
            <a:endParaRPr kumimoji="1" lang="ja-JP" altLang="en-US"/>
          </a:p>
        </p:txBody>
      </p:sp>
    </p:spTree>
    <p:extLst>
      <p:ext uri="{BB962C8B-B14F-4D97-AF65-F5344CB8AC3E}">
        <p14:creationId xmlns:p14="http://schemas.microsoft.com/office/powerpoint/2010/main" val="492203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75977-F98F-FF6C-4D71-58EC0BAB42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97987C-C2BC-B8BA-7EC6-1BCA96408002}"/>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41E85531-A2E9-7427-BA70-BD900AA77B6E}"/>
              </a:ext>
            </a:extLst>
          </p:cNvPr>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14DD8F4D-6627-5F56-091E-1B6EB6EF4D2B}"/>
              </a:ext>
            </a:extLst>
          </p:cNvPr>
          <p:cNvSpPr>
            <a:spLocks noGrp="1"/>
          </p:cNvSpPr>
          <p:nvPr>
            <p:ph type="sldNum" sz="quarter" idx="10"/>
          </p:nvPr>
        </p:nvSpPr>
        <p:spPr/>
        <p:txBody>
          <a:bodyPr/>
          <a:lstStyle/>
          <a:p>
            <a:fld id="{CE66CADE-3FFD-420C-BDFF-C58106D168D0}" type="slidenum">
              <a:rPr kumimoji="1" lang="ja-JP" altLang="en-US" smtClean="0"/>
              <a:t>15</a:t>
            </a:fld>
            <a:endParaRPr kumimoji="1" lang="ja-JP" altLang="en-US"/>
          </a:p>
        </p:txBody>
      </p:sp>
    </p:spTree>
    <p:extLst>
      <p:ext uri="{BB962C8B-B14F-4D97-AF65-F5344CB8AC3E}">
        <p14:creationId xmlns:p14="http://schemas.microsoft.com/office/powerpoint/2010/main" val="38188893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grpSp>
        <p:nvGrpSpPr>
          <p:cNvPr id="7" name="グループ化 6"/>
          <p:cNvGrpSpPr/>
          <p:nvPr userDrawn="1"/>
        </p:nvGrpSpPr>
        <p:grpSpPr>
          <a:xfrm>
            <a:off x="0" y="0"/>
            <a:ext cx="12244497" cy="6858000"/>
            <a:chOff x="-1" y="0"/>
            <a:chExt cx="9183373" cy="6858000"/>
          </a:xfrm>
        </p:grpSpPr>
        <p:pic>
          <p:nvPicPr>
            <p:cNvPr id="8" name="図 7"/>
            <p:cNvPicPr>
              <a:picLocks noChangeAspect="1"/>
            </p:cNvPicPr>
            <p:nvPr/>
          </p:nvPicPr>
          <p:blipFill>
            <a:blip r:embed="rId2"/>
            <a:stretch>
              <a:fillRect/>
            </a:stretch>
          </p:blipFill>
          <p:spPr>
            <a:xfrm>
              <a:off x="-1" y="0"/>
              <a:ext cx="9183373" cy="5393410"/>
            </a:xfrm>
            <a:prstGeom prst="rect">
              <a:avLst/>
            </a:prstGeom>
          </p:spPr>
        </p:pic>
        <p:pic>
          <p:nvPicPr>
            <p:cNvPr id="9" name="図 8"/>
            <p:cNvPicPr>
              <a:picLocks noChangeAspect="1"/>
            </p:cNvPicPr>
            <p:nvPr/>
          </p:nvPicPr>
          <p:blipFill>
            <a:blip r:embed="rId3"/>
            <a:stretch>
              <a:fillRect/>
            </a:stretch>
          </p:blipFill>
          <p:spPr>
            <a:xfrm>
              <a:off x="0" y="5393410"/>
              <a:ext cx="9183372" cy="1464590"/>
            </a:xfrm>
            <a:prstGeom prst="rect">
              <a:avLst/>
            </a:prstGeom>
          </p:spPr>
        </p:pic>
      </p:grpSp>
    </p:spTree>
    <p:extLst>
      <p:ext uri="{BB962C8B-B14F-4D97-AF65-F5344CB8AC3E}">
        <p14:creationId xmlns:p14="http://schemas.microsoft.com/office/powerpoint/2010/main" val="1383411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dirty="0"/>
          </a:p>
        </p:txBody>
      </p:sp>
      <p:sp>
        <p:nvSpPr>
          <p:cNvPr id="5" name="Footer Placeholder 4"/>
          <p:cNvSpPr>
            <a:spLocks noGrp="1"/>
          </p:cNvSpPr>
          <p:nvPr>
            <p:ph type="ftr" sz="quarter" idx="11"/>
          </p:nvPr>
        </p:nvSpPr>
        <p:spPr/>
        <p:txBody>
          <a:bodyPr/>
          <a:lstStyle/>
          <a:p>
            <a:endParaRPr kumimoji="1" lang="ja-JP" altLang="en-US" dirty="0"/>
          </a:p>
        </p:txBody>
      </p:sp>
      <p:sp>
        <p:nvSpPr>
          <p:cNvPr id="6" name="Slide Number Placeholder 5"/>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162051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387027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90585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063375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79254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472036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968066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578469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55434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2026/4/14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684174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B8B81F-3E1C-4EDB-A504-42CFA5967A65}" type="datetimeFigureOut">
              <a:rPr kumimoji="1" lang="ja-JP" altLang="en-US" smtClean="0"/>
              <a:t>2026/4/14</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23546173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E174EEE1-54E2-4FE0-A8E2-55FCBCAE26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8" y="0"/>
            <a:ext cx="12191999" cy="6858000"/>
          </a:xfrm>
          <a:prstGeom prst="rect">
            <a:avLst/>
          </a:prstGeom>
        </p:spPr>
      </p:pic>
      <p:sp>
        <p:nvSpPr>
          <p:cNvPr id="9" name="テキスト ボックス 8"/>
          <p:cNvSpPr txBox="1"/>
          <p:nvPr/>
        </p:nvSpPr>
        <p:spPr>
          <a:xfrm>
            <a:off x="8216541" y="2367415"/>
            <a:ext cx="2595582" cy="1107996"/>
          </a:xfrm>
          <a:prstGeom prst="rect">
            <a:avLst/>
          </a:prstGeom>
          <a:noFill/>
        </p:spPr>
        <p:txBody>
          <a:bodyPr wrap="none" rtlCol="0">
            <a:spAutoFit/>
          </a:bodyPr>
          <a:lstStyle/>
          <a:p>
            <a:r>
              <a:rPr kumimoji="1" lang="en-US" altLang="ja-JP" sz="6600" spc="300" dirty="0">
                <a:solidFill>
                  <a:schemeClr val="bg1"/>
                </a:solidFill>
                <a:latin typeface="Arial Black" panose="020B0A04020102020204" pitchFamily="34" charset="0"/>
              </a:rPr>
              <a:t>2026</a:t>
            </a:r>
            <a:endParaRPr kumimoji="1" lang="ja-JP" altLang="en-US" sz="6600" spc="300" dirty="0">
              <a:solidFill>
                <a:schemeClr val="bg1"/>
              </a:solidFill>
              <a:latin typeface="Arial Black" panose="020B0A04020102020204" pitchFamily="34" charset="0"/>
            </a:endParaRPr>
          </a:p>
        </p:txBody>
      </p:sp>
      <p:sp>
        <p:nvSpPr>
          <p:cNvPr id="6" name="テキスト ボックス 5">
            <a:extLst>
              <a:ext uri="{FF2B5EF4-FFF2-40B4-BE49-F238E27FC236}">
                <a16:creationId xmlns:a16="http://schemas.microsoft.com/office/drawing/2014/main" id="{7BCBE9A5-2681-4DCC-ABD4-50E12C356965}"/>
              </a:ext>
            </a:extLst>
          </p:cNvPr>
          <p:cNvSpPr txBox="1"/>
          <p:nvPr/>
        </p:nvSpPr>
        <p:spPr>
          <a:xfrm>
            <a:off x="6889254" y="3657600"/>
            <a:ext cx="5250155" cy="769441"/>
          </a:xfrm>
          <a:prstGeom prst="rect">
            <a:avLst/>
          </a:prstGeom>
          <a:noFill/>
        </p:spPr>
        <p:txBody>
          <a:bodyPr wrap="none" rtlCol="0">
            <a:spAutoFit/>
          </a:bodyPr>
          <a:lstStyle/>
          <a:p>
            <a:pPr algn="ctr"/>
            <a:r>
              <a:rPr kumimoji="1" lang="ja-JP" altLang="en-US" sz="4400" b="1" dirty="0">
                <a:ln w="12700">
                  <a:solidFill>
                    <a:schemeClr val="tx1"/>
                  </a:solidFill>
                </a:ln>
                <a:solidFill>
                  <a:srgbClr val="FFFF00"/>
                </a:solidFill>
                <a:latin typeface="HGP創英角ｺﾞｼｯｸUB" panose="020B0900000000000000" pitchFamily="50" charset="-128"/>
                <a:ea typeface="HGP創英角ｺﾞｼｯｸUB" panose="020B0900000000000000" pitchFamily="50" charset="-128"/>
              </a:rPr>
              <a:t>スペシャルトークショー</a:t>
            </a:r>
          </a:p>
        </p:txBody>
      </p:sp>
      <p:sp>
        <p:nvSpPr>
          <p:cNvPr id="10" name="テキスト ボックス 9">
            <a:extLst>
              <a:ext uri="{FF2B5EF4-FFF2-40B4-BE49-F238E27FC236}">
                <a16:creationId xmlns:a16="http://schemas.microsoft.com/office/drawing/2014/main" id="{468C3EE3-C20E-418D-B83F-FFEC56C33189}"/>
              </a:ext>
            </a:extLst>
          </p:cNvPr>
          <p:cNvSpPr txBox="1"/>
          <p:nvPr/>
        </p:nvSpPr>
        <p:spPr>
          <a:xfrm>
            <a:off x="8178872" y="4609230"/>
            <a:ext cx="2670924" cy="523220"/>
          </a:xfrm>
          <a:prstGeom prst="rect">
            <a:avLst/>
          </a:prstGeom>
          <a:noFill/>
        </p:spPr>
        <p:txBody>
          <a:bodyPr wrap="none" rtlCol="0">
            <a:spAutoFit/>
          </a:bodyPr>
          <a:lstStyle/>
          <a:p>
            <a:pPr algn="ctr"/>
            <a:r>
              <a:rPr kumimoji="1" lang="ja-JP" altLang="en-US" sz="2800" dirty="0">
                <a:ln>
                  <a:solidFill>
                    <a:schemeClr val="tx1"/>
                  </a:solidFill>
                </a:ln>
                <a:solidFill>
                  <a:srgbClr val="FFFF00"/>
                </a:solidFill>
                <a:latin typeface="HGP創英角ｺﾞｼｯｸUB" panose="020B0900000000000000" pitchFamily="50" charset="-128"/>
                <a:ea typeface="HGP創英角ｺﾞｼｯｸUB" panose="020B0900000000000000" pitchFamily="50" charset="-128"/>
              </a:rPr>
              <a:t>～就活虎の巻～</a:t>
            </a:r>
          </a:p>
        </p:txBody>
      </p:sp>
      <p:pic>
        <p:nvPicPr>
          <p:cNvPr id="1026" name="Picture 2" descr="コナミグループブランド | コナミグループ株式会社">
            <a:extLst>
              <a:ext uri="{FF2B5EF4-FFF2-40B4-BE49-F238E27FC236}">
                <a16:creationId xmlns:a16="http://schemas.microsoft.com/office/drawing/2014/main" id="{9CD42185-6A32-18D1-C885-BB3BA6A261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757" y="2396020"/>
            <a:ext cx="5676101" cy="42570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5CCD147F-469D-6FC1-C6A5-BC382C2CEE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4617" y="964261"/>
            <a:ext cx="3486379" cy="2217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300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テキスト ボックス 10"/>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目次</a:t>
            </a:r>
          </a:p>
        </p:txBody>
      </p:sp>
      <p:sp>
        <p:nvSpPr>
          <p:cNvPr id="13" name="テキスト ボックス 12">
            <a:extLst>
              <a:ext uri="{FF2B5EF4-FFF2-40B4-BE49-F238E27FC236}">
                <a16:creationId xmlns:a16="http://schemas.microsoft.com/office/drawing/2014/main" id="{4081985D-69F9-4443-9BF9-8041AC5F0AEB}"/>
              </a:ext>
            </a:extLst>
          </p:cNvPr>
          <p:cNvSpPr txBox="1"/>
          <p:nvPr/>
        </p:nvSpPr>
        <p:spPr>
          <a:xfrm flipH="1">
            <a:off x="453165" y="1189917"/>
            <a:ext cx="11285670" cy="3970318"/>
          </a:xfrm>
          <a:prstGeom prst="rect">
            <a:avLst/>
          </a:prstGeom>
          <a:noFill/>
        </p:spPr>
        <p:txBody>
          <a:bodyPr wrap="square" rtlCol="0">
            <a:spAutoFit/>
          </a:bodyPr>
          <a:lstStyle/>
          <a:p>
            <a:r>
              <a:rPr kumimoji="1" lang="en-US" altLang="ja-JP" sz="3600" b="1" dirty="0"/>
              <a:t>1.</a:t>
            </a:r>
            <a:r>
              <a:rPr kumimoji="1" lang="ja-JP" altLang="en-US" sz="3600" b="1" dirty="0"/>
              <a:t>自己紹介</a:t>
            </a:r>
            <a:endParaRPr kumimoji="1" lang="en-US" altLang="ja-JP" sz="3600" b="1" dirty="0"/>
          </a:p>
          <a:p>
            <a:r>
              <a:rPr kumimoji="1" lang="en-US" altLang="ja-JP" sz="3600" b="1" dirty="0"/>
              <a:t>2.</a:t>
            </a:r>
            <a:r>
              <a:rPr kumimoji="1" lang="ja-JP" altLang="en-US" sz="3600" b="1" dirty="0"/>
              <a:t>最近のゲーム業界について</a:t>
            </a:r>
            <a:endParaRPr kumimoji="1" lang="en-US" altLang="ja-JP" sz="3600" b="1" dirty="0"/>
          </a:p>
          <a:p>
            <a:r>
              <a:rPr kumimoji="1" lang="en-US" altLang="ja-JP" sz="3600" b="1" dirty="0"/>
              <a:t>3.</a:t>
            </a:r>
            <a:r>
              <a:rPr kumimoji="1" lang="ja-JP" altLang="en-US" sz="3600" b="1" dirty="0"/>
              <a:t>どうしてゲーム業界を目指したの？</a:t>
            </a:r>
            <a:endParaRPr kumimoji="1" lang="en-US" altLang="ja-JP" sz="3600" b="1" dirty="0"/>
          </a:p>
          <a:p>
            <a:r>
              <a:rPr kumimoji="1" lang="en-US" altLang="ja-JP" sz="3600" b="1" dirty="0"/>
              <a:t>4.</a:t>
            </a:r>
            <a:r>
              <a:rPr kumimoji="1" lang="ja-JP" altLang="en-US" sz="3600" b="1" dirty="0"/>
              <a:t>就活に向けて準備したこと</a:t>
            </a:r>
            <a:endParaRPr kumimoji="1" lang="en-US" altLang="ja-JP" sz="3600" b="1" dirty="0"/>
          </a:p>
          <a:p>
            <a:r>
              <a:rPr kumimoji="1" lang="en-US" altLang="ja-JP" sz="3600" b="1" dirty="0"/>
              <a:t>5.</a:t>
            </a:r>
            <a:r>
              <a:rPr kumimoji="1" lang="ja-JP" altLang="en-US" sz="3600" b="1" dirty="0"/>
              <a:t>今のうちからできること</a:t>
            </a:r>
            <a:endParaRPr kumimoji="1" lang="en-US" altLang="ja-JP" sz="3600" b="1" dirty="0"/>
          </a:p>
          <a:p>
            <a:r>
              <a:rPr kumimoji="1" lang="en-US" altLang="ja-JP" sz="3600" b="1" dirty="0"/>
              <a:t>6.</a:t>
            </a:r>
            <a:r>
              <a:rPr kumimoji="1" lang="ja-JP" altLang="en-US" sz="3600" b="1" dirty="0"/>
              <a:t>学校選びが大切</a:t>
            </a:r>
            <a:endParaRPr kumimoji="1" lang="en-US" altLang="ja-JP" sz="3600" b="1" dirty="0"/>
          </a:p>
          <a:p>
            <a:r>
              <a:rPr kumimoji="1" lang="en-US" altLang="ja-JP" sz="3600" b="1" dirty="0"/>
              <a:t>7.</a:t>
            </a:r>
            <a:r>
              <a:rPr kumimoji="1" lang="ja-JP" altLang="en-US" sz="3600" b="1" dirty="0"/>
              <a:t>質疑応答</a:t>
            </a:r>
            <a:endParaRPr kumimoji="1" lang="en-US" altLang="ja-JP" sz="3600" b="1" dirty="0"/>
          </a:p>
        </p:txBody>
      </p:sp>
    </p:spTree>
    <p:extLst>
      <p:ext uri="{BB962C8B-B14F-4D97-AF65-F5344CB8AC3E}">
        <p14:creationId xmlns:p14="http://schemas.microsoft.com/office/powerpoint/2010/main" val="3751773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3EEA366-C43E-F14F-2610-E2843C59719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85AD4D-86F3-9CEC-FFAE-B6B2E7E2F1AC}"/>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自己紹介</a:t>
            </a:r>
          </a:p>
        </p:txBody>
      </p:sp>
      <p:sp>
        <p:nvSpPr>
          <p:cNvPr id="3" name="テキスト ボックス 2">
            <a:extLst>
              <a:ext uri="{FF2B5EF4-FFF2-40B4-BE49-F238E27FC236}">
                <a16:creationId xmlns:a16="http://schemas.microsoft.com/office/drawing/2014/main" id="{B3287693-05BE-3155-D4BA-DCD1698E8F0B}"/>
              </a:ext>
            </a:extLst>
          </p:cNvPr>
          <p:cNvSpPr txBox="1"/>
          <p:nvPr/>
        </p:nvSpPr>
        <p:spPr>
          <a:xfrm>
            <a:off x="946005" y="1505550"/>
            <a:ext cx="5794409" cy="1323439"/>
          </a:xfrm>
          <a:prstGeom prst="rect">
            <a:avLst/>
          </a:prstGeom>
          <a:noFill/>
        </p:spPr>
        <p:txBody>
          <a:bodyPr wrap="square" rtlCol="0">
            <a:spAutoFit/>
          </a:bodyPr>
          <a:lstStyle/>
          <a:p>
            <a:r>
              <a:rPr kumimoji="1" lang="ja-JP" altLang="en-US" sz="4000" dirty="0"/>
              <a:t>名前　中平　悠希</a:t>
            </a:r>
            <a:br>
              <a:rPr kumimoji="1" lang="en-US" altLang="ja-JP" sz="4000" dirty="0"/>
            </a:br>
            <a:r>
              <a:rPr kumimoji="1" lang="ja-JP" altLang="en-US" sz="4000" dirty="0"/>
              <a:t>趣味　カラオケ</a:t>
            </a:r>
            <a:endParaRPr kumimoji="1" lang="en-US" altLang="ja-JP" sz="4000" dirty="0"/>
          </a:p>
        </p:txBody>
      </p:sp>
      <p:sp>
        <p:nvSpPr>
          <p:cNvPr id="9" name="テキスト ボックス 8">
            <a:extLst>
              <a:ext uri="{FF2B5EF4-FFF2-40B4-BE49-F238E27FC236}">
                <a16:creationId xmlns:a16="http://schemas.microsoft.com/office/drawing/2014/main" id="{205AAE19-CBD9-C114-EFBF-A4AFF869F546}"/>
              </a:ext>
            </a:extLst>
          </p:cNvPr>
          <p:cNvSpPr txBox="1"/>
          <p:nvPr/>
        </p:nvSpPr>
        <p:spPr>
          <a:xfrm>
            <a:off x="858862" y="4736897"/>
            <a:ext cx="4786158" cy="830997"/>
          </a:xfrm>
          <a:prstGeom prst="rect">
            <a:avLst/>
          </a:prstGeom>
          <a:noFill/>
        </p:spPr>
        <p:txBody>
          <a:bodyPr wrap="square" rtlCol="0">
            <a:spAutoFit/>
          </a:bodyPr>
          <a:lstStyle/>
          <a:p>
            <a:r>
              <a:rPr kumimoji="1" lang="ja-JP" altLang="en-US" sz="4800" b="1" dirty="0">
                <a:solidFill>
                  <a:srgbClr val="FF0000"/>
                </a:solidFill>
              </a:rPr>
              <a:t>ぽこ あ ポケモン</a:t>
            </a:r>
            <a:endParaRPr kumimoji="1" lang="en-US" altLang="ja-JP" sz="4800" b="1" dirty="0">
              <a:solidFill>
                <a:srgbClr val="FF0000"/>
              </a:solidFill>
            </a:endParaRPr>
          </a:p>
        </p:txBody>
      </p:sp>
      <p:sp>
        <p:nvSpPr>
          <p:cNvPr id="7" name="テキスト ボックス 6">
            <a:extLst>
              <a:ext uri="{FF2B5EF4-FFF2-40B4-BE49-F238E27FC236}">
                <a16:creationId xmlns:a16="http://schemas.microsoft.com/office/drawing/2014/main" id="{32F958CB-F097-FD32-6B53-E42BC8E5AC77}"/>
              </a:ext>
            </a:extLst>
          </p:cNvPr>
          <p:cNvSpPr txBox="1"/>
          <p:nvPr/>
        </p:nvSpPr>
        <p:spPr>
          <a:xfrm>
            <a:off x="409073" y="3429000"/>
            <a:ext cx="5794409" cy="707886"/>
          </a:xfrm>
          <a:prstGeom prst="rect">
            <a:avLst/>
          </a:prstGeom>
          <a:noFill/>
        </p:spPr>
        <p:txBody>
          <a:bodyPr wrap="square" rtlCol="0">
            <a:spAutoFit/>
          </a:bodyPr>
          <a:lstStyle/>
          <a:p>
            <a:r>
              <a:rPr kumimoji="1" lang="ja-JP" altLang="en-US" sz="4000" dirty="0"/>
              <a:t>好きなゲーム</a:t>
            </a:r>
          </a:p>
        </p:txBody>
      </p:sp>
      <p:pic>
        <p:nvPicPr>
          <p:cNvPr id="2" name="Picture 10">
            <a:extLst>
              <a:ext uri="{FF2B5EF4-FFF2-40B4-BE49-F238E27FC236}">
                <a16:creationId xmlns:a16="http://schemas.microsoft.com/office/drawing/2014/main" id="{E52D001F-D9A8-C1A3-A3FE-C6820A484B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3576" y="951169"/>
            <a:ext cx="2717815" cy="17285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ぽこポケ】最新情報まとめ。ポケモンたちとまったりスローライフ！【ぽこ あ ポケモン】 | ゲーム・エンタメ最新情報のファミ通.com">
            <a:extLst>
              <a:ext uri="{FF2B5EF4-FFF2-40B4-BE49-F238E27FC236}">
                <a16:creationId xmlns:a16="http://schemas.microsoft.com/office/drawing/2014/main" id="{0395A61E-3881-9144-7370-B79CFA0DFB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5824" y="2990462"/>
            <a:ext cx="6477517" cy="3643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08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3EEA366-C43E-F14F-2610-E2843C59719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85AD4D-86F3-9CEC-FFAE-B6B2E7E2F1AC}"/>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自己紹介</a:t>
            </a:r>
          </a:p>
        </p:txBody>
      </p:sp>
      <p:sp>
        <p:nvSpPr>
          <p:cNvPr id="3" name="テキスト ボックス 2">
            <a:extLst>
              <a:ext uri="{FF2B5EF4-FFF2-40B4-BE49-F238E27FC236}">
                <a16:creationId xmlns:a16="http://schemas.microsoft.com/office/drawing/2014/main" id="{B3287693-05BE-3155-D4BA-DCD1698E8F0B}"/>
              </a:ext>
            </a:extLst>
          </p:cNvPr>
          <p:cNvSpPr txBox="1"/>
          <p:nvPr/>
        </p:nvSpPr>
        <p:spPr>
          <a:xfrm>
            <a:off x="973437" y="1274539"/>
            <a:ext cx="5794409" cy="1323439"/>
          </a:xfrm>
          <a:prstGeom prst="rect">
            <a:avLst/>
          </a:prstGeom>
          <a:noFill/>
        </p:spPr>
        <p:txBody>
          <a:bodyPr wrap="square" rtlCol="0">
            <a:spAutoFit/>
          </a:bodyPr>
          <a:lstStyle/>
          <a:p>
            <a:r>
              <a:rPr kumimoji="1" lang="ja-JP" altLang="en-US" sz="4000" dirty="0"/>
              <a:t>名前　井上 恋</a:t>
            </a:r>
            <a:endParaRPr kumimoji="1" lang="en-US" altLang="ja-JP" sz="4000" dirty="0"/>
          </a:p>
          <a:p>
            <a:r>
              <a:rPr kumimoji="1" lang="ja-JP" altLang="en-US" sz="4000" dirty="0"/>
              <a:t>趣味　ランニング</a:t>
            </a:r>
            <a:endParaRPr kumimoji="1" lang="en-US" altLang="ja-JP" sz="4000" dirty="0"/>
          </a:p>
        </p:txBody>
      </p:sp>
      <p:sp>
        <p:nvSpPr>
          <p:cNvPr id="9" name="テキスト ボックス 8">
            <a:extLst>
              <a:ext uri="{FF2B5EF4-FFF2-40B4-BE49-F238E27FC236}">
                <a16:creationId xmlns:a16="http://schemas.microsoft.com/office/drawing/2014/main" id="{205AAE19-CBD9-C114-EFBF-A4AFF869F546}"/>
              </a:ext>
            </a:extLst>
          </p:cNvPr>
          <p:cNvSpPr txBox="1"/>
          <p:nvPr/>
        </p:nvSpPr>
        <p:spPr>
          <a:xfrm>
            <a:off x="640472" y="4006443"/>
            <a:ext cx="6127374" cy="1015663"/>
          </a:xfrm>
          <a:prstGeom prst="rect">
            <a:avLst/>
          </a:prstGeom>
          <a:noFill/>
        </p:spPr>
        <p:txBody>
          <a:bodyPr wrap="square" rtlCol="0">
            <a:spAutoFit/>
          </a:bodyPr>
          <a:lstStyle/>
          <a:p>
            <a:r>
              <a:rPr kumimoji="1" lang="ja-JP" altLang="en-US" sz="6000" b="1" dirty="0">
                <a:solidFill>
                  <a:srgbClr val="FF0000"/>
                </a:solidFill>
              </a:rPr>
              <a:t>サイレントヒル</a:t>
            </a:r>
            <a:r>
              <a:rPr kumimoji="1" lang="en-US" altLang="ja-JP" sz="6000" b="1" dirty="0">
                <a:solidFill>
                  <a:srgbClr val="FF0000"/>
                </a:solidFill>
              </a:rPr>
              <a:t>f</a:t>
            </a:r>
            <a:endParaRPr kumimoji="1" lang="en-US" altLang="ja-JP" sz="6000" b="1" dirty="0">
              <a:solidFill>
                <a:srgbClr val="0070C0"/>
              </a:solidFill>
            </a:endParaRPr>
          </a:p>
        </p:txBody>
      </p:sp>
      <p:sp>
        <p:nvSpPr>
          <p:cNvPr id="7" name="テキスト ボックス 6">
            <a:extLst>
              <a:ext uri="{FF2B5EF4-FFF2-40B4-BE49-F238E27FC236}">
                <a16:creationId xmlns:a16="http://schemas.microsoft.com/office/drawing/2014/main" id="{32F958CB-F097-FD32-6B53-E42BC8E5AC77}"/>
              </a:ext>
            </a:extLst>
          </p:cNvPr>
          <p:cNvSpPr txBox="1"/>
          <p:nvPr/>
        </p:nvSpPr>
        <p:spPr>
          <a:xfrm>
            <a:off x="500513" y="2809733"/>
            <a:ext cx="5794409" cy="707886"/>
          </a:xfrm>
          <a:prstGeom prst="rect">
            <a:avLst/>
          </a:prstGeom>
          <a:noFill/>
        </p:spPr>
        <p:txBody>
          <a:bodyPr wrap="square" rtlCol="0">
            <a:spAutoFit/>
          </a:bodyPr>
          <a:lstStyle/>
          <a:p>
            <a:r>
              <a:rPr kumimoji="1" lang="ja-JP" altLang="en-US" sz="4000" dirty="0"/>
              <a:t>好きなゲーム</a:t>
            </a:r>
          </a:p>
        </p:txBody>
      </p:sp>
      <p:pic>
        <p:nvPicPr>
          <p:cNvPr id="2" name="Picture 2" descr="コナミグループブランド | コナミグループ株式会社">
            <a:extLst>
              <a:ext uri="{FF2B5EF4-FFF2-40B4-BE49-F238E27FC236}">
                <a16:creationId xmlns:a16="http://schemas.microsoft.com/office/drawing/2014/main" id="{652CC251-BDA6-D168-40A3-844FA3EED6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1809" y="-611677"/>
            <a:ext cx="5676101" cy="42570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roducts | SILENT HILL f 公式サイト">
            <a:extLst>
              <a:ext uri="{FF2B5EF4-FFF2-40B4-BE49-F238E27FC236}">
                <a16:creationId xmlns:a16="http://schemas.microsoft.com/office/drawing/2014/main" id="{6916A28B-AC0A-DB0F-7D7D-7EC08C6D21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1384" y="2285887"/>
            <a:ext cx="4336952" cy="4336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825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ABF5C6C-72C3-CBBB-F4B1-A1306DE0BE8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0703C0F-5911-9267-DA15-A76F84B62D8D}"/>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grpSp>
        <p:nvGrpSpPr>
          <p:cNvPr id="11" name="グループ化 10">
            <a:extLst>
              <a:ext uri="{FF2B5EF4-FFF2-40B4-BE49-F238E27FC236}">
                <a16:creationId xmlns:a16="http://schemas.microsoft.com/office/drawing/2014/main" id="{3DB92371-B28E-CA4D-B0FA-8AEE7AB7E74F}"/>
              </a:ext>
            </a:extLst>
          </p:cNvPr>
          <p:cNvGrpSpPr/>
          <p:nvPr/>
        </p:nvGrpSpPr>
        <p:grpSpPr>
          <a:xfrm rot="509458">
            <a:off x="1347444" y="2929717"/>
            <a:ext cx="4655976" cy="2967134"/>
            <a:chOff x="1632857" y="3200400"/>
            <a:chExt cx="4655976" cy="2967134"/>
          </a:xfrm>
        </p:grpSpPr>
        <p:sp>
          <p:nvSpPr>
            <p:cNvPr id="9" name="爆発: 14 pt 8">
              <a:extLst>
                <a:ext uri="{FF2B5EF4-FFF2-40B4-BE49-F238E27FC236}">
                  <a16:creationId xmlns:a16="http://schemas.microsoft.com/office/drawing/2014/main" id="{48F56F8E-FB0C-633F-1EAF-69B8CB2EA483}"/>
                </a:ext>
              </a:extLst>
            </p:cNvPr>
            <p:cNvSpPr/>
            <p:nvPr/>
          </p:nvSpPr>
          <p:spPr>
            <a:xfrm>
              <a:off x="1632857" y="3200400"/>
              <a:ext cx="4655976" cy="2967134"/>
            </a:xfrm>
            <a:prstGeom prst="irregularSeal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sz="3200" b="1" dirty="0">
                <a:solidFill>
                  <a:srgbClr val="FF0000"/>
                </a:solidFill>
              </a:endParaRPr>
            </a:p>
          </p:txBody>
        </p:sp>
        <p:sp>
          <p:nvSpPr>
            <p:cNvPr id="10" name="テキスト ボックス 9">
              <a:extLst>
                <a:ext uri="{FF2B5EF4-FFF2-40B4-BE49-F238E27FC236}">
                  <a16:creationId xmlns:a16="http://schemas.microsoft.com/office/drawing/2014/main" id="{2BABC86A-B078-0F56-CB7C-7BFEC12623C3}"/>
                </a:ext>
              </a:extLst>
            </p:cNvPr>
            <p:cNvSpPr txBox="1"/>
            <p:nvPr/>
          </p:nvSpPr>
          <p:spPr>
            <a:xfrm rot="20460072">
              <a:off x="2609421" y="4210529"/>
              <a:ext cx="3113129" cy="769441"/>
            </a:xfrm>
            <a:prstGeom prst="rect">
              <a:avLst/>
            </a:prstGeom>
            <a:noFill/>
          </p:spPr>
          <p:txBody>
            <a:bodyPr wrap="square" rtlCol="0">
              <a:spAutoFit/>
            </a:bodyPr>
            <a:lstStyle/>
            <a:p>
              <a:r>
                <a:rPr kumimoji="1" lang="ja-JP" altLang="en-US" sz="4400" b="1" dirty="0">
                  <a:solidFill>
                    <a:srgbClr val="FF0000"/>
                  </a:solidFill>
                </a:rPr>
                <a:t>ブラック</a:t>
              </a:r>
            </a:p>
          </p:txBody>
        </p:sp>
      </p:grpSp>
      <p:grpSp>
        <p:nvGrpSpPr>
          <p:cNvPr id="14" name="グループ化 13">
            <a:extLst>
              <a:ext uri="{FF2B5EF4-FFF2-40B4-BE49-F238E27FC236}">
                <a16:creationId xmlns:a16="http://schemas.microsoft.com/office/drawing/2014/main" id="{46553E34-3F19-EA37-F9D4-3626D20E6953}"/>
              </a:ext>
            </a:extLst>
          </p:cNvPr>
          <p:cNvGrpSpPr/>
          <p:nvPr/>
        </p:nvGrpSpPr>
        <p:grpSpPr>
          <a:xfrm rot="564026">
            <a:off x="6557378" y="3163077"/>
            <a:ext cx="5421085" cy="3060441"/>
            <a:chOff x="6410130" y="2939143"/>
            <a:chExt cx="5421085" cy="3060441"/>
          </a:xfrm>
        </p:grpSpPr>
        <p:sp>
          <p:nvSpPr>
            <p:cNvPr id="12" name="爆発: 14 pt 11">
              <a:extLst>
                <a:ext uri="{FF2B5EF4-FFF2-40B4-BE49-F238E27FC236}">
                  <a16:creationId xmlns:a16="http://schemas.microsoft.com/office/drawing/2014/main" id="{84CAD5D9-1028-EC1C-830F-590C7DC2A762}"/>
                </a:ext>
              </a:extLst>
            </p:cNvPr>
            <p:cNvSpPr/>
            <p:nvPr/>
          </p:nvSpPr>
          <p:spPr>
            <a:xfrm>
              <a:off x="6410130" y="2939143"/>
              <a:ext cx="5421085" cy="3060441"/>
            </a:xfrm>
            <a:prstGeom prst="irregularSeal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F3E2C35-67A1-5094-13DD-8F79F00E1703}"/>
                </a:ext>
              </a:extLst>
            </p:cNvPr>
            <p:cNvSpPr txBox="1"/>
            <p:nvPr/>
          </p:nvSpPr>
          <p:spPr>
            <a:xfrm rot="20392944">
              <a:off x="7250758" y="4206356"/>
              <a:ext cx="3382511" cy="707886"/>
            </a:xfrm>
            <a:prstGeom prst="rect">
              <a:avLst/>
            </a:prstGeom>
            <a:noFill/>
          </p:spPr>
          <p:txBody>
            <a:bodyPr wrap="square" rtlCol="0">
              <a:spAutoFit/>
            </a:bodyPr>
            <a:lstStyle/>
            <a:p>
              <a:r>
                <a:rPr kumimoji="1" lang="ja-JP" altLang="en-US" sz="4000" b="1" dirty="0">
                  <a:solidFill>
                    <a:srgbClr val="FF0000"/>
                  </a:solidFill>
                </a:rPr>
                <a:t>やりがい搾取</a:t>
              </a:r>
            </a:p>
          </p:txBody>
        </p:sp>
      </p:grpSp>
      <p:pic>
        <p:nvPicPr>
          <p:cNvPr id="15" name="図 14" descr="記号, 食品 が含まれている画像">
            <a:extLst>
              <a:ext uri="{FF2B5EF4-FFF2-40B4-BE49-F238E27FC236}">
                <a16:creationId xmlns:a16="http://schemas.microsoft.com/office/drawing/2014/main" id="{99248A40-F2F9-1347-64CB-140187E1B9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005" y="897391"/>
            <a:ext cx="4869772" cy="4869772"/>
          </a:xfrm>
          <a:prstGeom prst="rect">
            <a:avLst/>
          </a:prstGeom>
        </p:spPr>
      </p:pic>
      <p:pic>
        <p:nvPicPr>
          <p:cNvPr id="16" name="図 15" descr="光 が含まれている画像&#10;&#10;AI 生成コンテンツは誤りを含む可能性があります。">
            <a:extLst>
              <a:ext uri="{FF2B5EF4-FFF2-40B4-BE49-F238E27FC236}">
                <a16:creationId xmlns:a16="http://schemas.microsoft.com/office/drawing/2014/main" id="{3EB80FDF-85F9-52A5-0EA7-FA06619ED5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0836" y="1095348"/>
            <a:ext cx="4536176" cy="4937931"/>
          </a:xfrm>
          <a:prstGeom prst="rect">
            <a:avLst/>
          </a:prstGeom>
        </p:spPr>
      </p:pic>
      <p:grpSp>
        <p:nvGrpSpPr>
          <p:cNvPr id="20" name="グループ化 19">
            <a:extLst>
              <a:ext uri="{FF2B5EF4-FFF2-40B4-BE49-F238E27FC236}">
                <a16:creationId xmlns:a16="http://schemas.microsoft.com/office/drawing/2014/main" id="{B279A564-C96D-CDE4-E757-CB6C6C72266F}"/>
              </a:ext>
            </a:extLst>
          </p:cNvPr>
          <p:cNvGrpSpPr/>
          <p:nvPr/>
        </p:nvGrpSpPr>
        <p:grpSpPr>
          <a:xfrm>
            <a:off x="1223742" y="3429000"/>
            <a:ext cx="4945399" cy="3124704"/>
            <a:chOff x="1223742" y="3429000"/>
            <a:chExt cx="4945399" cy="3124704"/>
          </a:xfrm>
        </p:grpSpPr>
        <p:sp>
          <p:nvSpPr>
            <p:cNvPr id="18" name="爆発: 14 pt 17">
              <a:extLst>
                <a:ext uri="{FF2B5EF4-FFF2-40B4-BE49-F238E27FC236}">
                  <a16:creationId xmlns:a16="http://schemas.microsoft.com/office/drawing/2014/main" id="{1E83F2DB-A897-33CD-4DBF-4D7B262BAAB0}"/>
                </a:ext>
              </a:extLst>
            </p:cNvPr>
            <p:cNvSpPr/>
            <p:nvPr/>
          </p:nvSpPr>
          <p:spPr>
            <a:xfrm>
              <a:off x="1223742" y="3429000"/>
              <a:ext cx="4945399" cy="3124704"/>
            </a:xfrm>
            <a:prstGeom prst="irregularSeal2">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19" name="テキスト ボックス 18">
              <a:extLst>
                <a:ext uri="{FF2B5EF4-FFF2-40B4-BE49-F238E27FC236}">
                  <a16:creationId xmlns:a16="http://schemas.microsoft.com/office/drawing/2014/main" id="{5FBFC9D5-750C-5630-9BBD-1D14A779F31B}"/>
                </a:ext>
              </a:extLst>
            </p:cNvPr>
            <p:cNvSpPr txBox="1"/>
            <p:nvPr/>
          </p:nvSpPr>
          <p:spPr>
            <a:xfrm rot="20614148">
              <a:off x="2007902" y="4664025"/>
              <a:ext cx="3259756" cy="707886"/>
            </a:xfrm>
            <a:prstGeom prst="rect">
              <a:avLst/>
            </a:prstGeom>
            <a:noFill/>
          </p:spPr>
          <p:txBody>
            <a:bodyPr wrap="square" rtlCol="0">
              <a:spAutoFit/>
            </a:bodyPr>
            <a:lstStyle/>
            <a:p>
              <a:r>
                <a:rPr kumimoji="1" lang="ja-JP" altLang="en-US" sz="4000" b="1" dirty="0">
                  <a:solidFill>
                    <a:schemeClr val="bg1"/>
                  </a:solidFill>
                  <a:effectLst>
                    <a:outerShdw blurRad="38100" dist="38100" dir="2700000" algn="tl">
                      <a:srgbClr val="000000">
                        <a:alpha val="43137"/>
                      </a:srgbClr>
                    </a:outerShdw>
                  </a:effectLst>
                </a:rPr>
                <a:t>ホワイト化！</a:t>
              </a:r>
            </a:p>
          </p:txBody>
        </p:sp>
      </p:grpSp>
      <p:grpSp>
        <p:nvGrpSpPr>
          <p:cNvPr id="23" name="グループ化 22">
            <a:extLst>
              <a:ext uri="{FF2B5EF4-FFF2-40B4-BE49-F238E27FC236}">
                <a16:creationId xmlns:a16="http://schemas.microsoft.com/office/drawing/2014/main" id="{A029B8C2-712A-87F8-0F73-F766F3B3F9AA}"/>
              </a:ext>
            </a:extLst>
          </p:cNvPr>
          <p:cNvGrpSpPr/>
          <p:nvPr/>
        </p:nvGrpSpPr>
        <p:grpSpPr>
          <a:xfrm>
            <a:off x="6709653" y="3239589"/>
            <a:ext cx="4945399" cy="3124704"/>
            <a:chOff x="6709653" y="3239589"/>
            <a:chExt cx="4945399" cy="3124704"/>
          </a:xfrm>
        </p:grpSpPr>
        <p:sp>
          <p:nvSpPr>
            <p:cNvPr id="21" name="爆発: 14 pt 20">
              <a:extLst>
                <a:ext uri="{FF2B5EF4-FFF2-40B4-BE49-F238E27FC236}">
                  <a16:creationId xmlns:a16="http://schemas.microsoft.com/office/drawing/2014/main" id="{896A8EB0-B8CB-6E9B-8441-D769F7F8B723}"/>
                </a:ext>
              </a:extLst>
            </p:cNvPr>
            <p:cNvSpPr/>
            <p:nvPr/>
          </p:nvSpPr>
          <p:spPr>
            <a:xfrm>
              <a:off x="6709653" y="3239589"/>
              <a:ext cx="4945399" cy="3124704"/>
            </a:xfrm>
            <a:prstGeom prst="irregularSeal2">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22" name="テキスト ボックス 21">
              <a:extLst>
                <a:ext uri="{FF2B5EF4-FFF2-40B4-BE49-F238E27FC236}">
                  <a16:creationId xmlns:a16="http://schemas.microsoft.com/office/drawing/2014/main" id="{5976539A-F680-7493-73A7-9BDC3FF742E6}"/>
                </a:ext>
              </a:extLst>
            </p:cNvPr>
            <p:cNvSpPr txBox="1"/>
            <p:nvPr/>
          </p:nvSpPr>
          <p:spPr>
            <a:xfrm rot="20614148">
              <a:off x="7749077" y="4249129"/>
              <a:ext cx="3259756" cy="923330"/>
            </a:xfrm>
            <a:prstGeom prst="rect">
              <a:avLst/>
            </a:prstGeom>
            <a:noFill/>
          </p:spPr>
          <p:txBody>
            <a:bodyPr wrap="square" rtlCol="0">
              <a:spAutoFit/>
            </a:bodyPr>
            <a:lstStyle/>
            <a:p>
              <a:r>
                <a:rPr kumimoji="1" lang="ja-JP" altLang="en-US" sz="4400" b="1" dirty="0">
                  <a:solidFill>
                    <a:schemeClr val="bg1"/>
                  </a:solidFill>
                  <a:effectLst>
                    <a:outerShdw blurRad="38100" dist="38100" dir="2700000" algn="tl">
                      <a:srgbClr val="000000">
                        <a:alpha val="43137"/>
                      </a:srgbClr>
                    </a:outerShdw>
                  </a:effectLst>
                </a:rPr>
                <a:t>給料</a:t>
              </a:r>
              <a:r>
                <a:rPr kumimoji="1" lang="en-US" altLang="ja-JP" sz="5400" b="1" dirty="0">
                  <a:solidFill>
                    <a:schemeClr val="bg1"/>
                  </a:solidFill>
                  <a:effectLst>
                    <a:outerShdw blurRad="38100" dist="38100" dir="2700000" algn="tl">
                      <a:srgbClr val="000000">
                        <a:alpha val="43137"/>
                      </a:srgbClr>
                    </a:outerShdw>
                  </a:effectLst>
                </a:rPr>
                <a:t>UP</a:t>
              </a:r>
              <a:r>
                <a:rPr kumimoji="1" lang="ja-JP" altLang="en-US" sz="4400" b="1" dirty="0">
                  <a:solidFill>
                    <a:schemeClr val="bg1"/>
                  </a:solidFill>
                  <a:effectLst>
                    <a:outerShdw blurRad="38100" dist="38100" dir="2700000" algn="tl">
                      <a:srgbClr val="000000">
                        <a:alpha val="43137"/>
                      </a:srgbClr>
                    </a:outerShdw>
                  </a:effectLst>
                </a:rPr>
                <a:t>！</a:t>
              </a:r>
            </a:p>
          </p:txBody>
        </p:sp>
      </p:grpSp>
    </p:spTree>
    <p:extLst>
      <p:ext uri="{BB962C8B-B14F-4D97-AF65-F5344CB8AC3E}">
        <p14:creationId xmlns:p14="http://schemas.microsoft.com/office/powerpoint/2010/main" val="2838721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42F7AD9-5262-78B7-7FDC-B35E7328891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B44797E-1BDC-0000-D681-5889C6BF437A}"/>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sp>
        <p:nvSpPr>
          <p:cNvPr id="7" name="テキスト ボックス 6">
            <a:extLst>
              <a:ext uri="{FF2B5EF4-FFF2-40B4-BE49-F238E27FC236}">
                <a16:creationId xmlns:a16="http://schemas.microsoft.com/office/drawing/2014/main" id="{144501FA-A38D-13E4-B2DD-7D37070CB499}"/>
              </a:ext>
            </a:extLst>
          </p:cNvPr>
          <p:cNvSpPr txBox="1"/>
          <p:nvPr/>
        </p:nvSpPr>
        <p:spPr>
          <a:xfrm>
            <a:off x="487070" y="1287628"/>
            <a:ext cx="2236510" cy="584775"/>
          </a:xfrm>
          <a:prstGeom prst="rect">
            <a:avLst/>
          </a:prstGeom>
          <a:noFill/>
        </p:spPr>
        <p:txBody>
          <a:bodyPr wrap="none" rtlCol="0">
            <a:spAutoFit/>
          </a:bodyPr>
          <a:lstStyle/>
          <a:p>
            <a:r>
              <a:rPr kumimoji="1" lang="ja-JP" altLang="en-US" sz="3200" b="1" dirty="0"/>
              <a:t>代表的な例</a:t>
            </a:r>
          </a:p>
        </p:txBody>
      </p:sp>
      <p:pic>
        <p:nvPicPr>
          <p:cNvPr id="8" name="Picture 2" descr="セガ - Wikipedia">
            <a:extLst>
              <a:ext uri="{FF2B5EF4-FFF2-40B4-BE49-F238E27FC236}">
                <a16:creationId xmlns:a16="http://schemas.microsoft.com/office/drawing/2014/main" id="{144FB942-3A4A-AF5D-FF7E-A21EC9AEEB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1741" y="2198988"/>
            <a:ext cx="4240752" cy="1413584"/>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CEA3AC95-7CBE-59D2-D685-DD2B0F461C55}"/>
              </a:ext>
            </a:extLst>
          </p:cNvPr>
          <p:cNvSpPr txBox="1"/>
          <p:nvPr/>
        </p:nvSpPr>
        <p:spPr>
          <a:xfrm>
            <a:off x="5577165" y="2966241"/>
            <a:ext cx="4617890" cy="646331"/>
          </a:xfrm>
          <a:prstGeom prst="rect">
            <a:avLst/>
          </a:prstGeom>
          <a:noFill/>
        </p:spPr>
        <p:txBody>
          <a:bodyPr wrap="square" rtlCol="0">
            <a:spAutoFit/>
          </a:bodyPr>
          <a:lstStyle/>
          <a:p>
            <a:r>
              <a:rPr kumimoji="1" lang="ja-JP" altLang="en-US" sz="3600" dirty="0"/>
              <a:t>休日日数：</a:t>
            </a:r>
          </a:p>
        </p:txBody>
      </p:sp>
      <p:pic>
        <p:nvPicPr>
          <p:cNvPr id="10" name="図 9" descr="ロゴ">
            <a:extLst>
              <a:ext uri="{FF2B5EF4-FFF2-40B4-BE49-F238E27FC236}">
                <a16:creationId xmlns:a16="http://schemas.microsoft.com/office/drawing/2014/main" id="{083F705C-208B-CF23-92C4-726C7C86C6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070" y="4739434"/>
            <a:ext cx="5090095" cy="933184"/>
          </a:xfrm>
          <a:prstGeom prst="rect">
            <a:avLst/>
          </a:prstGeom>
        </p:spPr>
      </p:pic>
      <p:sp>
        <p:nvSpPr>
          <p:cNvPr id="11" name="テキスト ボックス 10">
            <a:extLst>
              <a:ext uri="{FF2B5EF4-FFF2-40B4-BE49-F238E27FC236}">
                <a16:creationId xmlns:a16="http://schemas.microsoft.com/office/drawing/2014/main" id="{94E94CE9-D889-BE78-478F-C928270C593D}"/>
              </a:ext>
            </a:extLst>
          </p:cNvPr>
          <p:cNvSpPr txBox="1"/>
          <p:nvPr/>
        </p:nvSpPr>
        <p:spPr>
          <a:xfrm>
            <a:off x="7722053" y="1392403"/>
            <a:ext cx="4267515" cy="2646878"/>
          </a:xfrm>
          <a:prstGeom prst="rect">
            <a:avLst/>
          </a:prstGeom>
          <a:noFill/>
        </p:spPr>
        <p:txBody>
          <a:bodyPr wrap="none" rtlCol="0">
            <a:spAutoFit/>
          </a:bodyPr>
          <a:lstStyle/>
          <a:p>
            <a:r>
              <a:rPr kumimoji="1" lang="en-US" altLang="ja-JP" sz="16600" dirty="0">
                <a:solidFill>
                  <a:srgbClr val="FF0000"/>
                </a:solidFill>
              </a:rPr>
              <a:t>130</a:t>
            </a:r>
            <a:r>
              <a:rPr kumimoji="1" lang="ja-JP" altLang="en-US" sz="6600" dirty="0"/>
              <a:t>日</a:t>
            </a:r>
            <a:endParaRPr kumimoji="1" lang="ja-JP" altLang="en-US" sz="16600" dirty="0"/>
          </a:p>
        </p:txBody>
      </p:sp>
      <p:sp>
        <p:nvSpPr>
          <p:cNvPr id="14" name="テキスト ボックス 13">
            <a:extLst>
              <a:ext uri="{FF2B5EF4-FFF2-40B4-BE49-F238E27FC236}">
                <a16:creationId xmlns:a16="http://schemas.microsoft.com/office/drawing/2014/main" id="{C11617E3-17D9-7A75-06DB-E14DF217D095}"/>
              </a:ext>
            </a:extLst>
          </p:cNvPr>
          <p:cNvSpPr txBox="1"/>
          <p:nvPr/>
        </p:nvSpPr>
        <p:spPr>
          <a:xfrm>
            <a:off x="5577165" y="5166143"/>
            <a:ext cx="2071410" cy="646331"/>
          </a:xfrm>
          <a:prstGeom prst="rect">
            <a:avLst/>
          </a:prstGeom>
          <a:noFill/>
        </p:spPr>
        <p:txBody>
          <a:bodyPr wrap="square" rtlCol="0">
            <a:spAutoFit/>
          </a:bodyPr>
          <a:lstStyle/>
          <a:p>
            <a:r>
              <a:rPr kumimoji="1" lang="ja-JP" altLang="en-US" sz="3600" dirty="0"/>
              <a:t>年収：</a:t>
            </a:r>
          </a:p>
        </p:txBody>
      </p:sp>
      <p:sp>
        <p:nvSpPr>
          <p:cNvPr id="15" name="テキスト ボックス 14">
            <a:extLst>
              <a:ext uri="{FF2B5EF4-FFF2-40B4-BE49-F238E27FC236}">
                <a16:creationId xmlns:a16="http://schemas.microsoft.com/office/drawing/2014/main" id="{73F485BA-5787-2BAE-5667-F5710125557F}"/>
              </a:ext>
            </a:extLst>
          </p:cNvPr>
          <p:cNvSpPr txBox="1"/>
          <p:nvPr/>
        </p:nvSpPr>
        <p:spPr>
          <a:xfrm>
            <a:off x="6875667" y="4021685"/>
            <a:ext cx="5267789" cy="2646878"/>
          </a:xfrm>
          <a:prstGeom prst="rect">
            <a:avLst/>
          </a:prstGeom>
          <a:noFill/>
        </p:spPr>
        <p:txBody>
          <a:bodyPr wrap="none" rtlCol="0">
            <a:spAutoFit/>
          </a:bodyPr>
          <a:lstStyle/>
          <a:p>
            <a:r>
              <a:rPr kumimoji="1" lang="en-US" altLang="ja-JP" sz="16600" dirty="0">
                <a:solidFill>
                  <a:srgbClr val="FF0000"/>
                </a:solidFill>
              </a:rPr>
              <a:t>500</a:t>
            </a:r>
            <a:r>
              <a:rPr kumimoji="1" lang="ja-JP" altLang="en-US" sz="4800" dirty="0"/>
              <a:t>万以上</a:t>
            </a:r>
            <a:endParaRPr kumimoji="1" lang="ja-JP" altLang="en-US" sz="16600" dirty="0"/>
          </a:p>
        </p:txBody>
      </p:sp>
    </p:spTree>
    <p:extLst>
      <p:ext uri="{BB962C8B-B14F-4D97-AF65-F5344CB8AC3E}">
        <p14:creationId xmlns:p14="http://schemas.microsoft.com/office/powerpoint/2010/main" val="613890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3C1FB1F-A4B7-C2FC-6A4D-8F0B572CE0ED}"/>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8C099AA-3968-73C8-38CB-D630787E54A5}"/>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endParaRPr lang="en-US" altLang="ja-JP" sz="2800" b="1" dirty="0">
              <a:solidFill>
                <a:schemeClr val="bg1"/>
              </a:solidFill>
              <a:latin typeface="BIZ UDPゴシック" panose="020B0400000000000000" pitchFamily="50" charset="-128"/>
              <a:ea typeface="BIZ UDPゴシック" panose="020B0400000000000000" pitchFamily="50" charset="-128"/>
            </a:endParaRPr>
          </a:p>
        </p:txBody>
      </p:sp>
      <p:sp>
        <p:nvSpPr>
          <p:cNvPr id="2" name="テキスト ボックス 1">
            <a:extLst>
              <a:ext uri="{FF2B5EF4-FFF2-40B4-BE49-F238E27FC236}">
                <a16:creationId xmlns:a16="http://schemas.microsoft.com/office/drawing/2014/main" id="{C0E1EC8D-C4D6-EB20-D432-62574D02341D}"/>
              </a:ext>
            </a:extLst>
          </p:cNvPr>
          <p:cNvSpPr txBox="1"/>
          <p:nvPr/>
        </p:nvSpPr>
        <p:spPr>
          <a:xfrm>
            <a:off x="962025" y="4738460"/>
            <a:ext cx="3086389" cy="1015663"/>
          </a:xfrm>
          <a:prstGeom prst="rect">
            <a:avLst/>
          </a:prstGeom>
          <a:noFill/>
        </p:spPr>
        <p:txBody>
          <a:bodyPr wrap="square" rtlCol="0">
            <a:spAutoFit/>
          </a:bodyPr>
          <a:lstStyle/>
          <a:p>
            <a:r>
              <a:rPr kumimoji="1" lang="ja-JP" altLang="en-US" sz="6000" b="1" dirty="0"/>
              <a:t>合格率</a:t>
            </a:r>
          </a:p>
        </p:txBody>
      </p:sp>
      <p:sp>
        <p:nvSpPr>
          <p:cNvPr id="3" name="テキスト ボックス 2">
            <a:extLst>
              <a:ext uri="{FF2B5EF4-FFF2-40B4-BE49-F238E27FC236}">
                <a16:creationId xmlns:a16="http://schemas.microsoft.com/office/drawing/2014/main" id="{5F8F6BCC-D4BB-6BCD-2F35-390A88B1186E}"/>
              </a:ext>
            </a:extLst>
          </p:cNvPr>
          <p:cNvSpPr txBox="1"/>
          <p:nvPr/>
        </p:nvSpPr>
        <p:spPr>
          <a:xfrm>
            <a:off x="3480282" y="1523944"/>
            <a:ext cx="4899098" cy="4508927"/>
          </a:xfrm>
          <a:prstGeom prst="rect">
            <a:avLst/>
          </a:prstGeom>
          <a:noFill/>
        </p:spPr>
        <p:txBody>
          <a:bodyPr wrap="none" rtlCol="0">
            <a:spAutoFit/>
          </a:bodyPr>
          <a:lstStyle/>
          <a:p>
            <a:r>
              <a:rPr kumimoji="1" lang="en-US" altLang="ja-JP" sz="28700" b="1" dirty="0">
                <a:solidFill>
                  <a:srgbClr val="FF0000"/>
                </a:solidFill>
              </a:rPr>
              <a:t>1.9</a:t>
            </a:r>
            <a:endParaRPr kumimoji="1" lang="ja-JP" altLang="en-US" sz="28700" b="1" dirty="0">
              <a:solidFill>
                <a:srgbClr val="FF0000"/>
              </a:solidFill>
            </a:endParaRPr>
          </a:p>
        </p:txBody>
      </p:sp>
      <p:sp>
        <p:nvSpPr>
          <p:cNvPr id="5" name="テキスト ボックス 4">
            <a:extLst>
              <a:ext uri="{FF2B5EF4-FFF2-40B4-BE49-F238E27FC236}">
                <a16:creationId xmlns:a16="http://schemas.microsoft.com/office/drawing/2014/main" id="{10DB2F00-223A-20E9-1133-FB0311F82D7D}"/>
              </a:ext>
            </a:extLst>
          </p:cNvPr>
          <p:cNvSpPr txBox="1"/>
          <p:nvPr/>
        </p:nvSpPr>
        <p:spPr>
          <a:xfrm flipH="1">
            <a:off x="8550506" y="4709432"/>
            <a:ext cx="3641494" cy="1323439"/>
          </a:xfrm>
          <a:prstGeom prst="rect">
            <a:avLst/>
          </a:prstGeom>
          <a:noFill/>
        </p:spPr>
        <p:txBody>
          <a:bodyPr wrap="square" rtlCol="0">
            <a:spAutoFit/>
          </a:bodyPr>
          <a:lstStyle/>
          <a:p>
            <a:r>
              <a:rPr kumimoji="1" lang="en-US" altLang="ja-JP" sz="8000" b="1" dirty="0"/>
              <a:t>%</a:t>
            </a:r>
            <a:r>
              <a:rPr kumimoji="1" lang="ja-JP" altLang="en-US" sz="8000" b="1" dirty="0"/>
              <a:t>以下</a:t>
            </a:r>
            <a:endParaRPr kumimoji="1" lang="ja-JP" altLang="en-US" sz="1400" b="1" dirty="0"/>
          </a:p>
        </p:txBody>
      </p:sp>
      <p:pic>
        <p:nvPicPr>
          <p:cNvPr id="4098" name="Picture 2" descr="ゲーム業界の攻略法">
            <a:extLst>
              <a:ext uri="{FF2B5EF4-FFF2-40B4-BE49-F238E27FC236}">
                <a16:creationId xmlns:a16="http://schemas.microsoft.com/office/drawing/2014/main" id="{EAEA47FE-B9C2-05A8-6F30-B8BFC585C2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6915" y="933061"/>
            <a:ext cx="2415394" cy="3421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9576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2B5BB18-300C-0341-134B-17AF731DE01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C59AF5C-6E2D-A49A-361B-DE35564BD7B1}"/>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sp>
        <p:nvSpPr>
          <p:cNvPr id="12" name="テキスト ボックス 11">
            <a:extLst>
              <a:ext uri="{FF2B5EF4-FFF2-40B4-BE49-F238E27FC236}">
                <a16:creationId xmlns:a16="http://schemas.microsoft.com/office/drawing/2014/main" id="{F0BEBAF3-D7BD-BB00-4EC1-2DE257223FFB}"/>
              </a:ext>
            </a:extLst>
          </p:cNvPr>
          <p:cNvSpPr txBox="1"/>
          <p:nvPr/>
        </p:nvSpPr>
        <p:spPr>
          <a:xfrm>
            <a:off x="1504958" y="1213363"/>
            <a:ext cx="7757379" cy="461665"/>
          </a:xfrm>
          <a:prstGeom prst="rect">
            <a:avLst/>
          </a:prstGeom>
          <a:noFill/>
        </p:spPr>
        <p:txBody>
          <a:bodyPr wrap="square" rtlCol="0">
            <a:spAutoFit/>
          </a:bodyPr>
          <a:lstStyle/>
          <a:p>
            <a:r>
              <a:rPr kumimoji="1" lang="ja-JP" altLang="en-US" sz="2400" b="1" dirty="0"/>
              <a:t>サイバーコネクトツーの合格率</a:t>
            </a:r>
          </a:p>
        </p:txBody>
      </p:sp>
      <p:pic>
        <p:nvPicPr>
          <p:cNvPr id="5122" name="Picture 2" descr="画像">
            <a:extLst>
              <a:ext uri="{FF2B5EF4-FFF2-40B4-BE49-F238E27FC236}">
                <a16:creationId xmlns:a16="http://schemas.microsoft.com/office/drawing/2014/main" id="{179D6C36-5620-C075-8300-3D607E8FCA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086" y="1898963"/>
            <a:ext cx="10758549" cy="429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621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D55604B-1C55-76C3-BF16-01706C1EAF3D}"/>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BF55A7-B780-7FB0-969D-55F148C87EFF}"/>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sp>
        <p:nvSpPr>
          <p:cNvPr id="12" name="テキスト ボックス 11">
            <a:extLst>
              <a:ext uri="{FF2B5EF4-FFF2-40B4-BE49-F238E27FC236}">
                <a16:creationId xmlns:a16="http://schemas.microsoft.com/office/drawing/2014/main" id="{DDE9FABF-1A19-9831-A01E-9462D120D0F1}"/>
              </a:ext>
            </a:extLst>
          </p:cNvPr>
          <p:cNvSpPr txBox="1"/>
          <p:nvPr/>
        </p:nvSpPr>
        <p:spPr>
          <a:xfrm>
            <a:off x="1504958" y="1213363"/>
            <a:ext cx="7757379" cy="461665"/>
          </a:xfrm>
          <a:prstGeom prst="rect">
            <a:avLst/>
          </a:prstGeom>
          <a:noFill/>
        </p:spPr>
        <p:txBody>
          <a:bodyPr wrap="square" rtlCol="0">
            <a:spAutoFit/>
          </a:bodyPr>
          <a:lstStyle/>
          <a:p>
            <a:r>
              <a:rPr kumimoji="1" lang="ja-JP" altLang="en-US" sz="2400" b="1" dirty="0"/>
              <a:t>なぜここまで合格率が低いのか</a:t>
            </a:r>
          </a:p>
        </p:txBody>
      </p:sp>
      <p:sp>
        <p:nvSpPr>
          <p:cNvPr id="2" name="テキスト ボックス 1">
            <a:extLst>
              <a:ext uri="{FF2B5EF4-FFF2-40B4-BE49-F238E27FC236}">
                <a16:creationId xmlns:a16="http://schemas.microsoft.com/office/drawing/2014/main" id="{B7287850-6A29-DF63-F8F9-E9A883F1C9D9}"/>
              </a:ext>
            </a:extLst>
          </p:cNvPr>
          <p:cNvSpPr txBox="1"/>
          <p:nvPr/>
        </p:nvSpPr>
        <p:spPr>
          <a:xfrm>
            <a:off x="2617521" y="2166762"/>
            <a:ext cx="7572775" cy="3477875"/>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4000" b="1" dirty="0">
                <a:solidFill>
                  <a:schemeClr val="accent5">
                    <a:lumMod val="50000"/>
                  </a:schemeClr>
                </a:solidFill>
              </a:rPr>
              <a:t>志望者がめちゃくちゃ多い</a:t>
            </a:r>
            <a:endParaRPr kumimoji="1" lang="en-US" altLang="ja-JP" sz="4000" b="1" dirty="0">
              <a:solidFill>
                <a:schemeClr val="accent5">
                  <a:lumMod val="50000"/>
                </a:schemeClr>
              </a:solidFill>
            </a:endParaRPr>
          </a:p>
          <a:p>
            <a:pPr marL="342900" indent="-342900">
              <a:buFont typeface="Arial" panose="020B0604020202020204" pitchFamily="34" charset="0"/>
              <a:buChar char="•"/>
            </a:pPr>
            <a:endParaRPr kumimoji="1" lang="en-US" altLang="ja-JP" sz="2000" b="1" dirty="0">
              <a:solidFill>
                <a:schemeClr val="accent5">
                  <a:lumMod val="50000"/>
                </a:schemeClr>
              </a:solidFill>
            </a:endParaRPr>
          </a:p>
          <a:p>
            <a:pPr marL="342900" indent="-342900">
              <a:buFont typeface="Arial" panose="020B0604020202020204" pitchFamily="34" charset="0"/>
              <a:buChar char="•"/>
            </a:pPr>
            <a:r>
              <a:rPr kumimoji="1" lang="ja-JP" altLang="en-US" sz="4000" b="1" dirty="0">
                <a:solidFill>
                  <a:schemeClr val="accent5">
                    <a:lumMod val="50000"/>
                  </a:schemeClr>
                </a:solidFill>
              </a:rPr>
              <a:t>「好き」だけでは通用しない</a:t>
            </a:r>
            <a:endParaRPr kumimoji="1" lang="en-US" altLang="ja-JP" sz="4000" b="1" dirty="0">
              <a:solidFill>
                <a:schemeClr val="accent5">
                  <a:lumMod val="50000"/>
                </a:schemeClr>
              </a:solidFill>
            </a:endParaRPr>
          </a:p>
          <a:p>
            <a:pPr marL="342900" indent="-342900">
              <a:buFont typeface="Arial" panose="020B0604020202020204" pitchFamily="34" charset="0"/>
              <a:buChar char="•"/>
            </a:pPr>
            <a:endParaRPr kumimoji="1" lang="en-US" altLang="ja-JP" sz="2000" b="1" dirty="0">
              <a:solidFill>
                <a:schemeClr val="accent5">
                  <a:lumMod val="50000"/>
                </a:schemeClr>
              </a:solidFill>
            </a:endParaRPr>
          </a:p>
          <a:p>
            <a:pPr marL="342900" indent="-342900">
              <a:buFont typeface="Arial" panose="020B0604020202020204" pitchFamily="34" charset="0"/>
              <a:buChar char="•"/>
            </a:pPr>
            <a:r>
              <a:rPr kumimoji="1" lang="ja-JP" altLang="en-US" sz="4000" b="1" dirty="0">
                <a:solidFill>
                  <a:schemeClr val="accent5">
                    <a:lumMod val="50000"/>
                  </a:schemeClr>
                </a:solidFill>
              </a:rPr>
              <a:t>職種ごとの専門性が高い</a:t>
            </a:r>
            <a:endParaRPr kumimoji="1" lang="en-US" altLang="ja-JP" sz="4000" b="1" dirty="0">
              <a:solidFill>
                <a:schemeClr val="accent5">
                  <a:lumMod val="50000"/>
                </a:schemeClr>
              </a:solidFill>
            </a:endParaRPr>
          </a:p>
          <a:p>
            <a:pPr marL="342900" indent="-342900">
              <a:buFont typeface="Arial" panose="020B0604020202020204" pitchFamily="34" charset="0"/>
              <a:buChar char="•"/>
            </a:pPr>
            <a:endParaRPr kumimoji="1" lang="en-US" altLang="ja-JP" sz="2000" b="1" dirty="0">
              <a:solidFill>
                <a:schemeClr val="accent5">
                  <a:lumMod val="50000"/>
                </a:schemeClr>
              </a:solidFill>
            </a:endParaRPr>
          </a:p>
          <a:p>
            <a:pPr marL="342900" indent="-342900">
              <a:buFont typeface="Arial" panose="020B0604020202020204" pitchFamily="34" charset="0"/>
              <a:buChar char="•"/>
            </a:pPr>
            <a:r>
              <a:rPr kumimoji="1" lang="ja-JP" altLang="en-US" sz="4000" b="1" dirty="0">
                <a:solidFill>
                  <a:schemeClr val="accent5">
                    <a:lumMod val="50000"/>
                  </a:schemeClr>
                </a:solidFill>
              </a:rPr>
              <a:t>トレンドの変化が激しい</a:t>
            </a:r>
          </a:p>
        </p:txBody>
      </p:sp>
    </p:spTree>
    <p:extLst>
      <p:ext uri="{BB962C8B-B14F-4D97-AF65-F5344CB8AC3E}">
        <p14:creationId xmlns:p14="http://schemas.microsoft.com/office/powerpoint/2010/main" val="1180331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36CA3D6-D210-4822-5AE9-D569091E5A9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6F75DAC-3CD1-3376-3D91-B86021BEE663}"/>
              </a:ext>
            </a:extLst>
          </p:cNvPr>
          <p:cNvSpPr txBox="1"/>
          <p:nvPr/>
        </p:nvSpPr>
        <p:spPr>
          <a:xfrm>
            <a:off x="265186" y="82314"/>
            <a:ext cx="5830814"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どうしてゲーム業界を目指したか？</a:t>
            </a:r>
          </a:p>
        </p:txBody>
      </p:sp>
      <p:pic>
        <p:nvPicPr>
          <p:cNvPr id="2" name="Picture 2" descr="将来のことを考える人のイラスト（男性）">
            <a:extLst>
              <a:ext uri="{FF2B5EF4-FFF2-40B4-BE49-F238E27FC236}">
                <a16:creationId xmlns:a16="http://schemas.microsoft.com/office/drawing/2014/main" id="{F7D48232-E4E7-14C8-F3B4-F7D0418343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097" y="2380107"/>
            <a:ext cx="3810000" cy="3524250"/>
          </a:xfrm>
          <a:prstGeom prst="rect">
            <a:avLst/>
          </a:prstGeom>
          <a:noFill/>
          <a:extLst>
            <a:ext uri="{909E8E84-426E-40DD-AFC4-6F175D3DCCD1}">
              <a14:hiddenFill xmlns:a14="http://schemas.microsoft.com/office/drawing/2010/main">
                <a:solidFill>
                  <a:srgbClr val="FFFFFF"/>
                </a:solidFill>
              </a14:hiddenFill>
            </a:ext>
          </a:extLst>
        </p:spPr>
      </p:pic>
      <p:sp>
        <p:nvSpPr>
          <p:cNvPr id="10" name="思考の吹き出し: 雲形 9">
            <a:extLst>
              <a:ext uri="{FF2B5EF4-FFF2-40B4-BE49-F238E27FC236}">
                <a16:creationId xmlns:a16="http://schemas.microsoft.com/office/drawing/2014/main" id="{5A7CA5F5-B040-321F-F150-FCB28EAD51CD}"/>
              </a:ext>
            </a:extLst>
          </p:cNvPr>
          <p:cNvSpPr/>
          <p:nvPr/>
        </p:nvSpPr>
        <p:spPr>
          <a:xfrm>
            <a:off x="5364477" y="1099607"/>
            <a:ext cx="3483864" cy="201146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ゲーム作りたいな～</a:t>
            </a:r>
          </a:p>
        </p:txBody>
      </p:sp>
      <p:sp>
        <p:nvSpPr>
          <p:cNvPr id="11" name="思考の吹き出し: 雲形 10">
            <a:extLst>
              <a:ext uri="{FF2B5EF4-FFF2-40B4-BE49-F238E27FC236}">
                <a16:creationId xmlns:a16="http://schemas.microsoft.com/office/drawing/2014/main" id="{AB0267DA-BD96-8AB7-F05D-1EB9DBF2C209}"/>
              </a:ext>
            </a:extLst>
          </p:cNvPr>
          <p:cNvSpPr/>
          <p:nvPr/>
        </p:nvSpPr>
        <p:spPr>
          <a:xfrm>
            <a:off x="8305800" y="2749176"/>
            <a:ext cx="3587496" cy="2071303"/>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感動届けたいな～</a:t>
            </a:r>
          </a:p>
        </p:txBody>
      </p:sp>
      <p:sp>
        <p:nvSpPr>
          <p:cNvPr id="13" name="思考の吹き出し: 雲形 12">
            <a:extLst>
              <a:ext uri="{FF2B5EF4-FFF2-40B4-BE49-F238E27FC236}">
                <a16:creationId xmlns:a16="http://schemas.microsoft.com/office/drawing/2014/main" id="{F7726FA4-9F76-C3D0-5901-5E3B08C3B864}"/>
              </a:ext>
            </a:extLst>
          </p:cNvPr>
          <p:cNvSpPr/>
          <p:nvPr/>
        </p:nvSpPr>
        <p:spPr>
          <a:xfrm>
            <a:off x="5364477" y="4458578"/>
            <a:ext cx="3041899" cy="1756293"/>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なんか楽しそうだな～</a:t>
            </a:r>
          </a:p>
        </p:txBody>
      </p:sp>
    </p:spTree>
    <p:extLst>
      <p:ext uri="{BB962C8B-B14F-4D97-AF65-F5344CB8AC3E}">
        <p14:creationId xmlns:p14="http://schemas.microsoft.com/office/powerpoint/2010/main" val="3681761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C81579C-5270-2268-943A-E0FFF55AD67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FB3A91D-AE8B-948F-F0D5-A170B2C37AF8}"/>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就活に向けて準備したこと</a:t>
            </a:r>
          </a:p>
        </p:txBody>
      </p:sp>
      <p:pic>
        <p:nvPicPr>
          <p:cNvPr id="8" name="図 7" descr="グラフィカル ユーザー インターフェイス が含まれている画像&#10;&#10;AI 生成コンテンツは誤りを含む可能性があります。">
            <a:extLst>
              <a:ext uri="{FF2B5EF4-FFF2-40B4-BE49-F238E27FC236}">
                <a16:creationId xmlns:a16="http://schemas.microsoft.com/office/drawing/2014/main" id="{89369785-E43E-2C55-4182-86345BDD1B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1775" y="914044"/>
            <a:ext cx="3324225" cy="2667691"/>
          </a:xfrm>
          <a:prstGeom prst="rect">
            <a:avLst/>
          </a:prstGeom>
        </p:spPr>
      </p:pic>
      <p:pic>
        <p:nvPicPr>
          <p:cNvPr id="14" name="図 13" descr="食品, 部屋 が含まれている画像&#10;&#10;AI 生成コンテンツは誤りを含む可能性があります。">
            <a:extLst>
              <a:ext uri="{FF2B5EF4-FFF2-40B4-BE49-F238E27FC236}">
                <a16:creationId xmlns:a16="http://schemas.microsoft.com/office/drawing/2014/main" id="{A213B2A8-5F19-A1F0-0C11-8BEFB5F9B8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42100" y="3890245"/>
            <a:ext cx="2795788" cy="2530188"/>
          </a:xfrm>
          <a:prstGeom prst="rect">
            <a:avLst/>
          </a:prstGeom>
        </p:spPr>
      </p:pic>
      <p:pic>
        <p:nvPicPr>
          <p:cNvPr id="4098" name="Picture 2" descr="履歴書を書いている人のイラスト（女性）">
            <a:extLst>
              <a:ext uri="{FF2B5EF4-FFF2-40B4-BE49-F238E27FC236}">
                <a16:creationId xmlns:a16="http://schemas.microsoft.com/office/drawing/2014/main" id="{80D53DED-A315-D739-D7D4-25B306F071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04168" y="3404120"/>
            <a:ext cx="2782549" cy="3016313"/>
          </a:xfrm>
          <a:prstGeom prst="rect">
            <a:avLst/>
          </a:prstGeom>
          <a:noFill/>
          <a:extLst>
            <a:ext uri="{909E8E84-426E-40DD-AFC4-6F175D3DCCD1}">
              <a14:hiddenFill xmlns:a14="http://schemas.microsoft.com/office/drawing/2010/main">
                <a:solidFill>
                  <a:srgbClr val="FFFFFF"/>
                </a:solidFill>
              </a14:hiddenFill>
            </a:ext>
          </a:extLst>
        </p:spPr>
      </p:pic>
      <p:sp>
        <p:nvSpPr>
          <p:cNvPr id="2" name="思考の吹き出し: 雲形 1">
            <a:extLst>
              <a:ext uri="{FF2B5EF4-FFF2-40B4-BE49-F238E27FC236}">
                <a16:creationId xmlns:a16="http://schemas.microsoft.com/office/drawing/2014/main" id="{59014B96-5EBD-8ABE-1676-EAE80F2A4711}"/>
              </a:ext>
            </a:extLst>
          </p:cNvPr>
          <p:cNvSpPr/>
          <p:nvPr/>
        </p:nvSpPr>
        <p:spPr>
          <a:xfrm>
            <a:off x="7857560" y="1242154"/>
            <a:ext cx="3483864" cy="2011469"/>
          </a:xfrm>
          <a:prstGeom prst="cloudCallout">
            <a:avLst>
              <a:gd name="adj1" fmla="val -56989"/>
              <a:gd name="adj2" fmla="val 2075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履歴書</a:t>
            </a:r>
          </a:p>
        </p:txBody>
      </p:sp>
      <p:sp>
        <p:nvSpPr>
          <p:cNvPr id="3" name="思考の吹き出し: 雲形 2">
            <a:extLst>
              <a:ext uri="{FF2B5EF4-FFF2-40B4-BE49-F238E27FC236}">
                <a16:creationId xmlns:a16="http://schemas.microsoft.com/office/drawing/2014/main" id="{4EC0E21E-C4D4-3464-9141-6259A2B704F6}"/>
              </a:ext>
            </a:extLst>
          </p:cNvPr>
          <p:cNvSpPr/>
          <p:nvPr/>
        </p:nvSpPr>
        <p:spPr>
          <a:xfrm>
            <a:off x="7985797" y="3364037"/>
            <a:ext cx="3483864" cy="2011469"/>
          </a:xfrm>
          <a:prstGeom prst="cloudCallout">
            <a:avLst>
              <a:gd name="adj1" fmla="val -59132"/>
              <a:gd name="adj2" fmla="val 110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プログラム</a:t>
            </a:r>
          </a:p>
        </p:txBody>
      </p:sp>
    </p:spTree>
    <p:extLst>
      <p:ext uri="{BB962C8B-B14F-4D97-AF65-F5344CB8AC3E}">
        <p14:creationId xmlns:p14="http://schemas.microsoft.com/office/powerpoint/2010/main" val="3992274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4D51846-8597-EE41-894D-5FD352169CF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9222DEC-14D7-9097-ACF9-7B7A8CD09A21}"/>
              </a:ext>
            </a:extLst>
          </p:cNvPr>
          <p:cNvSpPr txBox="1"/>
          <p:nvPr/>
        </p:nvSpPr>
        <p:spPr>
          <a:xfrm>
            <a:off x="265185" y="82314"/>
            <a:ext cx="8216341"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今のうちからできること</a:t>
            </a:r>
          </a:p>
        </p:txBody>
      </p:sp>
      <p:pic>
        <p:nvPicPr>
          <p:cNvPr id="3074" name="Picture 2" descr="頭を抱えて悩んでいる人のイラスト（男性）">
            <a:extLst>
              <a:ext uri="{FF2B5EF4-FFF2-40B4-BE49-F238E27FC236}">
                <a16:creationId xmlns:a16="http://schemas.microsoft.com/office/drawing/2014/main" id="{73E80221-6ECF-1CD4-90EB-3B06288F28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8551" y="2965686"/>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思考の吹き出し: 雲形 2">
            <a:extLst>
              <a:ext uri="{FF2B5EF4-FFF2-40B4-BE49-F238E27FC236}">
                <a16:creationId xmlns:a16="http://schemas.microsoft.com/office/drawing/2014/main" id="{D783DB77-6034-45EF-B026-CEDD8A23D438}"/>
              </a:ext>
            </a:extLst>
          </p:cNvPr>
          <p:cNvSpPr/>
          <p:nvPr/>
        </p:nvSpPr>
        <p:spPr>
          <a:xfrm>
            <a:off x="8578457" y="1488906"/>
            <a:ext cx="3483864" cy="201146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何をすればいいか</a:t>
            </a:r>
            <a:endParaRPr kumimoji="1" lang="en-US" altLang="ja-JP" dirty="0"/>
          </a:p>
          <a:p>
            <a:pPr algn="ctr"/>
            <a:r>
              <a:rPr kumimoji="1" lang="ja-JP" altLang="en-US" dirty="0"/>
              <a:t>分からない！！</a:t>
            </a:r>
          </a:p>
        </p:txBody>
      </p:sp>
      <p:pic>
        <p:nvPicPr>
          <p:cNvPr id="3076" name="Picture 4" descr="ガッツポーズのイラスト（会社員）">
            <a:extLst>
              <a:ext uri="{FF2B5EF4-FFF2-40B4-BE49-F238E27FC236}">
                <a16:creationId xmlns:a16="http://schemas.microsoft.com/office/drawing/2014/main" id="{B7D3B2B0-7532-373F-F387-75678BD8B1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668" y="1488906"/>
            <a:ext cx="4771930" cy="466456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グループ化 9">
            <a:extLst>
              <a:ext uri="{FF2B5EF4-FFF2-40B4-BE49-F238E27FC236}">
                <a16:creationId xmlns:a16="http://schemas.microsoft.com/office/drawing/2014/main" id="{2B62682E-6D70-321A-4379-5762DCFE5B67}"/>
              </a:ext>
            </a:extLst>
          </p:cNvPr>
          <p:cNvGrpSpPr/>
          <p:nvPr/>
        </p:nvGrpSpPr>
        <p:grpSpPr>
          <a:xfrm rot="1985180">
            <a:off x="4433639" y="911000"/>
            <a:ext cx="3737460" cy="2361479"/>
            <a:chOff x="1856175" y="3975533"/>
            <a:chExt cx="3737460" cy="2361479"/>
          </a:xfrm>
        </p:grpSpPr>
        <p:sp>
          <p:nvSpPr>
            <p:cNvPr id="11" name="爆発: 14 pt 10">
              <a:extLst>
                <a:ext uri="{FF2B5EF4-FFF2-40B4-BE49-F238E27FC236}">
                  <a16:creationId xmlns:a16="http://schemas.microsoft.com/office/drawing/2014/main" id="{79173D34-2BBA-FC99-5E28-C353D2C97807}"/>
                </a:ext>
              </a:extLst>
            </p:cNvPr>
            <p:cNvSpPr/>
            <p:nvPr/>
          </p:nvSpPr>
          <p:spPr>
            <a:xfrm>
              <a:off x="1856175" y="3975533"/>
              <a:ext cx="3737460" cy="2361479"/>
            </a:xfrm>
            <a:prstGeom prst="irregularSeal2">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6B44D64F-8938-BE7F-8F4E-B533E41FC51D}"/>
                </a:ext>
              </a:extLst>
            </p:cNvPr>
            <p:cNvSpPr txBox="1"/>
            <p:nvPr/>
          </p:nvSpPr>
          <p:spPr>
            <a:xfrm rot="20366606">
              <a:off x="2310271" y="4849298"/>
              <a:ext cx="2893220" cy="712104"/>
            </a:xfrm>
            <a:prstGeom prst="rect">
              <a:avLst/>
            </a:prstGeom>
            <a:noFill/>
          </p:spPr>
          <p:txBody>
            <a:bodyPr wrap="square" rtlCol="0">
              <a:spAutoFit/>
            </a:bodyPr>
            <a:lstStyle/>
            <a:p>
              <a:r>
                <a:rPr kumimoji="1" lang="ja-JP" altLang="en-US" sz="4000" b="1" dirty="0">
                  <a:solidFill>
                    <a:schemeClr val="bg1"/>
                  </a:solidFill>
                  <a:effectLst>
                    <a:outerShdw blurRad="38100" dist="38100" dir="2700000" algn="tl">
                      <a:srgbClr val="000000">
                        <a:alpha val="43137"/>
                      </a:srgbClr>
                    </a:outerShdw>
                  </a:effectLst>
                </a:rPr>
                <a:t>頑張るぞ！</a:t>
              </a:r>
            </a:p>
          </p:txBody>
        </p:sp>
      </p:grpSp>
    </p:spTree>
    <p:extLst>
      <p:ext uri="{BB962C8B-B14F-4D97-AF65-F5344CB8AC3E}">
        <p14:creationId xmlns:p14="http://schemas.microsoft.com/office/powerpoint/2010/main" val="318560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29E46F0-B2FB-4C42-595F-564503AC749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8FBB22E-1A3C-DEB3-17DC-8050C0D8D972}"/>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学校選びが大切</a:t>
            </a:r>
          </a:p>
        </p:txBody>
      </p:sp>
      <p:graphicFrame>
        <p:nvGraphicFramePr>
          <p:cNvPr id="8" name="グラフ 7">
            <a:extLst>
              <a:ext uri="{FF2B5EF4-FFF2-40B4-BE49-F238E27FC236}">
                <a16:creationId xmlns:a16="http://schemas.microsoft.com/office/drawing/2014/main" id="{3D0BD308-AA17-1B0F-4F52-CAA5CF5BCB8C}"/>
              </a:ext>
            </a:extLst>
          </p:cNvPr>
          <p:cNvGraphicFramePr/>
          <p:nvPr>
            <p:extLst>
              <p:ext uri="{D42A27DB-BD31-4B8C-83A1-F6EECF244321}">
                <p14:modId xmlns:p14="http://schemas.microsoft.com/office/powerpoint/2010/main" val="277337697"/>
              </p:ext>
            </p:extLst>
          </p:nvPr>
        </p:nvGraphicFramePr>
        <p:xfrm>
          <a:off x="5244767" y="1355271"/>
          <a:ext cx="6732570" cy="4809542"/>
        </p:xfrm>
        <a:graphic>
          <a:graphicData uri="http://schemas.openxmlformats.org/drawingml/2006/chart">
            <c:chart xmlns:c="http://schemas.openxmlformats.org/drawingml/2006/chart" xmlns:r="http://schemas.openxmlformats.org/officeDocument/2006/relationships" r:id="rId4"/>
          </a:graphicData>
        </a:graphic>
      </p:graphicFrame>
      <p:sp>
        <p:nvSpPr>
          <p:cNvPr id="9" name="テキスト ボックス 8">
            <a:extLst>
              <a:ext uri="{FF2B5EF4-FFF2-40B4-BE49-F238E27FC236}">
                <a16:creationId xmlns:a16="http://schemas.microsoft.com/office/drawing/2014/main" id="{3AAEFEEE-0931-5C3E-43EE-DC436B8CD82C}"/>
              </a:ext>
            </a:extLst>
          </p:cNvPr>
          <p:cNvSpPr txBox="1"/>
          <p:nvPr/>
        </p:nvSpPr>
        <p:spPr>
          <a:xfrm rot="20940389">
            <a:off x="5718355" y="2233059"/>
            <a:ext cx="5828027" cy="3073021"/>
          </a:xfrm>
          <a:prstGeom prst="rect">
            <a:avLst/>
          </a:prstGeom>
          <a:noFill/>
        </p:spPr>
        <p:txBody>
          <a:bodyPr wrap="square" rtlCol="0">
            <a:spAutoFit/>
          </a:bodyPr>
          <a:lstStyle/>
          <a:p>
            <a:pPr>
              <a:lnSpc>
                <a:spcPts val="11200"/>
              </a:lnSpc>
            </a:pPr>
            <a:r>
              <a:rPr kumimoji="1" lang="ja-JP" altLang="en-US" sz="6000" b="1" dirty="0">
                <a:ln w="19050">
                  <a:solidFill>
                    <a:schemeClr val="tx1"/>
                  </a:solidFill>
                </a:ln>
                <a:solidFill>
                  <a:srgbClr val="FF0000"/>
                </a:solidFill>
              </a:rPr>
              <a:t>就職率</a:t>
            </a:r>
            <a:r>
              <a:rPr kumimoji="1" lang="en-US" altLang="ja-JP" sz="13800" b="1" dirty="0">
                <a:ln w="19050">
                  <a:solidFill>
                    <a:schemeClr val="tx1"/>
                  </a:solidFill>
                </a:ln>
                <a:solidFill>
                  <a:srgbClr val="FF0000"/>
                </a:solidFill>
              </a:rPr>
              <a:t>99.6%!!</a:t>
            </a:r>
          </a:p>
        </p:txBody>
      </p:sp>
      <p:pic>
        <p:nvPicPr>
          <p:cNvPr id="1028" name="Picture 4" descr="やる気に燃える人のイラスト（男性）">
            <a:extLst>
              <a:ext uri="{FF2B5EF4-FFF2-40B4-BE49-F238E27FC236}">
                <a16:creationId xmlns:a16="http://schemas.microsoft.com/office/drawing/2014/main" id="{BD5F5563-9CE3-3EAE-E90C-C9D5072884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4231" y="2965154"/>
            <a:ext cx="2833336" cy="31050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上を目指す人のイラスト（男性）">
            <a:extLst>
              <a:ext uri="{FF2B5EF4-FFF2-40B4-BE49-F238E27FC236}">
                <a16:creationId xmlns:a16="http://schemas.microsoft.com/office/drawing/2014/main" id="{6DF7C645-53A0-6B55-15D1-FF4179DBD1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7639" y="2195713"/>
            <a:ext cx="2007118" cy="3345197"/>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84446EBC-EB5D-8854-4704-B4F6D5E48683}"/>
              </a:ext>
            </a:extLst>
          </p:cNvPr>
          <p:cNvSpPr txBox="1"/>
          <p:nvPr/>
        </p:nvSpPr>
        <p:spPr>
          <a:xfrm>
            <a:off x="1155295" y="1426272"/>
            <a:ext cx="3385911" cy="769441"/>
          </a:xfrm>
          <a:prstGeom prst="rect">
            <a:avLst/>
          </a:prstGeom>
          <a:noFill/>
        </p:spPr>
        <p:txBody>
          <a:bodyPr wrap="square" rtlCol="0">
            <a:spAutoFit/>
          </a:bodyPr>
          <a:lstStyle/>
          <a:p>
            <a:r>
              <a:rPr kumimoji="1" lang="ja-JP" altLang="en-US" sz="4400" b="1" dirty="0">
                <a:ln>
                  <a:solidFill>
                    <a:schemeClr val="tx1"/>
                  </a:solidFill>
                </a:ln>
                <a:solidFill>
                  <a:srgbClr val="FF0000"/>
                </a:solidFill>
                <a:effectLst>
                  <a:outerShdw dist="25400" dir="2700000" algn="t" rotWithShape="0">
                    <a:prstClr val="black">
                      <a:alpha val="70000"/>
                    </a:prstClr>
                  </a:outerShdw>
                </a:effectLst>
              </a:rPr>
              <a:t>ゲーム業界</a:t>
            </a:r>
          </a:p>
        </p:txBody>
      </p:sp>
    </p:spTree>
    <p:extLst>
      <p:ext uri="{BB962C8B-B14F-4D97-AF65-F5344CB8AC3E}">
        <p14:creationId xmlns:p14="http://schemas.microsoft.com/office/powerpoint/2010/main" val="3266545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847CB30-198C-502B-3F7B-2055C8139F8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2789E44-5529-163E-9196-F7C84D333FF1}"/>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質疑応答</a:t>
            </a:r>
          </a:p>
        </p:txBody>
      </p:sp>
      <p:sp>
        <p:nvSpPr>
          <p:cNvPr id="2" name="テキスト ボックス 1">
            <a:extLst>
              <a:ext uri="{FF2B5EF4-FFF2-40B4-BE49-F238E27FC236}">
                <a16:creationId xmlns:a16="http://schemas.microsoft.com/office/drawing/2014/main" id="{45E4FDCC-D00D-58C5-6509-10D95C9BD85D}"/>
              </a:ext>
            </a:extLst>
          </p:cNvPr>
          <p:cNvSpPr txBox="1"/>
          <p:nvPr/>
        </p:nvSpPr>
        <p:spPr>
          <a:xfrm>
            <a:off x="0" y="1952625"/>
            <a:ext cx="12444432" cy="3770263"/>
          </a:xfrm>
          <a:prstGeom prst="rect">
            <a:avLst/>
          </a:prstGeom>
          <a:noFill/>
        </p:spPr>
        <p:txBody>
          <a:bodyPr wrap="none" rtlCol="0">
            <a:spAutoFit/>
          </a:bodyPr>
          <a:lstStyle/>
          <a:p>
            <a:r>
              <a:rPr kumimoji="1" lang="ja-JP" altLang="en-US" sz="23900" b="1" dirty="0">
                <a:ln w="50800">
                  <a:solidFill>
                    <a:schemeClr val="tx1"/>
                  </a:solidFill>
                </a:ln>
                <a:solidFill>
                  <a:srgbClr val="FF0000"/>
                </a:solidFill>
              </a:rPr>
              <a:t>質疑応答</a:t>
            </a:r>
          </a:p>
        </p:txBody>
      </p:sp>
    </p:spTree>
    <p:extLst>
      <p:ext uri="{BB962C8B-B14F-4D97-AF65-F5344CB8AC3E}">
        <p14:creationId xmlns:p14="http://schemas.microsoft.com/office/powerpoint/2010/main" val="465846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25CEA1C-E982-7985-16E9-FEDFF452F38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1AA3368-DB1F-30D9-5294-C04A59C45D03}"/>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学校選びが大切</a:t>
            </a:r>
          </a:p>
        </p:txBody>
      </p:sp>
      <p:graphicFrame>
        <p:nvGraphicFramePr>
          <p:cNvPr id="5" name="グラフ 4">
            <a:extLst>
              <a:ext uri="{FF2B5EF4-FFF2-40B4-BE49-F238E27FC236}">
                <a16:creationId xmlns:a16="http://schemas.microsoft.com/office/drawing/2014/main" id="{7F0CC6C1-E92C-938A-9F38-2136A88BEF3A}"/>
              </a:ext>
            </a:extLst>
          </p:cNvPr>
          <p:cNvGraphicFramePr/>
          <p:nvPr>
            <p:extLst>
              <p:ext uri="{D42A27DB-BD31-4B8C-83A1-F6EECF244321}">
                <p14:modId xmlns:p14="http://schemas.microsoft.com/office/powerpoint/2010/main" val="2444795799"/>
              </p:ext>
            </p:extLst>
          </p:nvPr>
        </p:nvGraphicFramePr>
        <p:xfrm>
          <a:off x="265186" y="1552962"/>
          <a:ext cx="5510462" cy="4073397"/>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DF763C69-C4B1-F890-022C-B0E23D24E2BF}"/>
              </a:ext>
            </a:extLst>
          </p:cNvPr>
          <p:cNvSpPr txBox="1"/>
          <p:nvPr/>
        </p:nvSpPr>
        <p:spPr>
          <a:xfrm>
            <a:off x="5279634" y="2620164"/>
            <a:ext cx="7344985" cy="1938992"/>
          </a:xfrm>
          <a:prstGeom prst="rect">
            <a:avLst/>
          </a:prstGeom>
          <a:noFill/>
        </p:spPr>
        <p:txBody>
          <a:bodyPr wrap="square" rtlCol="0">
            <a:spAutoFit/>
          </a:bodyPr>
          <a:lstStyle/>
          <a:p>
            <a:r>
              <a:rPr kumimoji="1" lang="ja-JP" altLang="en-US" sz="6000" b="1" dirty="0">
                <a:ln w="19050">
                  <a:solidFill>
                    <a:schemeClr val="tx1"/>
                  </a:solidFill>
                </a:ln>
                <a:solidFill>
                  <a:srgbClr val="FF0000"/>
                </a:solidFill>
              </a:rPr>
              <a:t>ゲーム業界内定率</a:t>
            </a:r>
            <a:r>
              <a:rPr kumimoji="1" lang="en-US" altLang="ja-JP" sz="6000" b="1" dirty="0">
                <a:ln w="19050">
                  <a:solidFill>
                    <a:schemeClr val="tx1"/>
                  </a:solidFill>
                </a:ln>
                <a:solidFill>
                  <a:srgbClr val="FF0000"/>
                </a:solidFill>
              </a:rPr>
              <a:t>70</a:t>
            </a:r>
            <a:r>
              <a:rPr kumimoji="1" lang="ja-JP" altLang="en-US" sz="6000" b="1" dirty="0">
                <a:ln w="19050">
                  <a:solidFill>
                    <a:schemeClr val="tx1"/>
                  </a:solidFill>
                </a:ln>
                <a:solidFill>
                  <a:srgbClr val="FF0000"/>
                </a:solidFill>
              </a:rPr>
              <a:t>％以上</a:t>
            </a:r>
            <a:r>
              <a:rPr kumimoji="1" lang="en-US" altLang="ja-JP" sz="6000" b="1" dirty="0">
                <a:ln w="19050">
                  <a:solidFill>
                    <a:schemeClr val="tx1"/>
                  </a:solidFill>
                </a:ln>
                <a:solidFill>
                  <a:srgbClr val="FF0000"/>
                </a:solidFill>
              </a:rPr>
              <a:t>!!</a:t>
            </a:r>
            <a:endParaRPr kumimoji="1" lang="ja-JP" altLang="en-US" sz="6000" b="1" dirty="0">
              <a:ln w="19050">
                <a:solidFill>
                  <a:schemeClr val="tx1"/>
                </a:solidFill>
              </a:ln>
              <a:solidFill>
                <a:srgbClr val="FF0000"/>
              </a:solidFill>
            </a:endParaRPr>
          </a:p>
        </p:txBody>
      </p:sp>
    </p:spTree>
    <p:extLst>
      <p:ext uri="{BB962C8B-B14F-4D97-AF65-F5344CB8AC3E}">
        <p14:creationId xmlns:p14="http://schemas.microsoft.com/office/powerpoint/2010/main" val="342666518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1d16a54-6b99-4e72-9d59-4aa1935d6251">
      <Terms xmlns="http://schemas.microsoft.com/office/infopath/2007/PartnerControls"/>
    </lcf76f155ced4ddcb4097134ff3c332f>
    <TaxCatchAll xmlns="998dca7c-f85f-43ed-bd68-84d6b5b100b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F75ABB9BB4E406418C9185DF0ED26645" ma:contentTypeVersion="11" ma:contentTypeDescription="新しいドキュメントを作成します。" ma:contentTypeScope="" ma:versionID="fed243a3ca20aebc9eac115e2d85769a">
  <xsd:schema xmlns:xsd="http://www.w3.org/2001/XMLSchema" xmlns:xs="http://www.w3.org/2001/XMLSchema" xmlns:p="http://schemas.microsoft.com/office/2006/metadata/properties" xmlns:ns2="a1d16a54-6b99-4e72-9d59-4aa1935d6251" xmlns:ns3="998dca7c-f85f-43ed-bd68-84d6b5b100b9" targetNamespace="http://schemas.microsoft.com/office/2006/metadata/properties" ma:root="true" ma:fieldsID="5806919387b7ea463763c61cb2d89293" ns2:_="" ns3:_="">
    <xsd:import namespace="a1d16a54-6b99-4e72-9d59-4aa1935d6251"/>
    <xsd:import namespace="998dca7c-f85f-43ed-bd68-84d6b5b100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d16a54-6b99-4e72-9d59-4aa1935d62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画像タグ" ma:readOnly="false" ma:fieldId="{5cf76f15-5ced-4ddc-b409-7134ff3c332f}" ma:taxonomyMulti="true" ma:sspId="c7b788f1-635f-435b-a825-11a9aec0b64e"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98dca7c-f85f-43ed-bd68-84d6b5b100b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954f62c5-75e9-412d-8462-94bbb017295a}" ma:internalName="TaxCatchAll" ma:showField="CatchAllData" ma:web="998dca7c-f85f-43ed-bd68-84d6b5b100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394A896-47DE-483F-B6A0-A49B00105000}">
  <ds:schemaRefs>
    <ds:schemaRef ds:uri="2375ff3d-7478-428d-abec-7e54612c050b"/>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elements/1.1/"/>
    <ds:schemaRef ds:uri="a1d16a54-6b99-4e72-9d59-4aa1935d6251"/>
    <ds:schemaRef ds:uri="998dca7c-f85f-43ed-bd68-84d6b5b100b9"/>
  </ds:schemaRefs>
</ds:datastoreItem>
</file>

<file path=customXml/itemProps2.xml><?xml version="1.0" encoding="utf-8"?>
<ds:datastoreItem xmlns:ds="http://schemas.openxmlformats.org/officeDocument/2006/customXml" ds:itemID="{BA94539E-F984-48BC-9EF3-685C1F6F12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d16a54-6b99-4e72-9d59-4aa1935d6251"/>
    <ds:schemaRef ds:uri="998dca7c-f85f-43ed-bd68-84d6b5b100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0B9D36-0719-403C-9EDE-45E29A557E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21388</TotalTime>
  <Words>1276</Words>
  <Application>Microsoft Office PowerPoint</Application>
  <PresentationFormat>ワイド画面</PresentationFormat>
  <Paragraphs>146</Paragraphs>
  <Slides>15</Slides>
  <Notes>15</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15</vt:i4>
      </vt:variant>
    </vt:vector>
  </HeadingPairs>
  <TitlesOfParts>
    <vt:vector size="22" baseType="lpstr">
      <vt:lpstr>Calibri Light</vt:lpstr>
      <vt:lpstr>BIZ UDPゴシック</vt:lpstr>
      <vt:lpstr>Calibri</vt:lpstr>
      <vt:lpstr>HGP創英角ｺﾞｼｯｸUB</vt:lpstr>
      <vt:lpstr>Arial Black</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学校法人　大原学園</dc:title>
  <dc:creator>杉山 雅信</dc:creator>
  <cp:lastModifiedBy>中平　悠希</cp:lastModifiedBy>
  <cp:revision>703</cp:revision>
  <cp:lastPrinted>2018-05-10T02:47:00Z</cp:lastPrinted>
  <dcterms:created xsi:type="dcterms:W3CDTF">2018-03-20T07:27:55Z</dcterms:created>
  <dcterms:modified xsi:type="dcterms:W3CDTF">2026-04-14T07:01:03Z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0x010100F75ABB9BB4E406418C9185DF0ED26645</vt:lpwstr>
  </property>
  <property fmtid="{D5CDD505-2E9C-101B-9397-08002B2CF9AE}" pid="3" name="MediaServiceImageTags">
    <vt:lpwstr/>
  </property>
</Properties>
</file>